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56" r:id="rId2"/>
    <p:sldId id="656" r:id="rId3"/>
    <p:sldId id="628" r:id="rId4"/>
    <p:sldId id="627" r:id="rId5"/>
    <p:sldId id="471" r:id="rId6"/>
    <p:sldId id="739" r:id="rId7"/>
    <p:sldId id="509" r:id="rId8"/>
    <p:sldId id="404" r:id="rId9"/>
    <p:sldId id="492" r:id="rId10"/>
    <p:sldId id="491" r:id="rId11"/>
    <p:sldId id="740" r:id="rId12"/>
    <p:sldId id="496" r:id="rId13"/>
    <p:sldId id="498" r:id="rId14"/>
    <p:sldId id="741" r:id="rId15"/>
    <p:sldId id="1477" r:id="rId16"/>
    <p:sldId id="1487" r:id="rId17"/>
    <p:sldId id="1488" r:id="rId18"/>
    <p:sldId id="1489" r:id="rId19"/>
    <p:sldId id="1486" r:id="rId20"/>
    <p:sldId id="1490" r:id="rId21"/>
    <p:sldId id="1491" r:id="rId22"/>
    <p:sldId id="497" r:id="rId23"/>
    <p:sldId id="503" r:id="rId24"/>
    <p:sldId id="738" r:id="rId25"/>
    <p:sldId id="734" r:id="rId26"/>
    <p:sldId id="736" r:id="rId27"/>
    <p:sldId id="720" r:id="rId28"/>
    <p:sldId id="718" r:id="rId29"/>
    <p:sldId id="737" r:id="rId30"/>
    <p:sldId id="1496" r:id="rId31"/>
    <p:sldId id="1495" r:id="rId32"/>
    <p:sldId id="723" r:id="rId33"/>
    <p:sldId id="1514" r:id="rId34"/>
    <p:sldId id="1511" r:id="rId35"/>
    <p:sldId id="804" r:id="rId36"/>
    <p:sldId id="1512" r:id="rId37"/>
    <p:sldId id="743" r:id="rId38"/>
    <p:sldId id="742" r:id="rId39"/>
    <p:sldId id="1515" r:id="rId40"/>
    <p:sldId id="1516" r:id="rId41"/>
    <p:sldId id="1520" r:id="rId42"/>
    <p:sldId id="1524" r:id="rId43"/>
    <p:sldId id="1525" r:id="rId44"/>
    <p:sldId id="1526" r:id="rId45"/>
    <p:sldId id="786" r:id="rId46"/>
    <p:sldId id="774" r:id="rId47"/>
    <p:sldId id="773" r:id="rId48"/>
    <p:sldId id="771" r:id="rId49"/>
    <p:sldId id="792" r:id="rId50"/>
    <p:sldId id="796" r:id="rId51"/>
    <p:sldId id="797" r:id="rId52"/>
    <p:sldId id="791" r:id="rId53"/>
    <p:sldId id="793" r:id="rId54"/>
    <p:sldId id="787" r:id="rId55"/>
    <p:sldId id="794" r:id="rId56"/>
    <p:sldId id="795" r:id="rId57"/>
    <p:sldId id="790" r:id="rId58"/>
    <p:sldId id="780" r:id="rId59"/>
    <p:sldId id="799" r:id="rId60"/>
    <p:sldId id="798" r:id="rId61"/>
    <p:sldId id="800" r:id="rId62"/>
    <p:sldId id="801" r:id="rId63"/>
    <p:sldId id="1536" r:id="rId64"/>
    <p:sldId id="1537" r:id="rId65"/>
    <p:sldId id="1517" r:id="rId66"/>
    <p:sldId id="1480" r:id="rId67"/>
    <p:sldId id="1518" r:id="rId68"/>
    <p:sldId id="1519" r:id="rId69"/>
    <p:sldId id="699"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3ACE"/>
    <a:srgbClr val="CC3399"/>
    <a:srgbClr val="008EC0"/>
    <a:srgbClr val="E6AF00"/>
    <a:srgbClr val="B88C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32" autoAdjust="0"/>
    <p:restoredTop sz="94660"/>
  </p:normalViewPr>
  <p:slideViewPr>
    <p:cSldViewPr snapToGrid="0">
      <p:cViewPr varScale="1">
        <p:scale>
          <a:sx n="69" d="100"/>
          <a:sy n="69"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6CF910-AAF6-4CBF-8FD8-8A6017256BF5}" type="datetimeFigureOut">
              <a:rPr lang="en-ZA" smtClean="0"/>
              <a:t>2026/09/10</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C71E36-46F1-476C-9940-6CE4F8893B5F}" type="slidenum">
              <a:rPr lang="en-ZA" smtClean="0"/>
              <a:t>‹#›</a:t>
            </a:fld>
            <a:endParaRPr lang="en-ZA"/>
          </a:p>
        </p:txBody>
      </p:sp>
    </p:spTree>
    <p:extLst>
      <p:ext uri="{BB962C8B-B14F-4D97-AF65-F5344CB8AC3E}">
        <p14:creationId xmlns:p14="http://schemas.microsoft.com/office/powerpoint/2010/main" val="1079386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77ED9-497E-57CE-73FB-DEC39E94F3F3}"/>
            </a:ext>
          </a:extLst>
        </p:cNvPr>
        <p:cNvGrpSpPr/>
        <p:nvPr/>
      </p:nvGrpSpPr>
      <p:grpSpPr>
        <a:xfrm>
          <a:off x="0" y="0"/>
          <a:ext cx="0" cy="0"/>
          <a:chOff x="0" y="0"/>
          <a:chExt cx="0" cy="0"/>
        </a:xfrm>
      </p:grpSpPr>
      <p:sp>
        <p:nvSpPr>
          <p:cNvPr id="106498" name="Slide Image Placeholder 1">
            <a:extLst>
              <a:ext uri="{FF2B5EF4-FFF2-40B4-BE49-F238E27FC236}">
                <a16:creationId xmlns:a16="http://schemas.microsoft.com/office/drawing/2014/main" id="{3D8BE0B5-C440-D140-F71D-88985368066E}"/>
              </a:ext>
            </a:extLst>
          </p:cNvPr>
          <p:cNvSpPr>
            <a:spLocks noGrp="1" noRot="1" noChangeAspect="1" noTextEdit="1"/>
          </p:cNvSpPr>
          <p:nvPr>
            <p:ph type="sldImg"/>
          </p:nvPr>
        </p:nvSpPr>
        <p:spPr>
          <a:ln/>
        </p:spPr>
      </p:sp>
      <p:sp>
        <p:nvSpPr>
          <p:cNvPr id="106499" name="Notes Placeholder 2">
            <a:extLst>
              <a:ext uri="{FF2B5EF4-FFF2-40B4-BE49-F238E27FC236}">
                <a16:creationId xmlns:a16="http://schemas.microsoft.com/office/drawing/2014/main" id="{EB8D3845-EE3A-AAD3-C538-C232956ADE1D}"/>
              </a:ext>
            </a:extLst>
          </p:cNvPr>
          <p:cNvSpPr>
            <a:spLocks noGrp="1"/>
          </p:cNvSpPr>
          <p:nvPr>
            <p:ph type="body" idx="1"/>
          </p:nvPr>
        </p:nvSpPr>
        <p:spPr>
          <a:noFill/>
          <a:ln/>
        </p:spPr>
        <p:txBody>
          <a:bodyPr/>
          <a:lstStyle/>
          <a:p>
            <a:endParaRPr lang="en-US"/>
          </a:p>
        </p:txBody>
      </p:sp>
      <p:sp>
        <p:nvSpPr>
          <p:cNvPr id="4" name="Slide Number Placeholder 3">
            <a:extLst>
              <a:ext uri="{FF2B5EF4-FFF2-40B4-BE49-F238E27FC236}">
                <a16:creationId xmlns:a16="http://schemas.microsoft.com/office/drawing/2014/main" id="{59AA3F03-5AD1-C911-78D6-C1783A121C9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C45E28F-5CC1-41A8-865F-76C818E016DE}" type="slidenum">
              <a:rPr kumimoji="0" lang="en-US"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US" sz="12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1775972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77ED9-497E-57CE-73FB-DEC39E94F3F3}"/>
            </a:ext>
          </a:extLst>
        </p:cNvPr>
        <p:cNvGrpSpPr/>
        <p:nvPr/>
      </p:nvGrpSpPr>
      <p:grpSpPr>
        <a:xfrm>
          <a:off x="0" y="0"/>
          <a:ext cx="0" cy="0"/>
          <a:chOff x="0" y="0"/>
          <a:chExt cx="0" cy="0"/>
        </a:xfrm>
      </p:grpSpPr>
      <p:sp>
        <p:nvSpPr>
          <p:cNvPr id="106498" name="Slide Image Placeholder 1">
            <a:extLst>
              <a:ext uri="{FF2B5EF4-FFF2-40B4-BE49-F238E27FC236}">
                <a16:creationId xmlns:a16="http://schemas.microsoft.com/office/drawing/2014/main" id="{3D8BE0B5-C440-D140-F71D-88985368066E}"/>
              </a:ext>
            </a:extLst>
          </p:cNvPr>
          <p:cNvSpPr>
            <a:spLocks noGrp="1" noRot="1" noChangeAspect="1" noTextEdit="1"/>
          </p:cNvSpPr>
          <p:nvPr>
            <p:ph type="sldImg"/>
          </p:nvPr>
        </p:nvSpPr>
        <p:spPr>
          <a:ln/>
        </p:spPr>
      </p:sp>
      <p:sp>
        <p:nvSpPr>
          <p:cNvPr id="106499" name="Notes Placeholder 2">
            <a:extLst>
              <a:ext uri="{FF2B5EF4-FFF2-40B4-BE49-F238E27FC236}">
                <a16:creationId xmlns:a16="http://schemas.microsoft.com/office/drawing/2014/main" id="{EB8D3845-EE3A-AAD3-C538-C232956ADE1D}"/>
              </a:ext>
            </a:extLst>
          </p:cNvPr>
          <p:cNvSpPr>
            <a:spLocks noGrp="1"/>
          </p:cNvSpPr>
          <p:nvPr>
            <p:ph type="body" idx="1"/>
          </p:nvPr>
        </p:nvSpPr>
        <p:spPr>
          <a:noFill/>
          <a:ln/>
        </p:spPr>
        <p:txBody>
          <a:bodyPr/>
          <a:lstStyle/>
          <a:p>
            <a:endParaRPr lang="en-US"/>
          </a:p>
        </p:txBody>
      </p:sp>
      <p:sp>
        <p:nvSpPr>
          <p:cNvPr id="4" name="Slide Number Placeholder 3">
            <a:extLst>
              <a:ext uri="{FF2B5EF4-FFF2-40B4-BE49-F238E27FC236}">
                <a16:creationId xmlns:a16="http://schemas.microsoft.com/office/drawing/2014/main" id="{59AA3F03-5AD1-C911-78D6-C1783A121C9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C45E28F-5CC1-41A8-865F-76C818E016DE}" type="slidenum">
              <a:rPr kumimoji="0" lang="en-US"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0" lang="en-US" sz="12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971649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59BC9-4621-3F93-F407-317A97FF10D9}"/>
            </a:ext>
          </a:extLst>
        </p:cNvPr>
        <p:cNvGrpSpPr/>
        <p:nvPr/>
      </p:nvGrpSpPr>
      <p:grpSpPr>
        <a:xfrm>
          <a:off x="0" y="0"/>
          <a:ext cx="0" cy="0"/>
          <a:chOff x="0" y="0"/>
          <a:chExt cx="0" cy="0"/>
        </a:xfrm>
      </p:grpSpPr>
      <p:sp>
        <p:nvSpPr>
          <p:cNvPr id="106498" name="Slide Image Placeholder 1">
            <a:extLst>
              <a:ext uri="{FF2B5EF4-FFF2-40B4-BE49-F238E27FC236}">
                <a16:creationId xmlns:a16="http://schemas.microsoft.com/office/drawing/2014/main" id="{57A5DC7A-DE2D-454B-B8A2-130888CD070D}"/>
              </a:ext>
            </a:extLst>
          </p:cNvPr>
          <p:cNvSpPr>
            <a:spLocks noGrp="1" noRot="1" noChangeAspect="1" noTextEdit="1"/>
          </p:cNvSpPr>
          <p:nvPr>
            <p:ph type="sldImg"/>
          </p:nvPr>
        </p:nvSpPr>
        <p:spPr>
          <a:ln/>
        </p:spPr>
      </p:sp>
      <p:sp>
        <p:nvSpPr>
          <p:cNvPr id="106499" name="Notes Placeholder 2">
            <a:extLst>
              <a:ext uri="{FF2B5EF4-FFF2-40B4-BE49-F238E27FC236}">
                <a16:creationId xmlns:a16="http://schemas.microsoft.com/office/drawing/2014/main" id="{6FF0A10B-7003-CAF3-90BD-5BEE1857946C}"/>
              </a:ext>
            </a:extLst>
          </p:cNvPr>
          <p:cNvSpPr>
            <a:spLocks noGrp="1"/>
          </p:cNvSpPr>
          <p:nvPr>
            <p:ph type="body" idx="1"/>
          </p:nvPr>
        </p:nvSpPr>
        <p:spPr>
          <a:noFill/>
          <a:ln/>
        </p:spPr>
        <p:txBody>
          <a:bodyPr/>
          <a:lstStyle/>
          <a:p>
            <a:endParaRPr lang="en-US"/>
          </a:p>
        </p:txBody>
      </p:sp>
      <p:sp>
        <p:nvSpPr>
          <p:cNvPr id="4" name="Slide Number Placeholder 3">
            <a:extLst>
              <a:ext uri="{FF2B5EF4-FFF2-40B4-BE49-F238E27FC236}">
                <a16:creationId xmlns:a16="http://schemas.microsoft.com/office/drawing/2014/main" id="{5565888C-A2A0-8963-2E10-98F0C6B2010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C45E28F-5CC1-41A8-865F-76C818E016DE}" type="slidenum">
              <a:rPr kumimoji="0" lang="en-US"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68</a:t>
            </a:fld>
            <a:endParaRPr kumimoji="0" lang="en-US" sz="12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3626488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61CDF-585F-4A29-929C-816E562FB1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C4932830-8510-41A9-B180-BD6F77A109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6CD58047-06FA-41E0-B721-4A4627B07A48}"/>
              </a:ext>
            </a:extLst>
          </p:cNvPr>
          <p:cNvSpPr>
            <a:spLocks noGrp="1"/>
          </p:cNvSpPr>
          <p:nvPr>
            <p:ph type="dt" sz="half" idx="10"/>
          </p:nvPr>
        </p:nvSpPr>
        <p:spPr/>
        <p:txBody>
          <a:bodyPr/>
          <a:lstStyle/>
          <a:p>
            <a:fld id="{D4E5519D-4C08-444E-B8C8-4256022E8CC1}" type="datetimeFigureOut">
              <a:rPr lang="en-ZA" smtClean="0"/>
              <a:t>2026/09/10</a:t>
            </a:fld>
            <a:endParaRPr lang="en-ZA"/>
          </a:p>
        </p:txBody>
      </p:sp>
      <p:sp>
        <p:nvSpPr>
          <p:cNvPr id="5" name="Footer Placeholder 4">
            <a:extLst>
              <a:ext uri="{FF2B5EF4-FFF2-40B4-BE49-F238E27FC236}">
                <a16:creationId xmlns:a16="http://schemas.microsoft.com/office/drawing/2014/main" id="{79F3ADEB-A17D-4F57-848E-DE0D2F0D9AB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C464969-3595-431F-9DE0-C5A5802F7811}"/>
              </a:ext>
            </a:extLst>
          </p:cNvPr>
          <p:cNvSpPr>
            <a:spLocks noGrp="1"/>
          </p:cNvSpPr>
          <p:nvPr>
            <p:ph type="sldNum" sz="quarter" idx="12"/>
          </p:nvPr>
        </p:nvSpPr>
        <p:spPr/>
        <p:txBody>
          <a:bodyPr/>
          <a:lstStyle/>
          <a:p>
            <a:fld id="{044D5BEA-3461-43B9-84A1-952D4E184F34}" type="slidenum">
              <a:rPr lang="en-ZA" smtClean="0"/>
              <a:t>‹#›</a:t>
            </a:fld>
            <a:endParaRPr lang="en-ZA"/>
          </a:p>
        </p:txBody>
      </p:sp>
    </p:spTree>
    <p:extLst>
      <p:ext uri="{BB962C8B-B14F-4D97-AF65-F5344CB8AC3E}">
        <p14:creationId xmlns:p14="http://schemas.microsoft.com/office/powerpoint/2010/main" val="454438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A9A05-D0FE-477F-8B82-F6ABA140E9B2}"/>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DFE47C87-9C53-48D0-8661-6466176676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9665070-CCF6-424A-A9BD-509FC68C9F68}"/>
              </a:ext>
            </a:extLst>
          </p:cNvPr>
          <p:cNvSpPr>
            <a:spLocks noGrp="1"/>
          </p:cNvSpPr>
          <p:nvPr>
            <p:ph type="dt" sz="half" idx="10"/>
          </p:nvPr>
        </p:nvSpPr>
        <p:spPr/>
        <p:txBody>
          <a:bodyPr/>
          <a:lstStyle/>
          <a:p>
            <a:fld id="{D4E5519D-4C08-444E-B8C8-4256022E8CC1}" type="datetimeFigureOut">
              <a:rPr lang="en-ZA" smtClean="0"/>
              <a:t>2026/09/10</a:t>
            </a:fld>
            <a:endParaRPr lang="en-ZA"/>
          </a:p>
        </p:txBody>
      </p:sp>
      <p:sp>
        <p:nvSpPr>
          <p:cNvPr id="5" name="Footer Placeholder 4">
            <a:extLst>
              <a:ext uri="{FF2B5EF4-FFF2-40B4-BE49-F238E27FC236}">
                <a16:creationId xmlns:a16="http://schemas.microsoft.com/office/drawing/2014/main" id="{811DAB6C-C4CD-4081-BE4D-F26939F531D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556703A-6783-463D-92D0-028FE3697A93}"/>
              </a:ext>
            </a:extLst>
          </p:cNvPr>
          <p:cNvSpPr>
            <a:spLocks noGrp="1"/>
          </p:cNvSpPr>
          <p:nvPr>
            <p:ph type="sldNum" sz="quarter" idx="12"/>
          </p:nvPr>
        </p:nvSpPr>
        <p:spPr/>
        <p:txBody>
          <a:bodyPr/>
          <a:lstStyle/>
          <a:p>
            <a:fld id="{044D5BEA-3461-43B9-84A1-952D4E184F34}" type="slidenum">
              <a:rPr lang="en-ZA" smtClean="0"/>
              <a:t>‹#›</a:t>
            </a:fld>
            <a:endParaRPr lang="en-ZA"/>
          </a:p>
        </p:txBody>
      </p:sp>
    </p:spTree>
    <p:extLst>
      <p:ext uri="{BB962C8B-B14F-4D97-AF65-F5344CB8AC3E}">
        <p14:creationId xmlns:p14="http://schemas.microsoft.com/office/powerpoint/2010/main" val="2359121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12098-66F3-43C0-9BEC-936BD0EFF9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5A8163F7-6318-4B39-8672-8D37FF2A6E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2DA5E1-4122-43D7-B1A6-AA52B7AABE07}"/>
              </a:ext>
            </a:extLst>
          </p:cNvPr>
          <p:cNvSpPr>
            <a:spLocks noGrp="1"/>
          </p:cNvSpPr>
          <p:nvPr>
            <p:ph type="dt" sz="half" idx="10"/>
          </p:nvPr>
        </p:nvSpPr>
        <p:spPr/>
        <p:txBody>
          <a:bodyPr/>
          <a:lstStyle/>
          <a:p>
            <a:fld id="{D4E5519D-4C08-444E-B8C8-4256022E8CC1}" type="datetimeFigureOut">
              <a:rPr lang="en-ZA" smtClean="0"/>
              <a:t>2026/09/10</a:t>
            </a:fld>
            <a:endParaRPr lang="en-ZA"/>
          </a:p>
        </p:txBody>
      </p:sp>
      <p:sp>
        <p:nvSpPr>
          <p:cNvPr id="5" name="Footer Placeholder 4">
            <a:extLst>
              <a:ext uri="{FF2B5EF4-FFF2-40B4-BE49-F238E27FC236}">
                <a16:creationId xmlns:a16="http://schemas.microsoft.com/office/drawing/2014/main" id="{BB36FD7B-E7E1-4274-B745-ECFC11FC11C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E41AB78-A67E-4A45-9A5D-AFF377C7D1C0}"/>
              </a:ext>
            </a:extLst>
          </p:cNvPr>
          <p:cNvSpPr>
            <a:spLocks noGrp="1"/>
          </p:cNvSpPr>
          <p:nvPr>
            <p:ph type="sldNum" sz="quarter" idx="12"/>
          </p:nvPr>
        </p:nvSpPr>
        <p:spPr/>
        <p:txBody>
          <a:bodyPr/>
          <a:lstStyle/>
          <a:p>
            <a:fld id="{044D5BEA-3461-43B9-84A1-952D4E184F34}" type="slidenum">
              <a:rPr lang="en-ZA" smtClean="0"/>
              <a:t>‹#›</a:t>
            </a:fld>
            <a:endParaRPr lang="en-ZA"/>
          </a:p>
        </p:txBody>
      </p:sp>
    </p:spTree>
    <p:extLst>
      <p:ext uri="{BB962C8B-B14F-4D97-AF65-F5344CB8AC3E}">
        <p14:creationId xmlns:p14="http://schemas.microsoft.com/office/powerpoint/2010/main" val="3123384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F80B4-E420-406A-874D-3D75016238C2}"/>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51DE721C-1B8A-4DB4-894B-B3C2517D65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932B4681-A067-483B-BB3C-4ADE0F4261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DFB0E6FB-3BA9-47BC-ABD1-9F513C525ECA}"/>
              </a:ext>
            </a:extLst>
          </p:cNvPr>
          <p:cNvSpPr>
            <a:spLocks noGrp="1"/>
          </p:cNvSpPr>
          <p:nvPr>
            <p:ph type="dt" sz="half" idx="10"/>
          </p:nvPr>
        </p:nvSpPr>
        <p:spPr/>
        <p:txBody>
          <a:bodyPr/>
          <a:lstStyle/>
          <a:p>
            <a:fld id="{D4E5519D-4C08-444E-B8C8-4256022E8CC1}" type="datetimeFigureOut">
              <a:rPr lang="en-ZA" smtClean="0"/>
              <a:t>2026/09/10</a:t>
            </a:fld>
            <a:endParaRPr lang="en-ZA"/>
          </a:p>
        </p:txBody>
      </p:sp>
      <p:sp>
        <p:nvSpPr>
          <p:cNvPr id="6" name="Footer Placeholder 5">
            <a:extLst>
              <a:ext uri="{FF2B5EF4-FFF2-40B4-BE49-F238E27FC236}">
                <a16:creationId xmlns:a16="http://schemas.microsoft.com/office/drawing/2014/main" id="{D4DA5584-37BD-4003-914C-0371A7097AA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A7A14A29-6278-4CF4-AA92-FEB2B0D4B3FE}"/>
              </a:ext>
            </a:extLst>
          </p:cNvPr>
          <p:cNvSpPr>
            <a:spLocks noGrp="1"/>
          </p:cNvSpPr>
          <p:nvPr>
            <p:ph type="sldNum" sz="quarter" idx="12"/>
          </p:nvPr>
        </p:nvSpPr>
        <p:spPr/>
        <p:txBody>
          <a:bodyPr/>
          <a:lstStyle/>
          <a:p>
            <a:fld id="{044D5BEA-3461-43B9-84A1-952D4E184F34}" type="slidenum">
              <a:rPr lang="en-ZA" smtClean="0"/>
              <a:t>‹#›</a:t>
            </a:fld>
            <a:endParaRPr lang="en-ZA"/>
          </a:p>
        </p:txBody>
      </p:sp>
    </p:spTree>
    <p:extLst>
      <p:ext uri="{BB962C8B-B14F-4D97-AF65-F5344CB8AC3E}">
        <p14:creationId xmlns:p14="http://schemas.microsoft.com/office/powerpoint/2010/main" val="73302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24CB2-9245-4569-B684-99743069AC26}"/>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C4784CF2-090C-49C9-AF2E-615E033DE7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54D2D5-0D37-437B-A522-498F5F8650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FC5C2C04-FCD6-431B-A0F0-CE7FF60A92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6BE5D9-5938-4B06-AC53-C58FF0EB33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0F515402-F1ED-4564-95F4-74344B3567E3}"/>
              </a:ext>
            </a:extLst>
          </p:cNvPr>
          <p:cNvSpPr>
            <a:spLocks noGrp="1"/>
          </p:cNvSpPr>
          <p:nvPr>
            <p:ph type="dt" sz="half" idx="10"/>
          </p:nvPr>
        </p:nvSpPr>
        <p:spPr/>
        <p:txBody>
          <a:bodyPr/>
          <a:lstStyle/>
          <a:p>
            <a:fld id="{D4E5519D-4C08-444E-B8C8-4256022E8CC1}" type="datetimeFigureOut">
              <a:rPr lang="en-ZA" smtClean="0"/>
              <a:t>2026/09/10</a:t>
            </a:fld>
            <a:endParaRPr lang="en-ZA"/>
          </a:p>
        </p:txBody>
      </p:sp>
      <p:sp>
        <p:nvSpPr>
          <p:cNvPr id="8" name="Footer Placeholder 7">
            <a:extLst>
              <a:ext uri="{FF2B5EF4-FFF2-40B4-BE49-F238E27FC236}">
                <a16:creationId xmlns:a16="http://schemas.microsoft.com/office/drawing/2014/main" id="{9AD69445-4450-4C54-8D39-879C75EDFA57}"/>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D3D39245-ED48-47B8-BD51-AD31625EBEB9}"/>
              </a:ext>
            </a:extLst>
          </p:cNvPr>
          <p:cNvSpPr>
            <a:spLocks noGrp="1"/>
          </p:cNvSpPr>
          <p:nvPr>
            <p:ph type="sldNum" sz="quarter" idx="12"/>
          </p:nvPr>
        </p:nvSpPr>
        <p:spPr/>
        <p:txBody>
          <a:bodyPr/>
          <a:lstStyle/>
          <a:p>
            <a:fld id="{044D5BEA-3461-43B9-84A1-952D4E184F34}" type="slidenum">
              <a:rPr lang="en-ZA" smtClean="0"/>
              <a:t>‹#›</a:t>
            </a:fld>
            <a:endParaRPr lang="en-ZA"/>
          </a:p>
        </p:txBody>
      </p:sp>
    </p:spTree>
    <p:extLst>
      <p:ext uri="{BB962C8B-B14F-4D97-AF65-F5344CB8AC3E}">
        <p14:creationId xmlns:p14="http://schemas.microsoft.com/office/powerpoint/2010/main" val="66332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B417A-30A7-4A38-B3B0-9CF4B352BA47}"/>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BAE5426F-DC56-4F84-808E-D4DC1C1E01EC}"/>
              </a:ext>
            </a:extLst>
          </p:cNvPr>
          <p:cNvSpPr>
            <a:spLocks noGrp="1"/>
          </p:cNvSpPr>
          <p:nvPr>
            <p:ph type="dt" sz="half" idx="10"/>
          </p:nvPr>
        </p:nvSpPr>
        <p:spPr/>
        <p:txBody>
          <a:bodyPr/>
          <a:lstStyle/>
          <a:p>
            <a:fld id="{D4E5519D-4C08-444E-B8C8-4256022E8CC1}" type="datetimeFigureOut">
              <a:rPr lang="en-ZA" smtClean="0"/>
              <a:t>2026/09/10</a:t>
            </a:fld>
            <a:endParaRPr lang="en-ZA"/>
          </a:p>
        </p:txBody>
      </p:sp>
      <p:sp>
        <p:nvSpPr>
          <p:cNvPr id="4" name="Footer Placeholder 3">
            <a:extLst>
              <a:ext uri="{FF2B5EF4-FFF2-40B4-BE49-F238E27FC236}">
                <a16:creationId xmlns:a16="http://schemas.microsoft.com/office/drawing/2014/main" id="{ADEA2E2A-3988-4DE3-9D4E-2C455D7DCEEE}"/>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FA09A8D2-F81C-4B5C-A3C4-98C9D7731129}"/>
              </a:ext>
            </a:extLst>
          </p:cNvPr>
          <p:cNvSpPr>
            <a:spLocks noGrp="1"/>
          </p:cNvSpPr>
          <p:nvPr>
            <p:ph type="sldNum" sz="quarter" idx="12"/>
          </p:nvPr>
        </p:nvSpPr>
        <p:spPr/>
        <p:txBody>
          <a:bodyPr/>
          <a:lstStyle/>
          <a:p>
            <a:fld id="{044D5BEA-3461-43B9-84A1-952D4E184F34}" type="slidenum">
              <a:rPr lang="en-ZA" smtClean="0"/>
              <a:t>‹#›</a:t>
            </a:fld>
            <a:endParaRPr lang="en-ZA"/>
          </a:p>
        </p:txBody>
      </p:sp>
    </p:spTree>
    <p:extLst>
      <p:ext uri="{BB962C8B-B14F-4D97-AF65-F5344CB8AC3E}">
        <p14:creationId xmlns:p14="http://schemas.microsoft.com/office/powerpoint/2010/main" val="3077652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ACB243-DE0A-46FB-BBEC-8504115F2BF3}"/>
              </a:ext>
            </a:extLst>
          </p:cNvPr>
          <p:cNvSpPr>
            <a:spLocks noGrp="1"/>
          </p:cNvSpPr>
          <p:nvPr>
            <p:ph type="dt" sz="half" idx="10"/>
          </p:nvPr>
        </p:nvSpPr>
        <p:spPr/>
        <p:txBody>
          <a:bodyPr/>
          <a:lstStyle/>
          <a:p>
            <a:fld id="{D4E5519D-4C08-444E-B8C8-4256022E8CC1}" type="datetimeFigureOut">
              <a:rPr lang="en-ZA" smtClean="0"/>
              <a:t>2026/09/10</a:t>
            </a:fld>
            <a:endParaRPr lang="en-ZA"/>
          </a:p>
        </p:txBody>
      </p:sp>
      <p:sp>
        <p:nvSpPr>
          <p:cNvPr id="3" name="Footer Placeholder 2">
            <a:extLst>
              <a:ext uri="{FF2B5EF4-FFF2-40B4-BE49-F238E27FC236}">
                <a16:creationId xmlns:a16="http://schemas.microsoft.com/office/drawing/2014/main" id="{FFA83807-2FC8-4052-85A1-45254415EFC4}"/>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77283987-51A4-4E2F-B4A6-852F424ADA10}"/>
              </a:ext>
            </a:extLst>
          </p:cNvPr>
          <p:cNvSpPr>
            <a:spLocks noGrp="1"/>
          </p:cNvSpPr>
          <p:nvPr>
            <p:ph type="sldNum" sz="quarter" idx="12"/>
          </p:nvPr>
        </p:nvSpPr>
        <p:spPr/>
        <p:txBody>
          <a:bodyPr/>
          <a:lstStyle/>
          <a:p>
            <a:fld id="{044D5BEA-3461-43B9-84A1-952D4E184F34}" type="slidenum">
              <a:rPr lang="en-ZA" smtClean="0"/>
              <a:t>‹#›</a:t>
            </a:fld>
            <a:endParaRPr lang="en-ZA"/>
          </a:p>
        </p:txBody>
      </p:sp>
    </p:spTree>
    <p:extLst>
      <p:ext uri="{BB962C8B-B14F-4D97-AF65-F5344CB8AC3E}">
        <p14:creationId xmlns:p14="http://schemas.microsoft.com/office/powerpoint/2010/main" val="3459417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C8F87-729A-43FB-AAF6-BC8659C87B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BFB574FC-6B6A-414E-BAF6-EDBBA4763A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D6E039AF-EEA8-4C32-856D-BB4124FDC1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E1F0AE-C3BB-47AA-A819-0B7E87CAF969}"/>
              </a:ext>
            </a:extLst>
          </p:cNvPr>
          <p:cNvSpPr>
            <a:spLocks noGrp="1"/>
          </p:cNvSpPr>
          <p:nvPr>
            <p:ph type="dt" sz="half" idx="10"/>
          </p:nvPr>
        </p:nvSpPr>
        <p:spPr/>
        <p:txBody>
          <a:bodyPr/>
          <a:lstStyle/>
          <a:p>
            <a:fld id="{D4E5519D-4C08-444E-B8C8-4256022E8CC1}" type="datetimeFigureOut">
              <a:rPr lang="en-ZA" smtClean="0"/>
              <a:t>2026/09/10</a:t>
            </a:fld>
            <a:endParaRPr lang="en-ZA"/>
          </a:p>
        </p:txBody>
      </p:sp>
      <p:sp>
        <p:nvSpPr>
          <p:cNvPr id="6" name="Footer Placeholder 5">
            <a:extLst>
              <a:ext uri="{FF2B5EF4-FFF2-40B4-BE49-F238E27FC236}">
                <a16:creationId xmlns:a16="http://schemas.microsoft.com/office/drawing/2014/main" id="{47E53468-9134-4BA5-8A14-B2B5E1F28A87}"/>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09D4C4B2-2579-49F9-91E1-25CFC79AAFAC}"/>
              </a:ext>
            </a:extLst>
          </p:cNvPr>
          <p:cNvSpPr>
            <a:spLocks noGrp="1"/>
          </p:cNvSpPr>
          <p:nvPr>
            <p:ph type="sldNum" sz="quarter" idx="12"/>
          </p:nvPr>
        </p:nvSpPr>
        <p:spPr/>
        <p:txBody>
          <a:bodyPr/>
          <a:lstStyle/>
          <a:p>
            <a:fld id="{044D5BEA-3461-43B9-84A1-952D4E184F34}" type="slidenum">
              <a:rPr lang="en-ZA" smtClean="0"/>
              <a:t>‹#›</a:t>
            </a:fld>
            <a:endParaRPr lang="en-ZA"/>
          </a:p>
        </p:txBody>
      </p:sp>
    </p:spTree>
    <p:extLst>
      <p:ext uri="{BB962C8B-B14F-4D97-AF65-F5344CB8AC3E}">
        <p14:creationId xmlns:p14="http://schemas.microsoft.com/office/powerpoint/2010/main" val="1396808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9A4A6-0C0E-4EA9-B47E-614E7FD4DC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FB431954-381F-47C8-A073-BF93F93D18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67BD34C4-113A-4859-8E2A-E471E5908B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5A1799-F3D8-4FBA-BE31-CC91625829D5}"/>
              </a:ext>
            </a:extLst>
          </p:cNvPr>
          <p:cNvSpPr>
            <a:spLocks noGrp="1"/>
          </p:cNvSpPr>
          <p:nvPr>
            <p:ph type="dt" sz="half" idx="10"/>
          </p:nvPr>
        </p:nvSpPr>
        <p:spPr/>
        <p:txBody>
          <a:bodyPr/>
          <a:lstStyle/>
          <a:p>
            <a:fld id="{D4E5519D-4C08-444E-B8C8-4256022E8CC1}" type="datetimeFigureOut">
              <a:rPr lang="en-ZA" smtClean="0"/>
              <a:t>2026/09/10</a:t>
            </a:fld>
            <a:endParaRPr lang="en-ZA"/>
          </a:p>
        </p:txBody>
      </p:sp>
      <p:sp>
        <p:nvSpPr>
          <p:cNvPr id="6" name="Footer Placeholder 5">
            <a:extLst>
              <a:ext uri="{FF2B5EF4-FFF2-40B4-BE49-F238E27FC236}">
                <a16:creationId xmlns:a16="http://schemas.microsoft.com/office/drawing/2014/main" id="{7D061CF8-03F0-49A2-AF22-696A0AA93C2E}"/>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650AF2EF-3800-4A34-B6ED-C1F97C825587}"/>
              </a:ext>
            </a:extLst>
          </p:cNvPr>
          <p:cNvSpPr>
            <a:spLocks noGrp="1"/>
          </p:cNvSpPr>
          <p:nvPr>
            <p:ph type="sldNum" sz="quarter" idx="12"/>
          </p:nvPr>
        </p:nvSpPr>
        <p:spPr/>
        <p:txBody>
          <a:bodyPr/>
          <a:lstStyle/>
          <a:p>
            <a:fld id="{044D5BEA-3461-43B9-84A1-952D4E184F34}" type="slidenum">
              <a:rPr lang="en-ZA" smtClean="0"/>
              <a:t>‹#›</a:t>
            </a:fld>
            <a:endParaRPr lang="en-ZA"/>
          </a:p>
        </p:txBody>
      </p:sp>
    </p:spTree>
    <p:extLst>
      <p:ext uri="{BB962C8B-B14F-4D97-AF65-F5344CB8AC3E}">
        <p14:creationId xmlns:p14="http://schemas.microsoft.com/office/powerpoint/2010/main" val="2774059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2D051-6E38-48D6-91D6-2AF5DA05AD81}"/>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FB749E0A-C4D0-4755-A446-01D03662E7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84E0792-A5B8-47E3-9BB6-ADA8AF962A30}"/>
              </a:ext>
            </a:extLst>
          </p:cNvPr>
          <p:cNvSpPr>
            <a:spLocks noGrp="1"/>
          </p:cNvSpPr>
          <p:nvPr>
            <p:ph type="dt" sz="half" idx="10"/>
          </p:nvPr>
        </p:nvSpPr>
        <p:spPr/>
        <p:txBody>
          <a:bodyPr/>
          <a:lstStyle/>
          <a:p>
            <a:fld id="{D4E5519D-4C08-444E-B8C8-4256022E8CC1}" type="datetimeFigureOut">
              <a:rPr lang="en-ZA" smtClean="0"/>
              <a:t>2026/09/10</a:t>
            </a:fld>
            <a:endParaRPr lang="en-ZA"/>
          </a:p>
        </p:txBody>
      </p:sp>
      <p:sp>
        <p:nvSpPr>
          <p:cNvPr id="5" name="Footer Placeholder 4">
            <a:extLst>
              <a:ext uri="{FF2B5EF4-FFF2-40B4-BE49-F238E27FC236}">
                <a16:creationId xmlns:a16="http://schemas.microsoft.com/office/drawing/2014/main" id="{33261A76-3C46-4AC6-A55F-A0F108FFAA8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6ECC1FA-71BD-4F52-918A-C7E271E42B5A}"/>
              </a:ext>
            </a:extLst>
          </p:cNvPr>
          <p:cNvSpPr>
            <a:spLocks noGrp="1"/>
          </p:cNvSpPr>
          <p:nvPr>
            <p:ph type="sldNum" sz="quarter" idx="12"/>
          </p:nvPr>
        </p:nvSpPr>
        <p:spPr/>
        <p:txBody>
          <a:bodyPr/>
          <a:lstStyle/>
          <a:p>
            <a:fld id="{044D5BEA-3461-43B9-84A1-952D4E184F34}" type="slidenum">
              <a:rPr lang="en-ZA" smtClean="0"/>
              <a:t>‹#›</a:t>
            </a:fld>
            <a:endParaRPr lang="en-ZA"/>
          </a:p>
        </p:txBody>
      </p:sp>
    </p:spTree>
    <p:extLst>
      <p:ext uri="{BB962C8B-B14F-4D97-AF65-F5344CB8AC3E}">
        <p14:creationId xmlns:p14="http://schemas.microsoft.com/office/powerpoint/2010/main" val="2684318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441080-3C73-4D50-8F53-6BDB208E62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2C7A007B-CAC6-49AE-9F83-13F874A03A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80E4699-2B38-4838-8EC3-855DDE1DD321}"/>
              </a:ext>
            </a:extLst>
          </p:cNvPr>
          <p:cNvSpPr>
            <a:spLocks noGrp="1"/>
          </p:cNvSpPr>
          <p:nvPr>
            <p:ph type="dt" sz="half" idx="10"/>
          </p:nvPr>
        </p:nvSpPr>
        <p:spPr/>
        <p:txBody>
          <a:bodyPr/>
          <a:lstStyle/>
          <a:p>
            <a:fld id="{D4E5519D-4C08-444E-B8C8-4256022E8CC1}" type="datetimeFigureOut">
              <a:rPr lang="en-ZA" smtClean="0"/>
              <a:t>2026/09/10</a:t>
            </a:fld>
            <a:endParaRPr lang="en-ZA"/>
          </a:p>
        </p:txBody>
      </p:sp>
      <p:sp>
        <p:nvSpPr>
          <p:cNvPr id="5" name="Footer Placeholder 4">
            <a:extLst>
              <a:ext uri="{FF2B5EF4-FFF2-40B4-BE49-F238E27FC236}">
                <a16:creationId xmlns:a16="http://schemas.microsoft.com/office/drawing/2014/main" id="{DF2E935D-641C-49CA-8865-C5B1AC0BD55C}"/>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13DC074-454B-4BE4-95A5-2476A81A99C0}"/>
              </a:ext>
            </a:extLst>
          </p:cNvPr>
          <p:cNvSpPr>
            <a:spLocks noGrp="1"/>
          </p:cNvSpPr>
          <p:nvPr>
            <p:ph type="sldNum" sz="quarter" idx="12"/>
          </p:nvPr>
        </p:nvSpPr>
        <p:spPr/>
        <p:txBody>
          <a:bodyPr/>
          <a:lstStyle/>
          <a:p>
            <a:fld id="{044D5BEA-3461-43B9-84A1-952D4E184F34}" type="slidenum">
              <a:rPr lang="en-ZA" smtClean="0"/>
              <a:t>‹#›</a:t>
            </a:fld>
            <a:endParaRPr lang="en-ZA"/>
          </a:p>
        </p:txBody>
      </p:sp>
    </p:spTree>
    <p:extLst>
      <p:ext uri="{BB962C8B-B14F-4D97-AF65-F5344CB8AC3E}">
        <p14:creationId xmlns:p14="http://schemas.microsoft.com/office/powerpoint/2010/main" val="1177593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5178D3-85EB-4E66-9498-41F6D79061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B194C7D5-2865-4C91-867B-D1844B9E89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33D6ABF4-B60F-4AA8-9E51-ACD7DAD8EF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E5519D-4C08-444E-B8C8-4256022E8CC1}" type="datetimeFigureOut">
              <a:rPr lang="en-ZA" smtClean="0"/>
              <a:t>2026/09/10</a:t>
            </a:fld>
            <a:endParaRPr lang="en-ZA"/>
          </a:p>
        </p:txBody>
      </p:sp>
      <p:sp>
        <p:nvSpPr>
          <p:cNvPr id="5" name="Footer Placeholder 4">
            <a:extLst>
              <a:ext uri="{FF2B5EF4-FFF2-40B4-BE49-F238E27FC236}">
                <a16:creationId xmlns:a16="http://schemas.microsoft.com/office/drawing/2014/main" id="{D1D16093-57A4-4E25-B12D-C8C91B2E3D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a:extLst>
              <a:ext uri="{FF2B5EF4-FFF2-40B4-BE49-F238E27FC236}">
                <a16:creationId xmlns:a16="http://schemas.microsoft.com/office/drawing/2014/main" id="{131FDE71-30FE-4723-B68A-46671DCB3E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4D5BEA-3461-43B9-84A1-952D4E184F34}" type="slidenum">
              <a:rPr lang="en-ZA" smtClean="0"/>
              <a:t>‹#›</a:t>
            </a:fld>
            <a:endParaRPr lang="en-ZA"/>
          </a:p>
        </p:txBody>
      </p:sp>
    </p:spTree>
    <p:extLst>
      <p:ext uri="{BB962C8B-B14F-4D97-AF65-F5344CB8AC3E}">
        <p14:creationId xmlns:p14="http://schemas.microsoft.com/office/powerpoint/2010/main" val="2586255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irp.cdn-website.com/3f7b6868/files/uploaded/PDIIE023+Guidelines+for+Responsible+AI+Use+at+The+IIE+2026.pdf" TargetMode="External"/><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1.png"/><Relationship Id="rId2" Type="http://schemas.openxmlformats.org/officeDocument/2006/relationships/hyperlink" Target="https://www.sketch.com/blog/wireframe-examples/" TargetMode="Externa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60.png"/><Relationship Id="rId4" Type="http://schemas.openxmlformats.org/officeDocument/2006/relationships/image" Target="../media/image5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6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6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6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9" name="Text Box 1">
            <a:extLst>
              <a:ext uri="{FF2B5EF4-FFF2-40B4-BE49-F238E27FC236}">
                <a16:creationId xmlns:a16="http://schemas.microsoft.com/office/drawing/2014/main" id="{9ED72C29-F382-4261-9651-9A90501F24ED}"/>
              </a:ext>
            </a:extLst>
          </p:cNvPr>
          <p:cNvSpPr txBox="1">
            <a:spLocks noChangeArrowheads="1"/>
          </p:cNvSpPr>
          <p:nvPr/>
        </p:nvSpPr>
        <p:spPr bwMode="auto">
          <a:xfrm>
            <a:off x="-1068880" y="170368"/>
            <a:ext cx="8387097" cy="826936"/>
          </a:xfrm>
          <a:prstGeom prst="rect">
            <a:avLst/>
          </a:prstGeom>
          <a:noFill/>
          <a:ln w="9525">
            <a:noFill/>
            <a:round/>
            <a:headEnd/>
            <a:tailEnd/>
          </a:ln>
        </p:spPr>
        <p:txBody>
          <a:bodyPr anchor="ct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dirty="0">
                <a:solidFill>
                  <a:srgbClr val="0070C0"/>
                </a:solidFill>
                <a:latin typeface="Calibri" pitchFamily="34" charset="0"/>
              </a:rPr>
              <a:t>Principles of UI and UX Design</a:t>
            </a:r>
          </a:p>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dirty="0">
                <a:solidFill>
                  <a:srgbClr val="0070C0"/>
                </a:solidFill>
                <a:latin typeface="Calibri" pitchFamily="34" charset="0"/>
              </a:rPr>
              <a:t>PIXD5112 </a:t>
            </a:r>
          </a:p>
        </p:txBody>
      </p:sp>
      <p:sp>
        <p:nvSpPr>
          <p:cNvPr id="6" name="Text Box 1">
            <a:extLst>
              <a:ext uri="{FF2B5EF4-FFF2-40B4-BE49-F238E27FC236}">
                <a16:creationId xmlns:a16="http://schemas.microsoft.com/office/drawing/2014/main" id="{7B580F20-C6DB-4BAB-90AE-891F9E055D42}"/>
              </a:ext>
            </a:extLst>
          </p:cNvPr>
          <p:cNvSpPr txBox="1">
            <a:spLocks noChangeArrowheads="1"/>
          </p:cNvSpPr>
          <p:nvPr/>
        </p:nvSpPr>
        <p:spPr bwMode="auto">
          <a:xfrm>
            <a:off x="143301" y="5972606"/>
            <a:ext cx="3781966" cy="714375"/>
          </a:xfrm>
          <a:prstGeom prst="rect">
            <a:avLst/>
          </a:prstGeom>
          <a:noFill/>
          <a:ln w="9525">
            <a:noFill/>
            <a:round/>
            <a:headEnd/>
            <a:tailEnd/>
          </a:ln>
        </p:spPr>
        <p:txBody>
          <a:bodyPr anchor="ct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dirty="0">
                <a:solidFill>
                  <a:srgbClr val="0070C0"/>
                </a:solidFill>
                <a:latin typeface="Calibri" pitchFamily="34" charset="0"/>
              </a:rPr>
              <a:t>Lecture 14</a:t>
            </a:r>
          </a:p>
        </p:txBody>
      </p:sp>
      <p:sp>
        <p:nvSpPr>
          <p:cNvPr id="11" name="Text Box 1">
            <a:extLst>
              <a:ext uri="{FF2B5EF4-FFF2-40B4-BE49-F238E27FC236}">
                <a16:creationId xmlns:a16="http://schemas.microsoft.com/office/drawing/2014/main" id="{076B9DBA-E3F0-4082-A8B1-059A9223B8F2}"/>
              </a:ext>
            </a:extLst>
          </p:cNvPr>
          <p:cNvSpPr txBox="1">
            <a:spLocks noChangeArrowheads="1"/>
          </p:cNvSpPr>
          <p:nvPr/>
        </p:nvSpPr>
        <p:spPr bwMode="auto">
          <a:xfrm>
            <a:off x="1069642" y="2244108"/>
            <a:ext cx="3282480" cy="714375"/>
          </a:xfrm>
          <a:prstGeom prst="rect">
            <a:avLst/>
          </a:prstGeom>
          <a:noFill/>
          <a:ln w="9525">
            <a:noFill/>
            <a:round/>
            <a:headEnd/>
            <a:tailEnd/>
          </a:ln>
        </p:spPr>
        <p:txBody>
          <a:bodyPr anchor="ct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i="1" dirty="0">
                <a:solidFill>
                  <a:srgbClr val="00B050"/>
                </a:solidFill>
                <a:latin typeface="Calibri" pitchFamily="34" charset="0"/>
              </a:rPr>
              <a:t>“People ignore design that ignores people.”</a:t>
            </a:r>
          </a:p>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i="1" dirty="0">
                <a:solidFill>
                  <a:srgbClr val="00B050"/>
                </a:solidFill>
                <a:latin typeface="Calibri" pitchFamily="34" charset="0"/>
              </a:rPr>
              <a:t>– Frank </a:t>
            </a:r>
            <a:r>
              <a:rPr lang="en-US" sz="2400" i="1" dirty="0" err="1">
                <a:solidFill>
                  <a:srgbClr val="00B050"/>
                </a:solidFill>
                <a:latin typeface="Calibri" pitchFamily="34" charset="0"/>
              </a:rPr>
              <a:t>Chimero</a:t>
            </a:r>
            <a:endParaRPr lang="en-US" sz="2400" i="1" dirty="0">
              <a:solidFill>
                <a:srgbClr val="00B050"/>
              </a:solidFill>
              <a:latin typeface="Calibri" pitchFamily="34" charset="0"/>
            </a:endParaRPr>
          </a:p>
        </p:txBody>
      </p:sp>
      <p:pic>
        <p:nvPicPr>
          <p:cNvPr id="3" name="Picture 2">
            <a:extLst>
              <a:ext uri="{FF2B5EF4-FFF2-40B4-BE49-F238E27FC236}">
                <a16:creationId xmlns:a16="http://schemas.microsoft.com/office/drawing/2014/main" id="{B895BEC1-6EBA-71FB-F6D7-0183DC671CEF}"/>
              </a:ext>
            </a:extLst>
          </p:cNvPr>
          <p:cNvPicPr>
            <a:picLocks noChangeAspect="1"/>
          </p:cNvPicPr>
          <p:nvPr/>
        </p:nvPicPr>
        <p:blipFill>
          <a:blip r:embed="rId2">
            <a:alphaModFix amt="70000"/>
          </a:blip>
          <a:stretch>
            <a:fillRect/>
          </a:stretch>
        </p:blipFill>
        <p:spPr>
          <a:xfrm>
            <a:off x="4737641" y="783811"/>
            <a:ext cx="5563376" cy="5010849"/>
          </a:xfrm>
          <a:prstGeom prst="rect">
            <a:avLst/>
          </a:prstGeom>
        </p:spPr>
      </p:pic>
    </p:spTree>
    <p:extLst>
      <p:ext uri="{BB962C8B-B14F-4D97-AF65-F5344CB8AC3E}">
        <p14:creationId xmlns:p14="http://schemas.microsoft.com/office/powerpoint/2010/main" val="3631222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92C86FA2-F5D6-437D-B74B-18FFA6F56208}"/>
              </a:ext>
            </a:extLst>
          </p:cNvPr>
          <p:cNvSpPr txBox="1">
            <a:spLocks noChangeArrowheads="1"/>
          </p:cNvSpPr>
          <p:nvPr/>
        </p:nvSpPr>
        <p:spPr bwMode="auto">
          <a:xfrm>
            <a:off x="244874" y="946006"/>
            <a:ext cx="11368006" cy="5187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1313" indent="-341313">
              <a:spcBef>
                <a:spcPts val="7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Calibri" panose="020F0502020204030204" pitchFamily="34" charset="0"/>
                <a:ea typeface="Microsoft YaHei" panose="020B0503020204020204" pitchFamily="34" charset="-122"/>
              </a:defRPr>
            </a:lvl1pPr>
            <a:lvl2pPr>
              <a:spcBef>
                <a:spcPts val="6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Calibri" panose="020F0502020204030204" pitchFamily="34" charset="0"/>
                <a:ea typeface="Microsoft YaHei" panose="020B0503020204020204" pitchFamily="34" charset="-122"/>
              </a:defRPr>
            </a:lvl2pPr>
            <a:lvl3pPr>
              <a:spcBef>
                <a:spcPts val="5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Calibri" panose="020F0502020204030204" pitchFamily="34" charset="0"/>
                <a:ea typeface="Microsoft YaHei" panose="020B0503020204020204" pitchFamily="34" charset="-122"/>
              </a:defRPr>
            </a:lvl3pPr>
            <a:lvl4pPr>
              <a:spcBef>
                <a:spcPts val="45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Calibri" panose="020F0502020204030204" pitchFamily="34" charset="0"/>
                <a:ea typeface="Microsoft YaHei" panose="020B0503020204020204" pitchFamily="34" charset="-122"/>
              </a:defRPr>
            </a:lvl4pPr>
            <a:lvl5pPr>
              <a:spcBef>
                <a:spcPts val="45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spcBef>
                <a:spcPts val="45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spcBef>
                <a:spcPts val="45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spcBef>
                <a:spcPts val="45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spcBef>
                <a:spcPts val="45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Calibri" panose="020F0502020204030204" pitchFamily="34" charset="0"/>
                <a:ea typeface="Microsoft YaHei" panose="020B0503020204020204" pitchFamily="34" charset="-122"/>
              </a:defRPr>
            </a:lvl9pPr>
          </a:lstStyle>
          <a:p>
            <a:pPr defTabSz="685800">
              <a:spcBef>
                <a:spcPts val="525"/>
              </a:spcBef>
              <a:tabLst>
                <a:tab pos="683419" algn="l"/>
                <a:tab pos="1369219" algn="l"/>
                <a:tab pos="2055019" algn="l"/>
                <a:tab pos="2740819" algn="l"/>
                <a:tab pos="3426619" algn="l"/>
                <a:tab pos="4112419" algn="l"/>
                <a:tab pos="4798219" algn="l"/>
                <a:tab pos="5484019" algn="l"/>
                <a:tab pos="6169819" algn="l"/>
                <a:tab pos="6855619" algn="l"/>
                <a:tab pos="7541419" algn="l"/>
              </a:tabLst>
            </a:pPr>
            <a:r>
              <a:rPr lang="en-US" altLang="en-US" sz="2000" b="1" dirty="0">
                <a:solidFill>
                  <a:srgbClr val="C00000"/>
                </a:solidFill>
              </a:rPr>
              <a:t>Administration:	</a:t>
            </a:r>
            <a:r>
              <a:rPr lang="en-US" altLang="en-US" sz="2000" dirty="0">
                <a:solidFill>
                  <a:srgbClr val="C00000"/>
                </a:solidFill>
              </a:rPr>
              <a:t>Where are we in the module?</a:t>
            </a:r>
          </a:p>
          <a:p>
            <a:pPr marL="0" indent="0">
              <a:buNone/>
            </a:pPr>
            <a:r>
              <a:rPr lang="en-US" sz="2000" dirty="0"/>
              <a:t> </a:t>
            </a:r>
            <a:endParaRPr lang="en-US" altLang="en-US" sz="2000" b="1" dirty="0">
              <a:solidFill>
                <a:srgbClr val="00B050"/>
              </a:solidFill>
            </a:endParaRPr>
          </a:p>
          <a:p>
            <a:r>
              <a:rPr lang="en-US" altLang="en-US" sz="2000" b="1" dirty="0">
                <a:solidFill>
                  <a:srgbClr val="AE4AB6"/>
                </a:solidFill>
              </a:rPr>
              <a:t>Today: 	</a:t>
            </a:r>
            <a:r>
              <a:rPr lang="en-US" sz="2000" b="1" dirty="0"/>
              <a:t>		</a:t>
            </a:r>
          </a:p>
          <a:p>
            <a:pPr marL="0" indent="0">
              <a:buNone/>
            </a:pPr>
            <a:r>
              <a:rPr lang="en-US" sz="2000" b="1" dirty="0"/>
              <a:t>		- Use wireframes to </a:t>
            </a:r>
            <a:r>
              <a:rPr lang="en-US" sz="2000" b="1" dirty="0" err="1"/>
              <a:t>organise</a:t>
            </a:r>
            <a:r>
              <a:rPr lang="en-US" sz="2000" b="1" dirty="0"/>
              <a:t> information on an interface and to plan visual hierarchy. </a:t>
            </a:r>
          </a:p>
          <a:p>
            <a:pPr marL="0" indent="0">
              <a:buNone/>
            </a:pPr>
            <a:r>
              <a:rPr lang="en-US" sz="2000" b="1" dirty="0"/>
              <a:t>		</a:t>
            </a:r>
            <a:r>
              <a:rPr lang="en-US" sz="2000" b="1" dirty="0">
                <a:solidFill>
                  <a:srgbClr val="CC3399"/>
                </a:solidFill>
              </a:rPr>
              <a:t>- Activities (designing a wireframe, a look at FIGMA)</a:t>
            </a:r>
          </a:p>
          <a:p>
            <a:pPr marL="0" indent="0">
              <a:buNone/>
            </a:pPr>
            <a:r>
              <a:rPr lang="en-US" sz="2000" dirty="0">
                <a:solidFill>
                  <a:srgbClr val="0070C0"/>
                </a:solidFill>
              </a:rPr>
              <a:t>	</a:t>
            </a:r>
            <a:endParaRPr lang="en-US" altLang="en-US" sz="2000" dirty="0">
              <a:solidFill>
                <a:srgbClr val="002060"/>
              </a:solidFill>
            </a:endParaRPr>
          </a:p>
          <a:p>
            <a:pPr defTabSz="685800">
              <a:spcBef>
                <a:spcPts val="525"/>
              </a:spcBef>
              <a:tabLst>
                <a:tab pos="683419" algn="l"/>
                <a:tab pos="1369219" algn="l"/>
                <a:tab pos="2055019" algn="l"/>
                <a:tab pos="2740819" algn="l"/>
                <a:tab pos="3426619" algn="l"/>
                <a:tab pos="4112419" algn="l"/>
                <a:tab pos="4798219" algn="l"/>
                <a:tab pos="5484019" algn="l"/>
                <a:tab pos="6169819" algn="l"/>
                <a:tab pos="6855619" algn="l"/>
                <a:tab pos="7541419" algn="l"/>
              </a:tabLst>
            </a:pPr>
            <a:r>
              <a:rPr lang="en-ZA" altLang="en-US" sz="2000" dirty="0">
                <a:solidFill>
                  <a:srgbClr val="00B050"/>
                </a:solidFill>
              </a:rPr>
              <a:t>Complete:	Class Activity </a:t>
            </a:r>
          </a:p>
          <a:p>
            <a:pPr defTabSz="685800">
              <a:spcBef>
                <a:spcPts val="525"/>
              </a:spcBef>
              <a:tabLst>
                <a:tab pos="683419" algn="l"/>
                <a:tab pos="1369219" algn="l"/>
                <a:tab pos="2055019" algn="l"/>
                <a:tab pos="2740819" algn="l"/>
                <a:tab pos="3426619" algn="l"/>
                <a:tab pos="4112419" algn="l"/>
                <a:tab pos="4798219" algn="l"/>
                <a:tab pos="5484019" algn="l"/>
                <a:tab pos="6169819" algn="l"/>
                <a:tab pos="6855619" algn="l"/>
                <a:tab pos="7541419" algn="l"/>
              </a:tabLst>
            </a:pPr>
            <a:r>
              <a:rPr lang="en-ZA" altLang="en-US" sz="2000" dirty="0">
                <a:solidFill>
                  <a:srgbClr val="00B050"/>
                </a:solidFill>
              </a:rPr>
              <a:t>POE: 		Discuss </a:t>
            </a:r>
            <a:endParaRPr lang="en-US" altLang="en-US" sz="2000" dirty="0">
              <a:solidFill>
                <a:srgbClr val="FF00FF"/>
              </a:solidFill>
            </a:endParaRPr>
          </a:p>
          <a:p>
            <a:pPr marL="0" indent="0" defTabSz="685800">
              <a:spcBef>
                <a:spcPts val="525"/>
              </a:spcBef>
              <a:buNone/>
              <a:tabLst>
                <a:tab pos="683419" algn="l"/>
                <a:tab pos="1369219" algn="l"/>
                <a:tab pos="2055019" algn="l"/>
                <a:tab pos="2740819" algn="l"/>
                <a:tab pos="3426619" algn="l"/>
                <a:tab pos="4112419" algn="l"/>
                <a:tab pos="4798219" algn="l"/>
                <a:tab pos="5484019" algn="l"/>
                <a:tab pos="6169819" algn="l"/>
                <a:tab pos="6855619" algn="l"/>
                <a:tab pos="7541419" algn="l"/>
              </a:tabLst>
            </a:pPr>
            <a:r>
              <a:rPr lang="en-US" altLang="en-US" sz="2000" dirty="0">
                <a:solidFill>
                  <a:srgbClr val="FF00FF"/>
                </a:solidFill>
              </a:rPr>
              <a:t>		</a:t>
            </a:r>
            <a:endParaRPr lang="en-US" altLang="en-US" sz="2000" b="1" dirty="0">
              <a:solidFill>
                <a:srgbClr val="7030A0"/>
              </a:solidFill>
            </a:endParaRPr>
          </a:p>
        </p:txBody>
      </p:sp>
      <p:sp>
        <p:nvSpPr>
          <p:cNvPr id="6" name="Text Box 1">
            <a:extLst>
              <a:ext uri="{FF2B5EF4-FFF2-40B4-BE49-F238E27FC236}">
                <a16:creationId xmlns:a16="http://schemas.microsoft.com/office/drawing/2014/main" id="{D2C9B360-A04F-44E4-A47A-5B953954DE08}"/>
              </a:ext>
            </a:extLst>
          </p:cNvPr>
          <p:cNvSpPr txBox="1">
            <a:spLocks noChangeArrowheads="1"/>
          </p:cNvSpPr>
          <p:nvPr/>
        </p:nvSpPr>
        <p:spPr bwMode="auto">
          <a:xfrm>
            <a:off x="1981200" y="118876"/>
            <a:ext cx="8229600" cy="714375"/>
          </a:xfrm>
          <a:prstGeom prst="rect">
            <a:avLst/>
          </a:prstGeom>
          <a:noFill/>
          <a:ln w="9525">
            <a:noFill/>
            <a:round/>
            <a:headEnd/>
            <a:tailEnd/>
          </a:ln>
        </p:spPr>
        <p:txBody>
          <a:bodyPr anchor="ct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dirty="0">
                <a:solidFill>
                  <a:srgbClr val="0070C0"/>
                </a:solidFill>
                <a:latin typeface="Calibri" pitchFamily="34" charset="0"/>
              </a:rPr>
              <a:t>Objectives</a:t>
            </a:r>
          </a:p>
        </p:txBody>
      </p:sp>
    </p:spTree>
    <p:extLst>
      <p:ext uri="{BB962C8B-B14F-4D97-AF65-F5344CB8AC3E}">
        <p14:creationId xmlns:p14="http://schemas.microsoft.com/office/powerpoint/2010/main" val="407846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1000"/>
                                        <p:tgtEl>
                                          <p:spTgt spid="3">
                                            <p:txEl>
                                              <p:pRg st="6" end="6"/>
                                            </p:txEl>
                                          </p:spTgt>
                                        </p:tgtEl>
                                      </p:cBhvr>
                                    </p:animEffect>
                                    <p:anim calcmode="lin" valueType="num">
                                      <p:cBhvr>
                                        <p:cTn id="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7" end="7"/>
                                            </p:txEl>
                                          </p:spTgt>
                                        </p:tgtEl>
                                        <p:attrNameLst>
                                          <p:attrName>style.visibility</p:attrName>
                                        </p:attrNameLst>
                                      </p:cBhvr>
                                      <p:to>
                                        <p:strVal val="visible"/>
                                      </p:to>
                                    </p:set>
                                    <p:animEffect transition="in" filter="fade">
                                      <p:cBhvr>
                                        <p:cTn id="14" dur="1000"/>
                                        <p:tgtEl>
                                          <p:spTgt spid="3">
                                            <p:txEl>
                                              <p:pRg st="7" end="7"/>
                                            </p:txEl>
                                          </p:spTgt>
                                        </p:tgtEl>
                                      </p:cBhvr>
                                    </p:animEffect>
                                    <p:anim calcmode="lin" valueType="num">
                                      <p:cBhvr>
                                        <p:cTn id="1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A5ED45EE-16DD-41FE-A542-4FD400E90D11}"/>
              </a:ext>
            </a:extLst>
          </p:cNvPr>
          <p:cNvSpPr txBox="1"/>
          <p:nvPr/>
        </p:nvSpPr>
        <p:spPr>
          <a:xfrm>
            <a:off x="193963" y="6546365"/>
            <a:ext cx="1291243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Resource: Garrett, J. J. 2000. The elements of User Experience. [Online]. Available at: https://hci.stanford.edu/dsc </a:t>
            </a:r>
            <a:r>
              <a:rPr kumimoji="0" lang="en-US" sz="1200" b="0" i="0" u="none" strike="noStrike" kern="1200" cap="none" spc="0" normalizeH="0" baseline="0" noProof="0" dirty="0" err="1">
                <a:ln>
                  <a:noFill/>
                </a:ln>
                <a:solidFill>
                  <a:prstClr val="white">
                    <a:lumMod val="50000"/>
                  </a:prstClr>
                </a:solidFill>
                <a:effectLst/>
                <a:uLnTx/>
                <a:uFillTx/>
                <a:latin typeface="Calibri" panose="020F0502020204030204"/>
                <a:ea typeface="+mn-ea"/>
                <a:cs typeface="+mn-cs"/>
              </a:rPr>
              <a:t>hool</a:t>
            </a:r>
            <a:r>
              <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/resources/interaction/ garrett-elements.pdf [Accessed 19 August 2022].</a:t>
            </a:r>
          </a:p>
        </p:txBody>
      </p:sp>
      <p:pic>
        <p:nvPicPr>
          <p:cNvPr id="4" name="Picture 3">
            <a:extLst>
              <a:ext uri="{FF2B5EF4-FFF2-40B4-BE49-F238E27FC236}">
                <a16:creationId xmlns:a16="http://schemas.microsoft.com/office/drawing/2014/main" id="{81AA1796-BBA6-3347-BB2E-9DF28F497E4D}"/>
              </a:ext>
            </a:extLst>
          </p:cNvPr>
          <p:cNvPicPr>
            <a:picLocks noChangeAspect="1"/>
          </p:cNvPicPr>
          <p:nvPr/>
        </p:nvPicPr>
        <p:blipFill>
          <a:blip r:embed="rId2"/>
          <a:stretch>
            <a:fillRect/>
          </a:stretch>
        </p:blipFill>
        <p:spPr>
          <a:xfrm>
            <a:off x="0" y="614930"/>
            <a:ext cx="12192008" cy="5841380"/>
          </a:xfrm>
          <a:prstGeom prst="rect">
            <a:avLst/>
          </a:prstGeom>
        </p:spPr>
      </p:pic>
      <p:pic>
        <p:nvPicPr>
          <p:cNvPr id="3" name="Picture 2">
            <a:extLst>
              <a:ext uri="{FF2B5EF4-FFF2-40B4-BE49-F238E27FC236}">
                <a16:creationId xmlns:a16="http://schemas.microsoft.com/office/drawing/2014/main" id="{2A6AF3A5-1779-5126-0542-8DE919A74E63}"/>
              </a:ext>
            </a:extLst>
          </p:cNvPr>
          <p:cNvPicPr>
            <a:picLocks noChangeAspect="1"/>
          </p:cNvPicPr>
          <p:nvPr/>
        </p:nvPicPr>
        <p:blipFill>
          <a:blip r:embed="rId3"/>
          <a:stretch>
            <a:fillRect/>
          </a:stretch>
        </p:blipFill>
        <p:spPr>
          <a:xfrm>
            <a:off x="0" y="1177725"/>
            <a:ext cx="3348000" cy="465664"/>
          </a:xfrm>
          <a:prstGeom prst="rect">
            <a:avLst/>
          </a:prstGeom>
        </p:spPr>
      </p:pic>
      <p:pic>
        <p:nvPicPr>
          <p:cNvPr id="5" name="Picture 4">
            <a:extLst>
              <a:ext uri="{FF2B5EF4-FFF2-40B4-BE49-F238E27FC236}">
                <a16:creationId xmlns:a16="http://schemas.microsoft.com/office/drawing/2014/main" id="{B4577D73-1E12-04BF-814D-880393C3C850}"/>
              </a:ext>
            </a:extLst>
          </p:cNvPr>
          <p:cNvPicPr>
            <a:picLocks noChangeAspect="1"/>
          </p:cNvPicPr>
          <p:nvPr/>
        </p:nvPicPr>
        <p:blipFill>
          <a:blip r:embed="rId3"/>
          <a:stretch>
            <a:fillRect/>
          </a:stretch>
        </p:blipFill>
        <p:spPr>
          <a:xfrm>
            <a:off x="0" y="1842742"/>
            <a:ext cx="3348000" cy="1274621"/>
          </a:xfrm>
          <a:prstGeom prst="rect">
            <a:avLst/>
          </a:prstGeom>
        </p:spPr>
      </p:pic>
      <p:pic>
        <p:nvPicPr>
          <p:cNvPr id="6" name="Picture 5">
            <a:extLst>
              <a:ext uri="{FF2B5EF4-FFF2-40B4-BE49-F238E27FC236}">
                <a16:creationId xmlns:a16="http://schemas.microsoft.com/office/drawing/2014/main" id="{143B27B1-1D7B-B4B3-566F-ADBB66576C51}"/>
              </a:ext>
            </a:extLst>
          </p:cNvPr>
          <p:cNvPicPr>
            <a:picLocks noChangeAspect="1"/>
          </p:cNvPicPr>
          <p:nvPr/>
        </p:nvPicPr>
        <p:blipFill>
          <a:blip r:embed="rId3"/>
          <a:stretch>
            <a:fillRect/>
          </a:stretch>
        </p:blipFill>
        <p:spPr>
          <a:xfrm>
            <a:off x="0" y="3235215"/>
            <a:ext cx="3348000" cy="921239"/>
          </a:xfrm>
          <a:prstGeom prst="rect">
            <a:avLst/>
          </a:prstGeom>
        </p:spPr>
      </p:pic>
      <p:pic>
        <p:nvPicPr>
          <p:cNvPr id="7" name="Picture 6">
            <a:extLst>
              <a:ext uri="{FF2B5EF4-FFF2-40B4-BE49-F238E27FC236}">
                <a16:creationId xmlns:a16="http://schemas.microsoft.com/office/drawing/2014/main" id="{7BB5CE3F-C6DE-16E3-4246-57B11C36D247}"/>
              </a:ext>
            </a:extLst>
          </p:cNvPr>
          <p:cNvPicPr>
            <a:picLocks noChangeAspect="1"/>
          </p:cNvPicPr>
          <p:nvPr/>
        </p:nvPicPr>
        <p:blipFill>
          <a:blip r:embed="rId3"/>
          <a:stretch>
            <a:fillRect/>
          </a:stretch>
        </p:blipFill>
        <p:spPr>
          <a:xfrm>
            <a:off x="0" y="4274306"/>
            <a:ext cx="3348000" cy="602586"/>
          </a:xfrm>
          <a:prstGeom prst="rect">
            <a:avLst/>
          </a:prstGeom>
        </p:spPr>
      </p:pic>
      <p:pic>
        <p:nvPicPr>
          <p:cNvPr id="8" name="Picture 7">
            <a:extLst>
              <a:ext uri="{FF2B5EF4-FFF2-40B4-BE49-F238E27FC236}">
                <a16:creationId xmlns:a16="http://schemas.microsoft.com/office/drawing/2014/main" id="{C8FFEFF9-8E5F-0368-D9EF-0BEE3AB5B0B1}"/>
              </a:ext>
            </a:extLst>
          </p:cNvPr>
          <p:cNvPicPr>
            <a:picLocks noChangeAspect="1"/>
          </p:cNvPicPr>
          <p:nvPr/>
        </p:nvPicPr>
        <p:blipFill>
          <a:blip r:embed="rId3"/>
          <a:stretch>
            <a:fillRect/>
          </a:stretch>
        </p:blipFill>
        <p:spPr>
          <a:xfrm>
            <a:off x="0" y="5064015"/>
            <a:ext cx="3348000" cy="962804"/>
          </a:xfrm>
          <a:prstGeom prst="rect">
            <a:avLst/>
          </a:prstGeom>
        </p:spPr>
      </p:pic>
      <p:pic>
        <p:nvPicPr>
          <p:cNvPr id="9" name="Picture 8">
            <a:extLst>
              <a:ext uri="{FF2B5EF4-FFF2-40B4-BE49-F238E27FC236}">
                <a16:creationId xmlns:a16="http://schemas.microsoft.com/office/drawing/2014/main" id="{29B7CFAE-ECD4-210D-4295-32232D614196}"/>
              </a:ext>
            </a:extLst>
          </p:cNvPr>
          <p:cNvPicPr>
            <a:picLocks noChangeAspect="1"/>
          </p:cNvPicPr>
          <p:nvPr/>
        </p:nvPicPr>
        <p:blipFill>
          <a:blip r:embed="rId3"/>
          <a:stretch>
            <a:fillRect/>
          </a:stretch>
        </p:blipFill>
        <p:spPr>
          <a:xfrm>
            <a:off x="8714511" y="1055732"/>
            <a:ext cx="3062934" cy="720000"/>
          </a:xfrm>
          <a:prstGeom prst="rect">
            <a:avLst/>
          </a:prstGeom>
        </p:spPr>
      </p:pic>
      <p:pic>
        <p:nvPicPr>
          <p:cNvPr id="10" name="Picture 9">
            <a:extLst>
              <a:ext uri="{FF2B5EF4-FFF2-40B4-BE49-F238E27FC236}">
                <a16:creationId xmlns:a16="http://schemas.microsoft.com/office/drawing/2014/main" id="{DEA12588-9EB0-6874-FDAC-F5487A754F1E}"/>
              </a:ext>
            </a:extLst>
          </p:cNvPr>
          <p:cNvPicPr>
            <a:picLocks noChangeAspect="1"/>
          </p:cNvPicPr>
          <p:nvPr/>
        </p:nvPicPr>
        <p:blipFill>
          <a:blip r:embed="rId3"/>
          <a:stretch>
            <a:fillRect/>
          </a:stretch>
        </p:blipFill>
        <p:spPr>
          <a:xfrm>
            <a:off x="8714511" y="1835724"/>
            <a:ext cx="3348000" cy="1274621"/>
          </a:xfrm>
          <a:prstGeom prst="rect">
            <a:avLst/>
          </a:prstGeom>
        </p:spPr>
      </p:pic>
      <p:pic>
        <p:nvPicPr>
          <p:cNvPr id="11" name="Picture 10">
            <a:extLst>
              <a:ext uri="{FF2B5EF4-FFF2-40B4-BE49-F238E27FC236}">
                <a16:creationId xmlns:a16="http://schemas.microsoft.com/office/drawing/2014/main" id="{065A9F90-2CFD-ECED-EB0A-4EA444C7DEBC}"/>
              </a:ext>
            </a:extLst>
          </p:cNvPr>
          <p:cNvPicPr>
            <a:picLocks noChangeAspect="1"/>
          </p:cNvPicPr>
          <p:nvPr/>
        </p:nvPicPr>
        <p:blipFill>
          <a:blip r:embed="rId3"/>
          <a:stretch>
            <a:fillRect/>
          </a:stretch>
        </p:blipFill>
        <p:spPr>
          <a:xfrm>
            <a:off x="8714511" y="3183217"/>
            <a:ext cx="3348000" cy="921239"/>
          </a:xfrm>
          <a:prstGeom prst="rect">
            <a:avLst/>
          </a:prstGeom>
        </p:spPr>
      </p:pic>
      <p:pic>
        <p:nvPicPr>
          <p:cNvPr id="13" name="Picture 12">
            <a:extLst>
              <a:ext uri="{FF2B5EF4-FFF2-40B4-BE49-F238E27FC236}">
                <a16:creationId xmlns:a16="http://schemas.microsoft.com/office/drawing/2014/main" id="{3AB0D42C-9519-6B2E-B296-E74AAC8C8E35}"/>
              </a:ext>
            </a:extLst>
          </p:cNvPr>
          <p:cNvPicPr>
            <a:picLocks noChangeAspect="1"/>
          </p:cNvPicPr>
          <p:nvPr/>
        </p:nvPicPr>
        <p:blipFill>
          <a:blip r:embed="rId3"/>
          <a:stretch>
            <a:fillRect/>
          </a:stretch>
        </p:blipFill>
        <p:spPr>
          <a:xfrm>
            <a:off x="8714511" y="4274306"/>
            <a:ext cx="3348000" cy="602586"/>
          </a:xfrm>
          <a:prstGeom prst="rect">
            <a:avLst/>
          </a:prstGeom>
        </p:spPr>
      </p:pic>
      <p:pic>
        <p:nvPicPr>
          <p:cNvPr id="14" name="Picture 13">
            <a:extLst>
              <a:ext uri="{FF2B5EF4-FFF2-40B4-BE49-F238E27FC236}">
                <a16:creationId xmlns:a16="http://schemas.microsoft.com/office/drawing/2014/main" id="{395956C9-23F5-4033-9FA0-EADB33434095}"/>
              </a:ext>
            </a:extLst>
          </p:cNvPr>
          <p:cNvPicPr>
            <a:picLocks noChangeAspect="1"/>
          </p:cNvPicPr>
          <p:nvPr/>
        </p:nvPicPr>
        <p:blipFill>
          <a:blip r:embed="rId3"/>
          <a:stretch>
            <a:fillRect/>
          </a:stretch>
        </p:blipFill>
        <p:spPr>
          <a:xfrm>
            <a:off x="8714511" y="5064015"/>
            <a:ext cx="3348000" cy="962804"/>
          </a:xfrm>
          <a:prstGeom prst="rect">
            <a:avLst/>
          </a:prstGeom>
        </p:spPr>
      </p:pic>
      <p:sp>
        <p:nvSpPr>
          <p:cNvPr id="15" name="TextBox 14">
            <a:extLst>
              <a:ext uri="{FF2B5EF4-FFF2-40B4-BE49-F238E27FC236}">
                <a16:creationId xmlns:a16="http://schemas.microsoft.com/office/drawing/2014/main" id="{346174BB-E288-AA58-8166-64E57F41DE8A}"/>
              </a:ext>
            </a:extLst>
          </p:cNvPr>
          <p:cNvSpPr txBox="1"/>
          <p:nvPr/>
        </p:nvSpPr>
        <p:spPr>
          <a:xfrm>
            <a:off x="0" y="68340"/>
            <a:ext cx="1149927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8EC0"/>
                </a:solidFill>
                <a:effectLst/>
                <a:uLnTx/>
                <a:uFillTx/>
                <a:latin typeface="Calibri" panose="020F0502020204030204"/>
                <a:ea typeface="+mn-ea"/>
                <a:cs typeface="+mn-cs"/>
              </a:rPr>
              <a:t>The Elements of User Experience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 basic duality (Garrett, 2000): </a:t>
            </a:r>
          </a:p>
        </p:txBody>
      </p:sp>
      <p:sp>
        <p:nvSpPr>
          <p:cNvPr id="16" name="TextBox 15">
            <a:extLst>
              <a:ext uri="{FF2B5EF4-FFF2-40B4-BE49-F238E27FC236}">
                <a16:creationId xmlns:a16="http://schemas.microsoft.com/office/drawing/2014/main" id="{41C234C2-BDD9-9DED-5C75-FD3CA91062DC}"/>
              </a:ext>
            </a:extLst>
          </p:cNvPr>
          <p:cNvSpPr txBox="1"/>
          <p:nvPr/>
        </p:nvSpPr>
        <p:spPr>
          <a:xfrm>
            <a:off x="3403021" y="3350954"/>
            <a:ext cx="13785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C3399"/>
                </a:solidFill>
                <a:effectLst/>
                <a:uLnTx/>
                <a:uFillTx/>
                <a:latin typeface="Calibri" panose="020F0502020204030204"/>
                <a:ea typeface="+mn-ea"/>
                <a:cs typeface="+mn-cs"/>
              </a:rPr>
              <a:t>3. Structure</a:t>
            </a:r>
          </a:p>
        </p:txBody>
      </p:sp>
      <p:sp>
        <p:nvSpPr>
          <p:cNvPr id="18" name="TextBox 17">
            <a:extLst>
              <a:ext uri="{FF2B5EF4-FFF2-40B4-BE49-F238E27FC236}">
                <a16:creationId xmlns:a16="http://schemas.microsoft.com/office/drawing/2014/main" id="{70A8B11F-C1D2-65C2-5512-21B3A249C4D2}"/>
              </a:ext>
            </a:extLst>
          </p:cNvPr>
          <p:cNvSpPr txBox="1"/>
          <p:nvPr/>
        </p:nvSpPr>
        <p:spPr>
          <a:xfrm>
            <a:off x="3477490" y="4414393"/>
            <a:ext cx="122959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C3399"/>
                </a:solidFill>
                <a:effectLst/>
                <a:uLnTx/>
                <a:uFillTx/>
                <a:latin typeface="Calibri" panose="020F0502020204030204"/>
                <a:ea typeface="+mn-ea"/>
                <a:cs typeface="+mn-cs"/>
              </a:rPr>
              <a:t>2. Scope</a:t>
            </a:r>
          </a:p>
        </p:txBody>
      </p:sp>
      <p:sp>
        <p:nvSpPr>
          <p:cNvPr id="20" name="TextBox 19">
            <a:extLst>
              <a:ext uri="{FF2B5EF4-FFF2-40B4-BE49-F238E27FC236}">
                <a16:creationId xmlns:a16="http://schemas.microsoft.com/office/drawing/2014/main" id="{AF67CBA4-A6C6-5CB3-25CF-81FA388D9933}"/>
              </a:ext>
            </a:extLst>
          </p:cNvPr>
          <p:cNvSpPr txBox="1"/>
          <p:nvPr/>
        </p:nvSpPr>
        <p:spPr>
          <a:xfrm>
            <a:off x="3477490" y="5267296"/>
            <a:ext cx="122959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C3399"/>
                </a:solidFill>
                <a:effectLst/>
                <a:uLnTx/>
                <a:uFillTx/>
                <a:latin typeface="Calibri" panose="020F0502020204030204"/>
                <a:ea typeface="+mn-ea"/>
                <a:cs typeface="+mn-cs"/>
              </a:rPr>
              <a:t>1. Strategy</a:t>
            </a:r>
          </a:p>
        </p:txBody>
      </p:sp>
      <p:pic>
        <p:nvPicPr>
          <p:cNvPr id="17" name="Picture 16">
            <a:extLst>
              <a:ext uri="{FF2B5EF4-FFF2-40B4-BE49-F238E27FC236}">
                <a16:creationId xmlns:a16="http://schemas.microsoft.com/office/drawing/2014/main" id="{797AE3D7-5994-7190-404F-EE78AB283C0E}"/>
              </a:ext>
            </a:extLst>
          </p:cNvPr>
          <p:cNvPicPr>
            <a:picLocks noChangeAspect="1"/>
          </p:cNvPicPr>
          <p:nvPr/>
        </p:nvPicPr>
        <p:blipFill>
          <a:blip r:embed="rId4"/>
          <a:stretch>
            <a:fillRect/>
          </a:stretch>
        </p:blipFill>
        <p:spPr>
          <a:xfrm>
            <a:off x="11499272" y="1"/>
            <a:ext cx="691203" cy="602820"/>
          </a:xfrm>
          <a:prstGeom prst="rect">
            <a:avLst/>
          </a:prstGeom>
        </p:spPr>
      </p:pic>
      <p:sp>
        <p:nvSpPr>
          <p:cNvPr id="2" name="TextBox 1">
            <a:extLst>
              <a:ext uri="{FF2B5EF4-FFF2-40B4-BE49-F238E27FC236}">
                <a16:creationId xmlns:a16="http://schemas.microsoft.com/office/drawing/2014/main" id="{A0DFB3F3-EA94-10C8-216C-A91C76023FCB}"/>
              </a:ext>
            </a:extLst>
          </p:cNvPr>
          <p:cNvSpPr txBox="1"/>
          <p:nvPr/>
        </p:nvSpPr>
        <p:spPr>
          <a:xfrm>
            <a:off x="1586348" y="2041904"/>
            <a:ext cx="277090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C3399"/>
                </a:solidFill>
                <a:effectLst/>
                <a:uLnTx/>
                <a:uFillTx/>
                <a:latin typeface="Calibri" panose="020F0502020204030204"/>
                <a:ea typeface="+mn-ea"/>
                <a:cs typeface="+mn-cs"/>
              </a:rPr>
              <a:t>4. UX, User Interface and Visual Design </a:t>
            </a:r>
          </a:p>
        </p:txBody>
      </p:sp>
    </p:spTree>
    <p:extLst>
      <p:ext uri="{BB962C8B-B14F-4D97-AF65-F5344CB8AC3E}">
        <p14:creationId xmlns:p14="http://schemas.microsoft.com/office/powerpoint/2010/main" val="1344370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nodeType="clickEffect">
                                  <p:stCondLst>
                                    <p:cond delay="0"/>
                                  </p:stCondLst>
                                  <p:childTnLst>
                                    <p:animEffect transition="out" filter="fade">
                                      <p:cBhvr>
                                        <p:cTn id="6" dur="1000"/>
                                        <p:tgtEl>
                                          <p:spTgt spid="8"/>
                                        </p:tgtEl>
                                      </p:cBhvr>
                                    </p:animEffect>
                                    <p:anim calcmode="lin" valueType="num">
                                      <p:cBhvr>
                                        <p:cTn id="7" dur="1000"/>
                                        <p:tgtEl>
                                          <p:spTgt spid="8"/>
                                        </p:tgtEl>
                                        <p:attrNameLst>
                                          <p:attrName>ppt_x</p:attrName>
                                        </p:attrNameLst>
                                      </p:cBhvr>
                                      <p:tavLst>
                                        <p:tav tm="0">
                                          <p:val>
                                            <p:strVal val="ppt_x"/>
                                          </p:val>
                                        </p:tav>
                                        <p:tav tm="100000">
                                          <p:val>
                                            <p:strVal val="ppt_x"/>
                                          </p:val>
                                        </p:tav>
                                      </p:tavLst>
                                    </p:anim>
                                    <p:anim calcmode="lin" valueType="num">
                                      <p:cBhvr>
                                        <p:cTn id="8" dur="1000"/>
                                        <p:tgtEl>
                                          <p:spTgt spid="8"/>
                                        </p:tgtEl>
                                        <p:attrNameLst>
                                          <p:attrName>ppt_y</p:attrName>
                                        </p:attrNameLst>
                                      </p:cBhvr>
                                      <p:tavLst>
                                        <p:tav tm="0">
                                          <p:val>
                                            <p:strVal val="ppt_y"/>
                                          </p:val>
                                        </p:tav>
                                        <p:tav tm="100000">
                                          <p:val>
                                            <p:strVal val="ppt_y+.1"/>
                                          </p:val>
                                        </p:tav>
                                      </p:tavLst>
                                    </p:anim>
                                    <p:set>
                                      <p:cBhvr>
                                        <p:cTn id="9" dur="1" fill="hold">
                                          <p:stCondLst>
                                            <p:cond delay="999"/>
                                          </p:stCondLst>
                                        </p:cTn>
                                        <p:tgtEl>
                                          <p:spTgt spid="8"/>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nodeType="clickEffect">
                                  <p:stCondLst>
                                    <p:cond delay="0"/>
                                  </p:stCondLst>
                                  <p:childTnLst>
                                    <p:animEffect transition="out" filter="fade">
                                      <p:cBhvr>
                                        <p:cTn id="13" dur="1000"/>
                                        <p:tgtEl>
                                          <p:spTgt spid="14"/>
                                        </p:tgtEl>
                                      </p:cBhvr>
                                    </p:animEffect>
                                    <p:anim calcmode="lin" valueType="num">
                                      <p:cBhvr>
                                        <p:cTn id="14" dur="1000"/>
                                        <p:tgtEl>
                                          <p:spTgt spid="14"/>
                                        </p:tgtEl>
                                        <p:attrNameLst>
                                          <p:attrName>ppt_x</p:attrName>
                                        </p:attrNameLst>
                                      </p:cBhvr>
                                      <p:tavLst>
                                        <p:tav tm="0">
                                          <p:val>
                                            <p:strVal val="ppt_x"/>
                                          </p:val>
                                        </p:tav>
                                        <p:tav tm="100000">
                                          <p:val>
                                            <p:strVal val="ppt_x"/>
                                          </p:val>
                                        </p:tav>
                                      </p:tavLst>
                                    </p:anim>
                                    <p:anim calcmode="lin" valueType="num">
                                      <p:cBhvr>
                                        <p:cTn id="15" dur="1000"/>
                                        <p:tgtEl>
                                          <p:spTgt spid="14"/>
                                        </p:tgtEl>
                                        <p:attrNameLst>
                                          <p:attrName>ppt_y</p:attrName>
                                        </p:attrNameLst>
                                      </p:cBhvr>
                                      <p:tavLst>
                                        <p:tav tm="0">
                                          <p:val>
                                            <p:strVal val="ppt_y"/>
                                          </p:val>
                                        </p:tav>
                                        <p:tav tm="100000">
                                          <p:val>
                                            <p:strVal val="ppt_y+.1"/>
                                          </p:val>
                                        </p:tav>
                                      </p:tavLst>
                                    </p:anim>
                                    <p:set>
                                      <p:cBhvr>
                                        <p:cTn id="16" dur="1" fill="hold">
                                          <p:stCondLst>
                                            <p:cond delay="999"/>
                                          </p:stCondLst>
                                        </p:cTn>
                                        <p:tgtEl>
                                          <p:spTgt spid="1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xit" presetSubtype="0" fill="hold" nodeType="clickEffect">
                                  <p:stCondLst>
                                    <p:cond delay="0"/>
                                  </p:stCondLst>
                                  <p:childTnLst>
                                    <p:animEffect transition="out" filter="fade">
                                      <p:cBhvr>
                                        <p:cTn id="20" dur="1000"/>
                                        <p:tgtEl>
                                          <p:spTgt spid="7"/>
                                        </p:tgtEl>
                                      </p:cBhvr>
                                    </p:animEffect>
                                    <p:anim calcmode="lin" valueType="num">
                                      <p:cBhvr>
                                        <p:cTn id="21" dur="1000"/>
                                        <p:tgtEl>
                                          <p:spTgt spid="7"/>
                                        </p:tgtEl>
                                        <p:attrNameLst>
                                          <p:attrName>ppt_x</p:attrName>
                                        </p:attrNameLst>
                                      </p:cBhvr>
                                      <p:tavLst>
                                        <p:tav tm="0">
                                          <p:val>
                                            <p:strVal val="ppt_x"/>
                                          </p:val>
                                        </p:tav>
                                        <p:tav tm="100000">
                                          <p:val>
                                            <p:strVal val="ppt_x"/>
                                          </p:val>
                                        </p:tav>
                                      </p:tavLst>
                                    </p:anim>
                                    <p:anim calcmode="lin" valueType="num">
                                      <p:cBhvr>
                                        <p:cTn id="22" dur="1000"/>
                                        <p:tgtEl>
                                          <p:spTgt spid="7"/>
                                        </p:tgtEl>
                                        <p:attrNameLst>
                                          <p:attrName>ppt_y</p:attrName>
                                        </p:attrNameLst>
                                      </p:cBhvr>
                                      <p:tavLst>
                                        <p:tav tm="0">
                                          <p:val>
                                            <p:strVal val="ppt_y"/>
                                          </p:val>
                                        </p:tav>
                                        <p:tav tm="100000">
                                          <p:val>
                                            <p:strVal val="ppt_y+.1"/>
                                          </p:val>
                                        </p:tav>
                                      </p:tavLst>
                                    </p:anim>
                                    <p:set>
                                      <p:cBhvr>
                                        <p:cTn id="23" dur="1" fill="hold">
                                          <p:stCondLst>
                                            <p:cond delay="999"/>
                                          </p:stCondLst>
                                        </p:cTn>
                                        <p:tgtEl>
                                          <p:spTgt spid="7"/>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42" presetClass="exit" presetSubtype="0" fill="hold" nodeType="clickEffect">
                                  <p:stCondLst>
                                    <p:cond delay="0"/>
                                  </p:stCondLst>
                                  <p:childTnLst>
                                    <p:animEffect transition="out" filter="fade">
                                      <p:cBhvr>
                                        <p:cTn id="27" dur="1000"/>
                                        <p:tgtEl>
                                          <p:spTgt spid="13"/>
                                        </p:tgtEl>
                                      </p:cBhvr>
                                    </p:animEffect>
                                    <p:anim calcmode="lin" valueType="num">
                                      <p:cBhvr>
                                        <p:cTn id="28" dur="1000"/>
                                        <p:tgtEl>
                                          <p:spTgt spid="13"/>
                                        </p:tgtEl>
                                        <p:attrNameLst>
                                          <p:attrName>ppt_x</p:attrName>
                                        </p:attrNameLst>
                                      </p:cBhvr>
                                      <p:tavLst>
                                        <p:tav tm="0">
                                          <p:val>
                                            <p:strVal val="ppt_x"/>
                                          </p:val>
                                        </p:tav>
                                        <p:tav tm="100000">
                                          <p:val>
                                            <p:strVal val="ppt_x"/>
                                          </p:val>
                                        </p:tav>
                                      </p:tavLst>
                                    </p:anim>
                                    <p:anim calcmode="lin" valueType="num">
                                      <p:cBhvr>
                                        <p:cTn id="29" dur="1000"/>
                                        <p:tgtEl>
                                          <p:spTgt spid="13"/>
                                        </p:tgtEl>
                                        <p:attrNameLst>
                                          <p:attrName>ppt_y</p:attrName>
                                        </p:attrNameLst>
                                      </p:cBhvr>
                                      <p:tavLst>
                                        <p:tav tm="0">
                                          <p:val>
                                            <p:strVal val="ppt_y"/>
                                          </p:val>
                                        </p:tav>
                                        <p:tav tm="100000">
                                          <p:val>
                                            <p:strVal val="ppt_y+.1"/>
                                          </p:val>
                                        </p:tav>
                                      </p:tavLst>
                                    </p:anim>
                                    <p:set>
                                      <p:cBhvr>
                                        <p:cTn id="30" dur="1" fill="hold">
                                          <p:stCondLst>
                                            <p:cond delay="999"/>
                                          </p:stCondLst>
                                        </p:cTn>
                                        <p:tgtEl>
                                          <p:spTgt spid="1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42" presetClass="exit" presetSubtype="0" fill="hold" nodeType="clickEffect">
                                  <p:stCondLst>
                                    <p:cond delay="0"/>
                                  </p:stCondLst>
                                  <p:childTnLst>
                                    <p:animEffect transition="out" filter="fade">
                                      <p:cBhvr>
                                        <p:cTn id="34" dur="1000"/>
                                        <p:tgtEl>
                                          <p:spTgt spid="6"/>
                                        </p:tgtEl>
                                      </p:cBhvr>
                                    </p:animEffect>
                                    <p:anim calcmode="lin" valueType="num">
                                      <p:cBhvr>
                                        <p:cTn id="35" dur="1000"/>
                                        <p:tgtEl>
                                          <p:spTgt spid="6"/>
                                        </p:tgtEl>
                                        <p:attrNameLst>
                                          <p:attrName>ppt_x</p:attrName>
                                        </p:attrNameLst>
                                      </p:cBhvr>
                                      <p:tavLst>
                                        <p:tav tm="0">
                                          <p:val>
                                            <p:strVal val="ppt_x"/>
                                          </p:val>
                                        </p:tav>
                                        <p:tav tm="100000">
                                          <p:val>
                                            <p:strVal val="ppt_x"/>
                                          </p:val>
                                        </p:tav>
                                      </p:tavLst>
                                    </p:anim>
                                    <p:anim calcmode="lin" valueType="num">
                                      <p:cBhvr>
                                        <p:cTn id="36" dur="1000"/>
                                        <p:tgtEl>
                                          <p:spTgt spid="6"/>
                                        </p:tgtEl>
                                        <p:attrNameLst>
                                          <p:attrName>ppt_y</p:attrName>
                                        </p:attrNameLst>
                                      </p:cBhvr>
                                      <p:tavLst>
                                        <p:tav tm="0">
                                          <p:val>
                                            <p:strVal val="ppt_y"/>
                                          </p:val>
                                        </p:tav>
                                        <p:tav tm="100000">
                                          <p:val>
                                            <p:strVal val="ppt_y+.1"/>
                                          </p:val>
                                        </p:tav>
                                      </p:tavLst>
                                    </p:anim>
                                    <p:set>
                                      <p:cBhvr>
                                        <p:cTn id="37" dur="1" fill="hold">
                                          <p:stCondLst>
                                            <p:cond delay="999"/>
                                          </p:stCondLst>
                                        </p:cTn>
                                        <p:tgtEl>
                                          <p:spTgt spid="6"/>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42" presetClass="exit" presetSubtype="0" fill="hold" nodeType="clickEffect">
                                  <p:stCondLst>
                                    <p:cond delay="0"/>
                                  </p:stCondLst>
                                  <p:childTnLst>
                                    <p:animEffect transition="out" filter="fade">
                                      <p:cBhvr>
                                        <p:cTn id="41" dur="1000"/>
                                        <p:tgtEl>
                                          <p:spTgt spid="11"/>
                                        </p:tgtEl>
                                      </p:cBhvr>
                                    </p:animEffect>
                                    <p:anim calcmode="lin" valueType="num">
                                      <p:cBhvr>
                                        <p:cTn id="42" dur="1000"/>
                                        <p:tgtEl>
                                          <p:spTgt spid="11"/>
                                        </p:tgtEl>
                                        <p:attrNameLst>
                                          <p:attrName>ppt_x</p:attrName>
                                        </p:attrNameLst>
                                      </p:cBhvr>
                                      <p:tavLst>
                                        <p:tav tm="0">
                                          <p:val>
                                            <p:strVal val="ppt_x"/>
                                          </p:val>
                                        </p:tav>
                                        <p:tav tm="100000">
                                          <p:val>
                                            <p:strVal val="ppt_x"/>
                                          </p:val>
                                        </p:tav>
                                      </p:tavLst>
                                    </p:anim>
                                    <p:anim calcmode="lin" valueType="num">
                                      <p:cBhvr>
                                        <p:cTn id="43" dur="1000"/>
                                        <p:tgtEl>
                                          <p:spTgt spid="11"/>
                                        </p:tgtEl>
                                        <p:attrNameLst>
                                          <p:attrName>ppt_y</p:attrName>
                                        </p:attrNameLst>
                                      </p:cBhvr>
                                      <p:tavLst>
                                        <p:tav tm="0">
                                          <p:val>
                                            <p:strVal val="ppt_y"/>
                                          </p:val>
                                        </p:tav>
                                        <p:tav tm="100000">
                                          <p:val>
                                            <p:strVal val="ppt_y+.1"/>
                                          </p:val>
                                        </p:tav>
                                      </p:tavLst>
                                    </p:anim>
                                    <p:set>
                                      <p:cBhvr>
                                        <p:cTn id="44" dur="1" fill="hold">
                                          <p:stCondLst>
                                            <p:cond delay="999"/>
                                          </p:stCondLst>
                                        </p:cTn>
                                        <p:tgtEl>
                                          <p:spTgt spid="1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42" presetClass="exit" presetSubtype="0" fill="hold" nodeType="clickEffect">
                                  <p:stCondLst>
                                    <p:cond delay="0"/>
                                  </p:stCondLst>
                                  <p:childTnLst>
                                    <p:animEffect transition="out" filter="fade">
                                      <p:cBhvr>
                                        <p:cTn id="48" dur="1000"/>
                                        <p:tgtEl>
                                          <p:spTgt spid="5"/>
                                        </p:tgtEl>
                                      </p:cBhvr>
                                    </p:animEffect>
                                    <p:anim calcmode="lin" valueType="num">
                                      <p:cBhvr>
                                        <p:cTn id="49" dur="1000"/>
                                        <p:tgtEl>
                                          <p:spTgt spid="5"/>
                                        </p:tgtEl>
                                        <p:attrNameLst>
                                          <p:attrName>ppt_x</p:attrName>
                                        </p:attrNameLst>
                                      </p:cBhvr>
                                      <p:tavLst>
                                        <p:tav tm="0">
                                          <p:val>
                                            <p:strVal val="ppt_x"/>
                                          </p:val>
                                        </p:tav>
                                        <p:tav tm="100000">
                                          <p:val>
                                            <p:strVal val="ppt_x"/>
                                          </p:val>
                                        </p:tav>
                                      </p:tavLst>
                                    </p:anim>
                                    <p:anim calcmode="lin" valueType="num">
                                      <p:cBhvr>
                                        <p:cTn id="50" dur="1000"/>
                                        <p:tgtEl>
                                          <p:spTgt spid="5"/>
                                        </p:tgtEl>
                                        <p:attrNameLst>
                                          <p:attrName>ppt_y</p:attrName>
                                        </p:attrNameLst>
                                      </p:cBhvr>
                                      <p:tavLst>
                                        <p:tav tm="0">
                                          <p:val>
                                            <p:strVal val="ppt_y"/>
                                          </p:val>
                                        </p:tav>
                                        <p:tav tm="100000">
                                          <p:val>
                                            <p:strVal val="ppt_y+.1"/>
                                          </p:val>
                                        </p:tav>
                                      </p:tavLst>
                                    </p:anim>
                                    <p:set>
                                      <p:cBhvr>
                                        <p:cTn id="51" dur="1" fill="hold">
                                          <p:stCondLst>
                                            <p:cond delay="999"/>
                                          </p:stCondLst>
                                        </p:cTn>
                                        <p:tgtEl>
                                          <p:spTgt spid="5"/>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42" presetClass="exit" presetSubtype="0" fill="hold" nodeType="clickEffect">
                                  <p:stCondLst>
                                    <p:cond delay="0"/>
                                  </p:stCondLst>
                                  <p:childTnLst>
                                    <p:animEffect transition="out" filter="fade">
                                      <p:cBhvr>
                                        <p:cTn id="55" dur="1000"/>
                                        <p:tgtEl>
                                          <p:spTgt spid="10"/>
                                        </p:tgtEl>
                                      </p:cBhvr>
                                    </p:animEffect>
                                    <p:anim calcmode="lin" valueType="num">
                                      <p:cBhvr>
                                        <p:cTn id="56" dur="1000"/>
                                        <p:tgtEl>
                                          <p:spTgt spid="10"/>
                                        </p:tgtEl>
                                        <p:attrNameLst>
                                          <p:attrName>ppt_x</p:attrName>
                                        </p:attrNameLst>
                                      </p:cBhvr>
                                      <p:tavLst>
                                        <p:tav tm="0">
                                          <p:val>
                                            <p:strVal val="ppt_x"/>
                                          </p:val>
                                        </p:tav>
                                        <p:tav tm="100000">
                                          <p:val>
                                            <p:strVal val="ppt_x"/>
                                          </p:val>
                                        </p:tav>
                                      </p:tavLst>
                                    </p:anim>
                                    <p:anim calcmode="lin" valueType="num">
                                      <p:cBhvr>
                                        <p:cTn id="57" dur="1000"/>
                                        <p:tgtEl>
                                          <p:spTgt spid="10"/>
                                        </p:tgtEl>
                                        <p:attrNameLst>
                                          <p:attrName>ppt_y</p:attrName>
                                        </p:attrNameLst>
                                      </p:cBhvr>
                                      <p:tavLst>
                                        <p:tav tm="0">
                                          <p:val>
                                            <p:strVal val="ppt_y"/>
                                          </p:val>
                                        </p:tav>
                                        <p:tav tm="100000">
                                          <p:val>
                                            <p:strVal val="ppt_y+.1"/>
                                          </p:val>
                                        </p:tav>
                                      </p:tavLst>
                                    </p:anim>
                                    <p:set>
                                      <p:cBhvr>
                                        <p:cTn id="58" dur="1" fill="hold">
                                          <p:stCondLst>
                                            <p:cond delay="999"/>
                                          </p:stCondLst>
                                        </p:cTn>
                                        <p:tgtEl>
                                          <p:spTgt spid="10"/>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42" presetClass="exit" presetSubtype="0" fill="hold" nodeType="clickEffect">
                                  <p:stCondLst>
                                    <p:cond delay="0"/>
                                  </p:stCondLst>
                                  <p:childTnLst>
                                    <p:animEffect transition="out" filter="fade">
                                      <p:cBhvr>
                                        <p:cTn id="62" dur="1000"/>
                                        <p:tgtEl>
                                          <p:spTgt spid="3"/>
                                        </p:tgtEl>
                                      </p:cBhvr>
                                    </p:animEffect>
                                    <p:anim calcmode="lin" valueType="num">
                                      <p:cBhvr>
                                        <p:cTn id="63" dur="1000"/>
                                        <p:tgtEl>
                                          <p:spTgt spid="3"/>
                                        </p:tgtEl>
                                        <p:attrNameLst>
                                          <p:attrName>ppt_x</p:attrName>
                                        </p:attrNameLst>
                                      </p:cBhvr>
                                      <p:tavLst>
                                        <p:tav tm="0">
                                          <p:val>
                                            <p:strVal val="ppt_x"/>
                                          </p:val>
                                        </p:tav>
                                        <p:tav tm="100000">
                                          <p:val>
                                            <p:strVal val="ppt_x"/>
                                          </p:val>
                                        </p:tav>
                                      </p:tavLst>
                                    </p:anim>
                                    <p:anim calcmode="lin" valueType="num">
                                      <p:cBhvr>
                                        <p:cTn id="64" dur="1000"/>
                                        <p:tgtEl>
                                          <p:spTgt spid="3"/>
                                        </p:tgtEl>
                                        <p:attrNameLst>
                                          <p:attrName>ppt_y</p:attrName>
                                        </p:attrNameLst>
                                      </p:cBhvr>
                                      <p:tavLst>
                                        <p:tav tm="0">
                                          <p:val>
                                            <p:strVal val="ppt_y"/>
                                          </p:val>
                                        </p:tav>
                                        <p:tav tm="100000">
                                          <p:val>
                                            <p:strVal val="ppt_y+.1"/>
                                          </p:val>
                                        </p:tav>
                                      </p:tavLst>
                                    </p:anim>
                                    <p:set>
                                      <p:cBhvr>
                                        <p:cTn id="65" dur="1" fill="hold">
                                          <p:stCondLst>
                                            <p:cond delay="999"/>
                                          </p:stCondLst>
                                        </p:cTn>
                                        <p:tgtEl>
                                          <p:spTgt spid="3"/>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42" presetClass="exit" presetSubtype="0" fill="hold" nodeType="clickEffect">
                                  <p:stCondLst>
                                    <p:cond delay="0"/>
                                  </p:stCondLst>
                                  <p:childTnLst>
                                    <p:animEffect transition="out" filter="fade">
                                      <p:cBhvr>
                                        <p:cTn id="69" dur="1000"/>
                                        <p:tgtEl>
                                          <p:spTgt spid="9"/>
                                        </p:tgtEl>
                                      </p:cBhvr>
                                    </p:animEffect>
                                    <p:anim calcmode="lin" valueType="num">
                                      <p:cBhvr>
                                        <p:cTn id="70" dur="1000"/>
                                        <p:tgtEl>
                                          <p:spTgt spid="9"/>
                                        </p:tgtEl>
                                        <p:attrNameLst>
                                          <p:attrName>ppt_x</p:attrName>
                                        </p:attrNameLst>
                                      </p:cBhvr>
                                      <p:tavLst>
                                        <p:tav tm="0">
                                          <p:val>
                                            <p:strVal val="ppt_x"/>
                                          </p:val>
                                        </p:tav>
                                        <p:tav tm="100000">
                                          <p:val>
                                            <p:strVal val="ppt_x"/>
                                          </p:val>
                                        </p:tav>
                                      </p:tavLst>
                                    </p:anim>
                                    <p:anim calcmode="lin" valueType="num">
                                      <p:cBhvr>
                                        <p:cTn id="71" dur="1000"/>
                                        <p:tgtEl>
                                          <p:spTgt spid="9"/>
                                        </p:tgtEl>
                                        <p:attrNameLst>
                                          <p:attrName>ppt_y</p:attrName>
                                        </p:attrNameLst>
                                      </p:cBhvr>
                                      <p:tavLst>
                                        <p:tav tm="0">
                                          <p:val>
                                            <p:strVal val="ppt_y"/>
                                          </p:val>
                                        </p:tav>
                                        <p:tav tm="100000">
                                          <p:val>
                                            <p:strVal val="ppt_y+.1"/>
                                          </p:val>
                                        </p:tav>
                                      </p:tavLst>
                                    </p:anim>
                                    <p:set>
                                      <p:cBhvr>
                                        <p:cTn id="72" dur="1" fill="hold">
                                          <p:stCondLst>
                                            <p:cond delay="9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A5ED45EE-16DD-41FE-A542-4FD400E90D11}"/>
              </a:ext>
            </a:extLst>
          </p:cNvPr>
          <p:cNvSpPr txBox="1"/>
          <p:nvPr/>
        </p:nvSpPr>
        <p:spPr>
          <a:xfrm>
            <a:off x="193963" y="6546365"/>
            <a:ext cx="1291243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Resource: Garrett, J. J. 2000. The elements of User Experience. [Online]. Available at: https://hci.stanford.edu/dsc </a:t>
            </a:r>
            <a:r>
              <a:rPr kumimoji="0" lang="en-US" sz="1200" b="0" i="0" u="none" strike="noStrike" kern="1200" cap="none" spc="0" normalizeH="0" baseline="0" noProof="0" dirty="0" err="1">
                <a:ln>
                  <a:noFill/>
                </a:ln>
                <a:solidFill>
                  <a:prstClr val="white">
                    <a:lumMod val="50000"/>
                  </a:prstClr>
                </a:solidFill>
                <a:effectLst/>
                <a:uLnTx/>
                <a:uFillTx/>
                <a:latin typeface="Calibri" panose="020F0502020204030204"/>
                <a:ea typeface="+mn-ea"/>
                <a:cs typeface="+mn-cs"/>
              </a:rPr>
              <a:t>hool</a:t>
            </a:r>
            <a:r>
              <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/resources/interaction/ garrett-elements.pdf [Accessed 19 August 2022].</a:t>
            </a:r>
          </a:p>
        </p:txBody>
      </p:sp>
      <p:pic>
        <p:nvPicPr>
          <p:cNvPr id="4" name="Picture 3">
            <a:extLst>
              <a:ext uri="{FF2B5EF4-FFF2-40B4-BE49-F238E27FC236}">
                <a16:creationId xmlns:a16="http://schemas.microsoft.com/office/drawing/2014/main" id="{81AA1796-BBA6-3347-BB2E-9DF28F497E4D}"/>
              </a:ext>
            </a:extLst>
          </p:cNvPr>
          <p:cNvPicPr>
            <a:picLocks noChangeAspect="1"/>
          </p:cNvPicPr>
          <p:nvPr/>
        </p:nvPicPr>
        <p:blipFill>
          <a:blip r:embed="rId2"/>
          <a:stretch>
            <a:fillRect/>
          </a:stretch>
        </p:blipFill>
        <p:spPr>
          <a:xfrm>
            <a:off x="332509" y="914032"/>
            <a:ext cx="11430000" cy="5476290"/>
          </a:xfrm>
          <a:prstGeom prst="rect">
            <a:avLst/>
          </a:prstGeom>
        </p:spPr>
      </p:pic>
      <p:sp>
        <p:nvSpPr>
          <p:cNvPr id="5" name="TextBox 4">
            <a:extLst>
              <a:ext uri="{FF2B5EF4-FFF2-40B4-BE49-F238E27FC236}">
                <a16:creationId xmlns:a16="http://schemas.microsoft.com/office/drawing/2014/main" id="{0EA86157-BDF8-D82A-4DF3-27556E8281CA}"/>
              </a:ext>
            </a:extLst>
          </p:cNvPr>
          <p:cNvSpPr txBox="1"/>
          <p:nvPr/>
        </p:nvSpPr>
        <p:spPr>
          <a:xfrm>
            <a:off x="193963" y="83035"/>
            <a:ext cx="11194473"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model defines the </a:t>
            </a:r>
            <a:r>
              <a:rPr kumimoji="0" lang="en-US" sz="2400" b="0" i="0" u="none" strike="noStrike" kern="1200" cap="none" spc="0" normalizeH="0" baseline="0" noProof="0" dirty="0">
                <a:ln>
                  <a:noFill/>
                </a:ln>
                <a:solidFill>
                  <a:srgbClr val="00B050"/>
                </a:solidFill>
                <a:effectLst/>
                <a:uLnTx/>
                <a:uFillTx/>
                <a:latin typeface="Calibri" panose="020F0502020204030204"/>
                <a:ea typeface="+mn-ea"/>
                <a:cs typeface="+mn-cs"/>
              </a:rPr>
              <a:t>key considerations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that go into the </a:t>
            </a:r>
            <a:r>
              <a:rPr kumimoji="0" lang="en-US" sz="2400" b="0" i="0" u="none" strike="noStrike" kern="1200" cap="none" spc="0" normalizeH="0" baseline="0" noProof="0" dirty="0">
                <a:ln>
                  <a:noFill/>
                </a:ln>
                <a:solidFill>
                  <a:srgbClr val="E23ACE"/>
                </a:solidFill>
                <a:effectLst/>
                <a:uLnTx/>
                <a:uFillTx/>
                <a:latin typeface="Calibri" panose="020F0502020204030204"/>
                <a:ea typeface="+mn-ea"/>
                <a:cs typeface="+mn-cs"/>
              </a:rPr>
              <a:t>development of user experience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on the web today.</a:t>
            </a:r>
            <a:endParaRPr kumimoji="0" lang="en-ZA"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2E95CF5C-6B02-E004-731A-5EC6745656AC}"/>
              </a:ext>
            </a:extLst>
          </p:cNvPr>
          <p:cNvPicPr>
            <a:picLocks noChangeAspect="1"/>
          </p:cNvPicPr>
          <p:nvPr/>
        </p:nvPicPr>
        <p:blipFill>
          <a:blip r:embed="rId3"/>
          <a:stretch>
            <a:fillRect/>
          </a:stretch>
        </p:blipFill>
        <p:spPr>
          <a:xfrm>
            <a:off x="11499272" y="1"/>
            <a:ext cx="691203" cy="602820"/>
          </a:xfrm>
          <a:prstGeom prst="rect">
            <a:avLst/>
          </a:prstGeom>
        </p:spPr>
      </p:pic>
    </p:spTree>
    <p:extLst>
      <p:ext uri="{BB962C8B-B14F-4D97-AF65-F5344CB8AC3E}">
        <p14:creationId xmlns:p14="http://schemas.microsoft.com/office/powerpoint/2010/main" val="1677494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EB63B3-B7DA-7056-C38F-286669523498}"/>
              </a:ext>
            </a:extLst>
          </p:cNvPr>
          <p:cNvPicPr>
            <a:picLocks noChangeAspect="1"/>
          </p:cNvPicPr>
          <p:nvPr/>
        </p:nvPicPr>
        <p:blipFill>
          <a:blip r:embed="rId2"/>
          <a:stretch>
            <a:fillRect/>
          </a:stretch>
        </p:blipFill>
        <p:spPr>
          <a:xfrm>
            <a:off x="6436496" y="166254"/>
            <a:ext cx="4314631" cy="6501993"/>
          </a:xfrm>
          <a:prstGeom prst="rect">
            <a:avLst/>
          </a:prstGeom>
        </p:spPr>
      </p:pic>
      <p:sp>
        <p:nvSpPr>
          <p:cNvPr id="7" name="TextBox 6">
            <a:extLst>
              <a:ext uri="{FF2B5EF4-FFF2-40B4-BE49-F238E27FC236}">
                <a16:creationId xmlns:a16="http://schemas.microsoft.com/office/drawing/2014/main" id="{299508B2-B3EF-AE41-BAF0-5A7754A8EAB1}"/>
              </a:ext>
            </a:extLst>
          </p:cNvPr>
          <p:cNvSpPr txBox="1"/>
          <p:nvPr/>
        </p:nvSpPr>
        <p:spPr>
          <a:xfrm>
            <a:off x="340496" y="307170"/>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B050"/>
                </a:solidFill>
                <a:effectLst/>
                <a:uLnTx/>
                <a:uFillTx/>
                <a:latin typeface="Calibri" panose="020F0502020204030204"/>
                <a:ea typeface="+mn-ea"/>
                <a:cs typeface="+mn-cs"/>
              </a:rPr>
              <a:t>What are the five </a:t>
            </a:r>
            <a:r>
              <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mn-cs"/>
              </a:rPr>
              <a:t>elements</a:t>
            </a:r>
            <a:r>
              <a:rPr kumimoji="0" lang="en-US" sz="2400" b="1" i="0" u="none" strike="noStrike" kern="1200" cap="none" spc="0" normalizeH="0" baseline="0" noProof="0" dirty="0">
                <a:ln>
                  <a:noFill/>
                </a:ln>
                <a:solidFill>
                  <a:srgbClr val="00B050"/>
                </a:solidFill>
                <a:effectLst/>
                <a:uLnTx/>
                <a:uFillTx/>
                <a:latin typeface="Calibri" panose="020F0502020204030204"/>
                <a:ea typeface="+mn-ea"/>
                <a:cs typeface="+mn-cs"/>
              </a:rPr>
              <a:t> of UX design?</a:t>
            </a:r>
          </a:p>
        </p:txBody>
      </p:sp>
      <p:sp>
        <p:nvSpPr>
          <p:cNvPr id="6" name="TextBox 5">
            <a:extLst>
              <a:ext uri="{FF2B5EF4-FFF2-40B4-BE49-F238E27FC236}">
                <a16:creationId xmlns:a16="http://schemas.microsoft.com/office/drawing/2014/main" id="{F9281D07-4667-C585-A708-BF4329F5EFC0}"/>
              </a:ext>
            </a:extLst>
          </p:cNvPr>
          <p:cNvSpPr txBox="1"/>
          <p:nvPr/>
        </p:nvSpPr>
        <p:spPr>
          <a:xfrm>
            <a:off x="340496" y="1155092"/>
            <a:ext cx="6096000" cy="45243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C3399"/>
                </a:solidFill>
                <a:effectLst/>
                <a:uLnTx/>
                <a:uFillTx/>
                <a:latin typeface="Calibri" panose="020F0502020204030204"/>
                <a:ea typeface="+mn-ea"/>
                <a:cs typeface="+mn-cs"/>
              </a:rPr>
              <a:t>4. Skeleton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This is the fourth layer. The designer </a:t>
            </a:r>
            <a:r>
              <a:rPr kumimoji="0" lang="en-US" sz="2400" b="0" i="0" u="none" strike="noStrike" kern="1200" cap="none" spc="0" normalizeH="0" baseline="0" noProof="0" dirty="0">
                <a:ln>
                  <a:noFill/>
                </a:ln>
                <a:solidFill>
                  <a:srgbClr val="0070C0"/>
                </a:solidFill>
                <a:effectLst/>
                <a:uLnTx/>
                <a:uFillTx/>
                <a:latin typeface="Calibri" panose="020F0502020204030204"/>
                <a:ea typeface="+mn-ea"/>
                <a:cs typeface="+mn-cs"/>
              </a:rPr>
              <a:t>puts together the previous pieces to determine the visual form of the design.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Here, the designer </a:t>
            </a:r>
            <a:r>
              <a:rPr kumimoji="0" lang="en-US" sz="2400" b="0" i="0" u="none" strike="noStrike" kern="1200" cap="none" spc="0" normalizeH="0" baseline="0" noProof="0" dirty="0">
                <a:ln>
                  <a:noFill/>
                </a:ln>
                <a:solidFill>
                  <a:srgbClr val="0070C0"/>
                </a:solidFill>
                <a:effectLst/>
                <a:uLnTx/>
                <a:uFillTx/>
                <a:latin typeface="Calibri" panose="020F0502020204030204"/>
                <a:ea typeface="+mn-ea"/>
                <a:cs typeface="+mn-cs"/>
              </a:rPr>
              <a:t>decides the flow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of information and movement from one screen to the next.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designer makes sure that </a:t>
            </a:r>
            <a:r>
              <a:rPr kumimoji="0" lang="en-US" sz="2400" b="0" i="0" u="none" strike="noStrike" kern="1200" cap="none" spc="0" normalizeH="0" baseline="0" noProof="0" dirty="0">
                <a:ln>
                  <a:noFill/>
                </a:ln>
                <a:solidFill>
                  <a:srgbClr val="0070C0"/>
                </a:solidFill>
                <a:effectLst/>
                <a:uLnTx/>
                <a:uFillTx/>
                <a:latin typeface="Calibri" panose="020F0502020204030204"/>
                <a:ea typeface="+mn-ea"/>
                <a:cs typeface="+mn-cs"/>
              </a:rPr>
              <a:t>navigation is smooth</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and the </a:t>
            </a:r>
            <a:r>
              <a:rPr kumimoji="0" lang="en-US" sz="2400" b="0" i="0" u="none" strike="noStrike" kern="1200" cap="none" spc="0" normalizeH="0" baseline="0" noProof="0" dirty="0">
                <a:ln>
                  <a:noFill/>
                </a:ln>
                <a:solidFill>
                  <a:srgbClr val="0070C0"/>
                </a:solidFill>
                <a:effectLst/>
                <a:uLnTx/>
                <a:uFillTx/>
                <a:latin typeface="Calibri" panose="020F0502020204030204"/>
                <a:ea typeface="+mn-ea"/>
                <a:cs typeface="+mn-cs"/>
              </a:rPr>
              <a:t>presentation of information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facilitates user understanding.</a:t>
            </a:r>
          </a:p>
        </p:txBody>
      </p:sp>
      <p:sp>
        <p:nvSpPr>
          <p:cNvPr id="8" name="TextBox 7">
            <a:extLst>
              <a:ext uri="{FF2B5EF4-FFF2-40B4-BE49-F238E27FC236}">
                <a16:creationId xmlns:a16="http://schemas.microsoft.com/office/drawing/2014/main" id="{65746ED0-82A6-869E-A053-547FBFCD0BB1}"/>
              </a:ext>
            </a:extLst>
          </p:cNvPr>
          <p:cNvSpPr txBox="1"/>
          <p:nvPr/>
        </p:nvSpPr>
        <p:spPr>
          <a:xfrm>
            <a:off x="6814151" y="6578284"/>
            <a:ext cx="609600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200" b="0" i="0"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Source: https://www.educative.io/answers/what-are-the-five-elements-of-ux-design</a:t>
            </a:r>
          </a:p>
        </p:txBody>
      </p:sp>
      <p:pic>
        <p:nvPicPr>
          <p:cNvPr id="9" name="Picture 8">
            <a:extLst>
              <a:ext uri="{FF2B5EF4-FFF2-40B4-BE49-F238E27FC236}">
                <a16:creationId xmlns:a16="http://schemas.microsoft.com/office/drawing/2014/main" id="{4D2CF3DC-A777-18DE-5386-CC53FED845B1}"/>
              </a:ext>
            </a:extLst>
          </p:cNvPr>
          <p:cNvPicPr>
            <a:picLocks noChangeAspect="1"/>
          </p:cNvPicPr>
          <p:nvPr/>
        </p:nvPicPr>
        <p:blipFill>
          <a:blip r:embed="rId3"/>
          <a:stretch>
            <a:fillRect/>
          </a:stretch>
        </p:blipFill>
        <p:spPr>
          <a:xfrm>
            <a:off x="11236036" y="0"/>
            <a:ext cx="954440" cy="832397"/>
          </a:xfrm>
          <a:prstGeom prst="rect">
            <a:avLst/>
          </a:prstGeom>
        </p:spPr>
      </p:pic>
    </p:spTree>
    <p:extLst>
      <p:ext uri="{BB962C8B-B14F-4D97-AF65-F5344CB8AC3E}">
        <p14:creationId xmlns:p14="http://schemas.microsoft.com/office/powerpoint/2010/main" val="3532963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EF68F1-829A-E47A-23CD-089FB3C271C3}"/>
              </a:ext>
            </a:extLst>
          </p:cNvPr>
          <p:cNvSpPr txBox="1"/>
          <p:nvPr/>
        </p:nvSpPr>
        <p:spPr>
          <a:xfrm>
            <a:off x="0" y="1552863"/>
            <a:ext cx="11830259"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4800" b="0" i="1" u="none" strike="noStrike" kern="1200" cap="none" spc="0" normalizeH="0" baseline="0" noProof="0" dirty="0">
                <a:ln>
                  <a:noFill/>
                </a:ln>
                <a:solidFill>
                  <a:srgbClr val="002060"/>
                </a:solidFill>
                <a:effectLst/>
                <a:uLnTx/>
                <a:uFillTx/>
                <a:latin typeface="Calibri" panose="020F0502020204030204"/>
                <a:ea typeface="+mn-ea"/>
                <a:cs typeface="+mn-cs"/>
              </a:rPr>
              <a:t>Getting started with your POE – PART 2</a:t>
            </a:r>
          </a:p>
        </p:txBody>
      </p:sp>
    </p:spTree>
    <p:extLst>
      <p:ext uri="{BB962C8B-B14F-4D97-AF65-F5344CB8AC3E}">
        <p14:creationId xmlns:p14="http://schemas.microsoft.com/office/powerpoint/2010/main" val="3892161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2EFC50-5170-BEA3-F11B-1CA0454E8CEA}"/>
              </a:ext>
            </a:extLst>
          </p:cNvPr>
          <p:cNvPicPr>
            <a:picLocks noChangeAspect="1"/>
          </p:cNvPicPr>
          <p:nvPr/>
        </p:nvPicPr>
        <p:blipFill>
          <a:blip r:embed="rId2"/>
          <a:stretch>
            <a:fillRect/>
          </a:stretch>
        </p:blipFill>
        <p:spPr>
          <a:xfrm>
            <a:off x="0" y="151064"/>
            <a:ext cx="12192000" cy="820090"/>
          </a:xfrm>
          <a:prstGeom prst="rect">
            <a:avLst/>
          </a:prstGeom>
        </p:spPr>
      </p:pic>
      <p:pic>
        <p:nvPicPr>
          <p:cNvPr id="3" name="Picture 2">
            <a:extLst>
              <a:ext uri="{FF2B5EF4-FFF2-40B4-BE49-F238E27FC236}">
                <a16:creationId xmlns:a16="http://schemas.microsoft.com/office/drawing/2014/main" id="{7BF59B01-B46F-6518-8897-5ECFF3EC5242}"/>
              </a:ext>
            </a:extLst>
          </p:cNvPr>
          <p:cNvPicPr>
            <a:picLocks noChangeAspect="1"/>
          </p:cNvPicPr>
          <p:nvPr/>
        </p:nvPicPr>
        <p:blipFill>
          <a:blip r:embed="rId3"/>
          <a:stretch>
            <a:fillRect/>
          </a:stretch>
        </p:blipFill>
        <p:spPr>
          <a:xfrm>
            <a:off x="0" y="874172"/>
            <a:ext cx="12192000" cy="1898156"/>
          </a:xfrm>
          <a:prstGeom prst="rect">
            <a:avLst/>
          </a:prstGeom>
        </p:spPr>
      </p:pic>
    </p:spTree>
    <p:extLst>
      <p:ext uri="{BB962C8B-B14F-4D97-AF65-F5344CB8AC3E}">
        <p14:creationId xmlns:p14="http://schemas.microsoft.com/office/powerpoint/2010/main" val="399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2D7FD4-C9C6-FDB7-C372-045515D413C1}"/>
              </a:ext>
            </a:extLst>
          </p:cNvPr>
          <p:cNvPicPr>
            <a:picLocks noChangeAspect="1"/>
          </p:cNvPicPr>
          <p:nvPr/>
        </p:nvPicPr>
        <p:blipFill>
          <a:blip r:embed="rId2"/>
          <a:stretch>
            <a:fillRect/>
          </a:stretch>
        </p:blipFill>
        <p:spPr>
          <a:xfrm>
            <a:off x="1259514" y="247987"/>
            <a:ext cx="9672972" cy="5269173"/>
          </a:xfrm>
          <a:prstGeom prst="rect">
            <a:avLst/>
          </a:prstGeom>
        </p:spPr>
      </p:pic>
    </p:spTree>
    <p:extLst>
      <p:ext uri="{BB962C8B-B14F-4D97-AF65-F5344CB8AC3E}">
        <p14:creationId xmlns:p14="http://schemas.microsoft.com/office/powerpoint/2010/main" val="1380611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15CCAB-CBA3-500B-C8B3-585EE7A52C8A}"/>
              </a:ext>
            </a:extLst>
          </p:cNvPr>
          <p:cNvPicPr>
            <a:picLocks noChangeAspect="1"/>
          </p:cNvPicPr>
          <p:nvPr/>
        </p:nvPicPr>
        <p:blipFill>
          <a:blip r:embed="rId2"/>
          <a:stretch>
            <a:fillRect/>
          </a:stretch>
        </p:blipFill>
        <p:spPr>
          <a:xfrm>
            <a:off x="2013681" y="268147"/>
            <a:ext cx="7906174" cy="5320507"/>
          </a:xfrm>
          <a:prstGeom prst="rect">
            <a:avLst/>
          </a:prstGeom>
        </p:spPr>
      </p:pic>
    </p:spTree>
    <p:extLst>
      <p:ext uri="{BB962C8B-B14F-4D97-AF65-F5344CB8AC3E}">
        <p14:creationId xmlns:p14="http://schemas.microsoft.com/office/powerpoint/2010/main" val="3249480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135B8C-A90C-6F9F-CACA-436944715506}"/>
              </a:ext>
            </a:extLst>
          </p:cNvPr>
          <p:cNvPicPr>
            <a:picLocks noChangeAspect="1"/>
          </p:cNvPicPr>
          <p:nvPr/>
        </p:nvPicPr>
        <p:blipFill>
          <a:blip r:embed="rId2"/>
          <a:stretch>
            <a:fillRect/>
          </a:stretch>
        </p:blipFill>
        <p:spPr>
          <a:xfrm>
            <a:off x="1741747" y="164811"/>
            <a:ext cx="8708505" cy="2592243"/>
          </a:xfrm>
          <a:prstGeom prst="rect">
            <a:avLst/>
          </a:prstGeom>
        </p:spPr>
      </p:pic>
    </p:spTree>
    <p:extLst>
      <p:ext uri="{BB962C8B-B14F-4D97-AF65-F5344CB8AC3E}">
        <p14:creationId xmlns:p14="http://schemas.microsoft.com/office/powerpoint/2010/main" val="3432370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A78A04-9F68-8F86-0C6C-E1DE549F36C2}"/>
              </a:ext>
            </a:extLst>
          </p:cNvPr>
          <p:cNvPicPr>
            <a:picLocks noChangeAspect="1"/>
          </p:cNvPicPr>
          <p:nvPr/>
        </p:nvPicPr>
        <p:blipFill>
          <a:blip r:embed="rId2"/>
          <a:stretch>
            <a:fillRect/>
          </a:stretch>
        </p:blipFill>
        <p:spPr>
          <a:xfrm>
            <a:off x="982654" y="166508"/>
            <a:ext cx="10226692" cy="3491092"/>
          </a:xfrm>
          <a:prstGeom prst="rect">
            <a:avLst/>
          </a:prstGeom>
        </p:spPr>
      </p:pic>
    </p:spTree>
    <p:extLst>
      <p:ext uri="{BB962C8B-B14F-4D97-AF65-F5344CB8AC3E}">
        <p14:creationId xmlns:p14="http://schemas.microsoft.com/office/powerpoint/2010/main" val="1782879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7137EB-CFA9-3C07-81BA-C0C1EB963272}"/>
              </a:ext>
            </a:extLst>
          </p:cNvPr>
          <p:cNvPicPr>
            <a:picLocks noChangeAspect="1"/>
          </p:cNvPicPr>
          <p:nvPr/>
        </p:nvPicPr>
        <p:blipFill>
          <a:blip r:embed="rId2"/>
          <a:stretch>
            <a:fillRect/>
          </a:stretch>
        </p:blipFill>
        <p:spPr>
          <a:xfrm>
            <a:off x="1376097" y="166391"/>
            <a:ext cx="9439806" cy="5264053"/>
          </a:xfrm>
          <a:prstGeom prst="rect">
            <a:avLst/>
          </a:prstGeom>
        </p:spPr>
      </p:pic>
      <p:sp>
        <p:nvSpPr>
          <p:cNvPr id="6" name="TextBox 5">
            <a:extLst>
              <a:ext uri="{FF2B5EF4-FFF2-40B4-BE49-F238E27FC236}">
                <a16:creationId xmlns:a16="http://schemas.microsoft.com/office/drawing/2014/main" id="{B4241FE2-70C2-1A4D-CA82-30A8345DDBB6}"/>
              </a:ext>
            </a:extLst>
          </p:cNvPr>
          <p:cNvSpPr txBox="1"/>
          <p:nvPr/>
        </p:nvSpPr>
        <p:spPr>
          <a:xfrm>
            <a:off x="1376097" y="5430444"/>
            <a:ext cx="10815903"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3"/>
              </a:rPr>
              <a:t>https://irp.cdn-website.com/3f7b6868/files/uploaded/PDIIE023+Guidelines+for+Responsible+AI+Use+at+The+IIE+2026.pdf</a:t>
            </a:r>
            <a:endParaRPr kumimoji="0" lang="en-ZA"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8633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C71EE3-DB6E-5902-63F6-39E25BAEE237}"/>
              </a:ext>
            </a:extLst>
          </p:cNvPr>
          <p:cNvPicPr>
            <a:picLocks noChangeAspect="1"/>
          </p:cNvPicPr>
          <p:nvPr/>
        </p:nvPicPr>
        <p:blipFill>
          <a:blip r:embed="rId2"/>
          <a:stretch>
            <a:fillRect/>
          </a:stretch>
        </p:blipFill>
        <p:spPr>
          <a:xfrm>
            <a:off x="533134" y="313864"/>
            <a:ext cx="11125732" cy="4825786"/>
          </a:xfrm>
          <a:prstGeom prst="rect">
            <a:avLst/>
          </a:prstGeom>
        </p:spPr>
      </p:pic>
    </p:spTree>
    <p:extLst>
      <p:ext uri="{BB962C8B-B14F-4D97-AF65-F5344CB8AC3E}">
        <p14:creationId xmlns:p14="http://schemas.microsoft.com/office/powerpoint/2010/main" val="445957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78AFA4-F96D-4EA9-40F7-7CFA92F145F8}"/>
              </a:ext>
            </a:extLst>
          </p:cNvPr>
          <p:cNvPicPr>
            <a:picLocks noChangeAspect="1"/>
          </p:cNvPicPr>
          <p:nvPr/>
        </p:nvPicPr>
        <p:blipFill>
          <a:blip r:embed="rId2"/>
          <a:stretch>
            <a:fillRect/>
          </a:stretch>
        </p:blipFill>
        <p:spPr>
          <a:xfrm>
            <a:off x="1283250" y="242594"/>
            <a:ext cx="9625500" cy="5791058"/>
          </a:xfrm>
          <a:prstGeom prst="rect">
            <a:avLst/>
          </a:prstGeom>
        </p:spPr>
      </p:pic>
    </p:spTree>
    <p:extLst>
      <p:ext uri="{BB962C8B-B14F-4D97-AF65-F5344CB8AC3E}">
        <p14:creationId xmlns:p14="http://schemas.microsoft.com/office/powerpoint/2010/main" val="2193221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8FAA58-C914-2394-90B2-6B33B0300D0E}"/>
              </a:ext>
            </a:extLst>
          </p:cNvPr>
          <p:cNvPicPr>
            <a:picLocks noChangeAspect="1"/>
          </p:cNvPicPr>
          <p:nvPr/>
        </p:nvPicPr>
        <p:blipFill>
          <a:blip r:embed="rId2"/>
          <a:stretch>
            <a:fillRect/>
          </a:stretch>
        </p:blipFill>
        <p:spPr>
          <a:xfrm>
            <a:off x="1209184" y="285576"/>
            <a:ext cx="9515966" cy="3352509"/>
          </a:xfrm>
          <a:prstGeom prst="rect">
            <a:avLst/>
          </a:prstGeom>
        </p:spPr>
      </p:pic>
    </p:spTree>
    <p:extLst>
      <p:ext uri="{BB962C8B-B14F-4D97-AF65-F5344CB8AC3E}">
        <p14:creationId xmlns:p14="http://schemas.microsoft.com/office/powerpoint/2010/main" val="2566495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198AE-F535-5627-3781-9761D99A4B0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2D1FECA-9350-EE22-DC93-180048F7BA74}"/>
              </a:ext>
            </a:extLst>
          </p:cNvPr>
          <p:cNvPicPr>
            <a:picLocks noChangeAspect="1"/>
          </p:cNvPicPr>
          <p:nvPr/>
        </p:nvPicPr>
        <p:blipFill>
          <a:blip r:embed="rId2"/>
          <a:stretch>
            <a:fillRect/>
          </a:stretch>
        </p:blipFill>
        <p:spPr>
          <a:xfrm>
            <a:off x="1371111" y="204720"/>
            <a:ext cx="8780846" cy="1204980"/>
          </a:xfrm>
          <a:prstGeom prst="rect">
            <a:avLst/>
          </a:prstGeom>
        </p:spPr>
      </p:pic>
    </p:spTree>
    <p:extLst>
      <p:ext uri="{BB962C8B-B14F-4D97-AF65-F5344CB8AC3E}">
        <p14:creationId xmlns:p14="http://schemas.microsoft.com/office/powerpoint/2010/main" val="2730818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9F5E7-6C62-A190-FAFC-D81AD36B1D0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6E357F8-A405-E32C-9547-D335B52D82F1}"/>
              </a:ext>
            </a:extLst>
          </p:cNvPr>
          <p:cNvPicPr>
            <a:picLocks noChangeAspect="1"/>
          </p:cNvPicPr>
          <p:nvPr/>
        </p:nvPicPr>
        <p:blipFill>
          <a:blip r:embed="rId2"/>
          <a:stretch>
            <a:fillRect/>
          </a:stretch>
        </p:blipFill>
        <p:spPr>
          <a:xfrm>
            <a:off x="1142518" y="342732"/>
            <a:ext cx="8866898" cy="3086268"/>
          </a:xfrm>
          <a:prstGeom prst="rect">
            <a:avLst/>
          </a:prstGeom>
        </p:spPr>
      </p:pic>
    </p:spTree>
    <p:extLst>
      <p:ext uri="{BB962C8B-B14F-4D97-AF65-F5344CB8AC3E}">
        <p14:creationId xmlns:p14="http://schemas.microsoft.com/office/powerpoint/2010/main" val="3146478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55B8B-151C-D539-31DF-6486B20C96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BF2EA56-1475-6087-225F-1496FB409CA7}"/>
              </a:ext>
            </a:extLst>
          </p:cNvPr>
          <p:cNvPicPr>
            <a:picLocks noChangeAspect="1"/>
          </p:cNvPicPr>
          <p:nvPr/>
        </p:nvPicPr>
        <p:blipFill>
          <a:blip r:embed="rId2"/>
          <a:stretch>
            <a:fillRect/>
          </a:stretch>
        </p:blipFill>
        <p:spPr>
          <a:xfrm>
            <a:off x="1385645" y="228140"/>
            <a:ext cx="7891705" cy="3740452"/>
          </a:xfrm>
          <a:prstGeom prst="rect">
            <a:avLst/>
          </a:prstGeom>
        </p:spPr>
      </p:pic>
      <p:pic>
        <p:nvPicPr>
          <p:cNvPr id="5" name="Picture 4">
            <a:extLst>
              <a:ext uri="{FF2B5EF4-FFF2-40B4-BE49-F238E27FC236}">
                <a16:creationId xmlns:a16="http://schemas.microsoft.com/office/drawing/2014/main" id="{A6316E01-457E-05F9-6795-F342F1BB7DBA}"/>
              </a:ext>
            </a:extLst>
          </p:cNvPr>
          <p:cNvPicPr>
            <a:picLocks noChangeAspect="1"/>
          </p:cNvPicPr>
          <p:nvPr/>
        </p:nvPicPr>
        <p:blipFill>
          <a:blip r:embed="rId3"/>
          <a:stretch>
            <a:fillRect/>
          </a:stretch>
        </p:blipFill>
        <p:spPr>
          <a:xfrm>
            <a:off x="1980756" y="4196732"/>
            <a:ext cx="7296594" cy="2119071"/>
          </a:xfrm>
          <a:prstGeom prst="rect">
            <a:avLst/>
          </a:prstGeom>
        </p:spPr>
      </p:pic>
    </p:spTree>
    <p:extLst>
      <p:ext uri="{BB962C8B-B14F-4D97-AF65-F5344CB8AC3E}">
        <p14:creationId xmlns:p14="http://schemas.microsoft.com/office/powerpoint/2010/main" val="450407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50539-8B9D-F3C7-D7B3-9B1E076AE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63ED495-D4D0-A86E-4A1B-ED9BB79D696F}"/>
              </a:ext>
            </a:extLst>
          </p:cNvPr>
          <p:cNvPicPr>
            <a:picLocks noChangeAspect="1"/>
          </p:cNvPicPr>
          <p:nvPr/>
        </p:nvPicPr>
        <p:blipFill>
          <a:blip r:embed="rId2"/>
          <a:stretch>
            <a:fillRect/>
          </a:stretch>
        </p:blipFill>
        <p:spPr>
          <a:xfrm>
            <a:off x="2152168" y="561782"/>
            <a:ext cx="8515832" cy="3411038"/>
          </a:xfrm>
          <a:prstGeom prst="rect">
            <a:avLst/>
          </a:prstGeom>
        </p:spPr>
      </p:pic>
    </p:spTree>
    <p:extLst>
      <p:ext uri="{BB962C8B-B14F-4D97-AF65-F5344CB8AC3E}">
        <p14:creationId xmlns:p14="http://schemas.microsoft.com/office/powerpoint/2010/main" val="1862762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45125-3025-4793-4EE9-673A1BA6A25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B85712E-EC8F-4EDC-B562-94B33328FC57}"/>
              </a:ext>
            </a:extLst>
          </p:cNvPr>
          <p:cNvPicPr>
            <a:picLocks noChangeAspect="1"/>
          </p:cNvPicPr>
          <p:nvPr/>
        </p:nvPicPr>
        <p:blipFill>
          <a:blip r:embed="rId2"/>
          <a:stretch>
            <a:fillRect/>
          </a:stretch>
        </p:blipFill>
        <p:spPr>
          <a:xfrm>
            <a:off x="492537" y="199728"/>
            <a:ext cx="11206925" cy="5839122"/>
          </a:xfrm>
          <a:prstGeom prst="rect">
            <a:avLst/>
          </a:prstGeom>
        </p:spPr>
      </p:pic>
    </p:spTree>
    <p:extLst>
      <p:ext uri="{BB962C8B-B14F-4D97-AF65-F5344CB8AC3E}">
        <p14:creationId xmlns:p14="http://schemas.microsoft.com/office/powerpoint/2010/main" val="1525361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DBFD9-ACC4-1998-A630-3BC25709DB5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3E723F6-BE85-75CA-43BD-8DC09BDB84C8}"/>
              </a:ext>
            </a:extLst>
          </p:cNvPr>
          <p:cNvPicPr>
            <a:picLocks noChangeAspect="1"/>
          </p:cNvPicPr>
          <p:nvPr/>
        </p:nvPicPr>
        <p:blipFill>
          <a:blip r:embed="rId2"/>
          <a:stretch>
            <a:fillRect/>
          </a:stretch>
        </p:blipFill>
        <p:spPr>
          <a:xfrm>
            <a:off x="733145" y="275130"/>
            <a:ext cx="10725709" cy="6307739"/>
          </a:xfrm>
          <a:prstGeom prst="rect">
            <a:avLst/>
          </a:prstGeom>
        </p:spPr>
      </p:pic>
    </p:spTree>
    <p:extLst>
      <p:ext uri="{BB962C8B-B14F-4D97-AF65-F5344CB8AC3E}">
        <p14:creationId xmlns:p14="http://schemas.microsoft.com/office/powerpoint/2010/main" val="2185452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50D88F-8C25-1589-4E66-83CBDDBB519B}"/>
              </a:ext>
            </a:extLst>
          </p:cNvPr>
          <p:cNvPicPr>
            <a:picLocks noChangeAspect="1"/>
          </p:cNvPicPr>
          <p:nvPr/>
        </p:nvPicPr>
        <p:blipFill>
          <a:blip r:embed="rId2"/>
          <a:stretch>
            <a:fillRect/>
          </a:stretch>
        </p:blipFill>
        <p:spPr>
          <a:xfrm>
            <a:off x="730112" y="531355"/>
            <a:ext cx="10585588" cy="3245216"/>
          </a:xfrm>
          <a:prstGeom prst="rect">
            <a:avLst/>
          </a:prstGeom>
        </p:spPr>
      </p:pic>
    </p:spTree>
    <p:extLst>
      <p:ext uri="{BB962C8B-B14F-4D97-AF65-F5344CB8AC3E}">
        <p14:creationId xmlns:p14="http://schemas.microsoft.com/office/powerpoint/2010/main" val="266787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08C5F3-8736-3357-9E22-39B1164BEAA7}"/>
              </a:ext>
            </a:extLst>
          </p:cNvPr>
          <p:cNvPicPr>
            <a:picLocks noChangeAspect="1"/>
          </p:cNvPicPr>
          <p:nvPr/>
        </p:nvPicPr>
        <p:blipFill>
          <a:blip r:embed="rId2"/>
          <a:stretch>
            <a:fillRect/>
          </a:stretch>
        </p:blipFill>
        <p:spPr>
          <a:xfrm>
            <a:off x="393855" y="249816"/>
            <a:ext cx="10882143" cy="4155930"/>
          </a:xfrm>
          <a:prstGeom prst="rect">
            <a:avLst/>
          </a:prstGeom>
        </p:spPr>
      </p:pic>
    </p:spTree>
    <p:extLst>
      <p:ext uri="{BB962C8B-B14F-4D97-AF65-F5344CB8AC3E}">
        <p14:creationId xmlns:p14="http://schemas.microsoft.com/office/powerpoint/2010/main" val="2200117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284BF-62AB-AEF4-CA44-86847B40CEC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9085CE7-C0F5-54EB-55EF-AAB15CA8A545}"/>
              </a:ext>
            </a:extLst>
          </p:cNvPr>
          <p:cNvPicPr>
            <a:picLocks noChangeAspect="1"/>
          </p:cNvPicPr>
          <p:nvPr/>
        </p:nvPicPr>
        <p:blipFill>
          <a:blip r:embed="rId2"/>
          <a:stretch>
            <a:fillRect/>
          </a:stretch>
        </p:blipFill>
        <p:spPr>
          <a:xfrm>
            <a:off x="216600" y="189370"/>
            <a:ext cx="11454809" cy="4077830"/>
          </a:xfrm>
          <a:prstGeom prst="rect">
            <a:avLst/>
          </a:prstGeom>
        </p:spPr>
      </p:pic>
    </p:spTree>
    <p:extLst>
      <p:ext uri="{BB962C8B-B14F-4D97-AF65-F5344CB8AC3E}">
        <p14:creationId xmlns:p14="http://schemas.microsoft.com/office/powerpoint/2010/main" val="1545830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AC0918-91DF-A060-1EAB-8382185A8802}"/>
              </a:ext>
            </a:extLst>
          </p:cNvPr>
          <p:cNvPicPr>
            <a:picLocks noChangeAspect="1"/>
          </p:cNvPicPr>
          <p:nvPr/>
        </p:nvPicPr>
        <p:blipFill>
          <a:blip r:embed="rId2"/>
          <a:stretch>
            <a:fillRect/>
          </a:stretch>
        </p:blipFill>
        <p:spPr>
          <a:xfrm>
            <a:off x="246653" y="206246"/>
            <a:ext cx="10975529" cy="5299872"/>
          </a:xfrm>
          <a:prstGeom prst="rect">
            <a:avLst/>
          </a:prstGeom>
        </p:spPr>
      </p:pic>
    </p:spTree>
    <p:extLst>
      <p:ext uri="{BB962C8B-B14F-4D97-AF65-F5344CB8AC3E}">
        <p14:creationId xmlns:p14="http://schemas.microsoft.com/office/powerpoint/2010/main" val="16086876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717865-E964-AE83-6879-EA3399D8B1A0}"/>
              </a:ext>
            </a:extLst>
          </p:cNvPr>
          <p:cNvPicPr>
            <a:picLocks noChangeAspect="1"/>
          </p:cNvPicPr>
          <p:nvPr/>
        </p:nvPicPr>
        <p:blipFill>
          <a:blip r:embed="rId2"/>
          <a:stretch>
            <a:fillRect/>
          </a:stretch>
        </p:blipFill>
        <p:spPr>
          <a:xfrm>
            <a:off x="156158" y="179058"/>
            <a:ext cx="11879683" cy="2938214"/>
          </a:xfrm>
          <a:prstGeom prst="rect">
            <a:avLst/>
          </a:prstGeom>
        </p:spPr>
      </p:pic>
    </p:spTree>
    <p:extLst>
      <p:ext uri="{BB962C8B-B14F-4D97-AF65-F5344CB8AC3E}">
        <p14:creationId xmlns:p14="http://schemas.microsoft.com/office/powerpoint/2010/main" val="3429448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710CE939-BAAB-E80D-B5FE-35C18F35169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5" name="TextBox 4">
            <a:extLst>
              <a:ext uri="{FF2B5EF4-FFF2-40B4-BE49-F238E27FC236}">
                <a16:creationId xmlns:a16="http://schemas.microsoft.com/office/drawing/2014/main" id="{249D8632-2C96-5265-7E35-C4178812797E}"/>
              </a:ext>
            </a:extLst>
          </p:cNvPr>
          <p:cNvSpPr txBox="1"/>
          <p:nvPr/>
        </p:nvSpPr>
        <p:spPr>
          <a:xfrm>
            <a:off x="9190719" y="6225524"/>
            <a:ext cx="3001281" cy="646331"/>
          </a:xfrm>
          <a:prstGeom prst="rect">
            <a:avLst/>
          </a:prstGeom>
          <a:noFill/>
        </p:spPr>
        <p:txBody>
          <a:bodyPr wrap="square">
            <a:spAutoFit/>
          </a:bodyPr>
          <a:lstStyle/>
          <a:p>
            <a:r>
              <a:rPr lang="en-ZA" sz="1200" dirty="0">
                <a:solidFill>
                  <a:schemeClr val="bg1">
                    <a:lumMod val="65000"/>
                  </a:schemeClr>
                </a:solidFill>
              </a:rPr>
              <a:t>Resource: https://www.oneupweb.com/blog/sitemaps-101-introduction-sitemapping-website/</a:t>
            </a:r>
          </a:p>
        </p:txBody>
      </p:sp>
      <p:pic>
        <p:nvPicPr>
          <p:cNvPr id="2050" name="Picture 2" descr="Sitemap anatomy chart with homepage, primary navigation, tertiary pages, CTA items, special file types, and external links">
            <a:extLst>
              <a:ext uri="{FF2B5EF4-FFF2-40B4-BE49-F238E27FC236}">
                <a16:creationId xmlns:a16="http://schemas.microsoft.com/office/drawing/2014/main" id="{4AC3757F-67B9-3FAE-7854-530D71E493A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28" b="66667"/>
          <a:stretch/>
        </p:blipFill>
        <p:spPr bwMode="auto">
          <a:xfrm>
            <a:off x="0" y="13855"/>
            <a:ext cx="4599709" cy="34923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 name="Picture 2" descr="Sitemap anatomy chart with homepage, primary navigation, tertiary pages, CTA items, special file types, and external links">
            <a:extLst>
              <a:ext uri="{FF2B5EF4-FFF2-40B4-BE49-F238E27FC236}">
                <a16:creationId xmlns:a16="http://schemas.microsoft.com/office/drawing/2014/main" id="{CBDE63BE-30CE-BD40-A797-640101A32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604" b="37724"/>
          <a:stretch/>
        </p:blipFill>
        <p:spPr bwMode="auto">
          <a:xfrm>
            <a:off x="2631103" y="3290455"/>
            <a:ext cx="5182861" cy="35814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 name="Picture 2" descr="Sitemap anatomy chart with homepage, primary navigation, tertiary pages, CTA items, special file types, and external links">
            <a:extLst>
              <a:ext uri="{FF2B5EF4-FFF2-40B4-BE49-F238E27FC236}">
                <a16:creationId xmlns:a16="http://schemas.microsoft.com/office/drawing/2014/main" id="{2B178B51-2E2D-8427-EC0F-7A65A6C36D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3737" b="1014"/>
          <a:stretch/>
        </p:blipFill>
        <p:spPr bwMode="auto">
          <a:xfrm>
            <a:off x="7587136" y="13854"/>
            <a:ext cx="4603275" cy="405179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7" name="Arrow: Bent 6">
            <a:extLst>
              <a:ext uri="{FF2B5EF4-FFF2-40B4-BE49-F238E27FC236}">
                <a16:creationId xmlns:a16="http://schemas.microsoft.com/office/drawing/2014/main" id="{368FF8CA-621F-9E4D-93FA-8E0829304BB8}"/>
              </a:ext>
            </a:extLst>
          </p:cNvPr>
          <p:cNvSpPr/>
          <p:nvPr/>
        </p:nvSpPr>
        <p:spPr>
          <a:xfrm rot="10800000" flipH="1">
            <a:off x="1088093" y="4029632"/>
            <a:ext cx="1163782" cy="1254498"/>
          </a:xfrm>
          <a:prstGeom prst="bentArrow">
            <a:avLst/>
          </a:prstGeom>
          <a:solidFill>
            <a:srgbClr val="006A82"/>
          </a:solidFill>
          <a:ln>
            <a:solidFill>
              <a:srgbClr val="006A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solidFill>
                <a:schemeClr val="tx1"/>
              </a:solidFill>
            </a:endParaRPr>
          </a:p>
        </p:txBody>
      </p:sp>
      <p:sp>
        <p:nvSpPr>
          <p:cNvPr id="8" name="Arrow: Bent 7">
            <a:extLst>
              <a:ext uri="{FF2B5EF4-FFF2-40B4-BE49-F238E27FC236}">
                <a16:creationId xmlns:a16="http://schemas.microsoft.com/office/drawing/2014/main" id="{A2147BD4-4A09-CE7B-729E-7D3C0D0C9DAB}"/>
              </a:ext>
            </a:extLst>
          </p:cNvPr>
          <p:cNvSpPr/>
          <p:nvPr/>
        </p:nvSpPr>
        <p:spPr>
          <a:xfrm rot="5400000" flipH="1">
            <a:off x="8165798" y="4259611"/>
            <a:ext cx="1163782" cy="1254498"/>
          </a:xfrm>
          <a:prstGeom prst="bentArrow">
            <a:avLst/>
          </a:prstGeom>
          <a:solidFill>
            <a:srgbClr val="006A82"/>
          </a:solidFill>
          <a:ln>
            <a:solidFill>
              <a:srgbClr val="006A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solidFill>
                <a:schemeClr val="tx1"/>
              </a:solidFill>
            </a:endParaRPr>
          </a:p>
        </p:txBody>
      </p:sp>
      <p:sp>
        <p:nvSpPr>
          <p:cNvPr id="9" name="TextBox 8">
            <a:extLst>
              <a:ext uri="{FF2B5EF4-FFF2-40B4-BE49-F238E27FC236}">
                <a16:creationId xmlns:a16="http://schemas.microsoft.com/office/drawing/2014/main" id="{54893F64-8462-2ED9-B736-493C248D77E9}"/>
              </a:ext>
            </a:extLst>
          </p:cNvPr>
          <p:cNvSpPr txBox="1"/>
          <p:nvPr/>
        </p:nvSpPr>
        <p:spPr>
          <a:xfrm>
            <a:off x="5403769" y="114915"/>
            <a:ext cx="2313213" cy="2031325"/>
          </a:xfrm>
          <a:prstGeom prst="rect">
            <a:avLst/>
          </a:prstGeom>
          <a:noFill/>
        </p:spPr>
        <p:txBody>
          <a:bodyPr wrap="square">
            <a:spAutoFit/>
          </a:bodyPr>
          <a:lstStyle/>
          <a:p>
            <a:r>
              <a:rPr lang="en-US" sz="1400" dirty="0">
                <a:solidFill>
                  <a:srgbClr val="202124"/>
                </a:solidFill>
              </a:rPr>
              <a:t>A</a:t>
            </a:r>
            <a:r>
              <a:rPr lang="en-US" sz="1400" i="0" dirty="0">
                <a:solidFill>
                  <a:srgbClr val="202124"/>
                </a:solidFill>
                <a:effectLst/>
              </a:rPr>
              <a:t> </a:t>
            </a:r>
            <a:r>
              <a:rPr lang="en-US" sz="1400" b="1" dirty="0">
                <a:solidFill>
                  <a:srgbClr val="FF0000"/>
                </a:solidFill>
              </a:rPr>
              <a:t>C</a:t>
            </a:r>
            <a:r>
              <a:rPr lang="en-US" sz="1400" b="1" i="0" dirty="0">
                <a:solidFill>
                  <a:srgbClr val="FF0000"/>
                </a:solidFill>
                <a:effectLst/>
              </a:rPr>
              <a:t>all </a:t>
            </a:r>
            <a:r>
              <a:rPr lang="en-US" sz="1400" b="1" dirty="0">
                <a:solidFill>
                  <a:srgbClr val="FF0000"/>
                </a:solidFill>
              </a:rPr>
              <a:t>T</a:t>
            </a:r>
            <a:r>
              <a:rPr lang="en-US" sz="1400" b="1" i="0" dirty="0">
                <a:solidFill>
                  <a:srgbClr val="FF0000"/>
                </a:solidFill>
                <a:effectLst/>
              </a:rPr>
              <a:t>o </a:t>
            </a:r>
            <a:r>
              <a:rPr lang="en-US" sz="1400" b="1" dirty="0">
                <a:solidFill>
                  <a:srgbClr val="FF0000"/>
                </a:solidFill>
              </a:rPr>
              <a:t>A</a:t>
            </a:r>
            <a:r>
              <a:rPr lang="en-US" sz="1400" b="1" i="0" dirty="0">
                <a:solidFill>
                  <a:srgbClr val="FF0000"/>
                </a:solidFill>
                <a:effectLst/>
              </a:rPr>
              <a:t>ction </a:t>
            </a:r>
            <a:r>
              <a:rPr lang="en-US" sz="1400" i="0" dirty="0">
                <a:solidFill>
                  <a:srgbClr val="202124"/>
                </a:solidFill>
                <a:effectLst/>
              </a:rPr>
              <a:t>or </a:t>
            </a:r>
            <a:r>
              <a:rPr lang="en-US" sz="1400" b="1" i="0" dirty="0">
                <a:solidFill>
                  <a:srgbClr val="FF0000"/>
                </a:solidFill>
                <a:effectLst/>
              </a:rPr>
              <a:t>CTA</a:t>
            </a:r>
            <a:r>
              <a:rPr lang="en-US" sz="1400" i="0" dirty="0">
                <a:solidFill>
                  <a:srgbClr val="202124"/>
                </a:solidFill>
                <a:effectLst/>
              </a:rPr>
              <a:t> is a prompt that tells your audience to take some specified action. </a:t>
            </a:r>
          </a:p>
          <a:p>
            <a:r>
              <a:rPr lang="en-US" sz="1400" i="0" dirty="0">
                <a:solidFill>
                  <a:srgbClr val="202124"/>
                </a:solidFill>
                <a:effectLst/>
              </a:rPr>
              <a:t>It can be a command or action phrase, such as </a:t>
            </a:r>
            <a:r>
              <a:rPr lang="en-US" sz="1400" b="1" i="0" dirty="0">
                <a:solidFill>
                  <a:srgbClr val="0070C0"/>
                </a:solidFill>
                <a:effectLst/>
              </a:rPr>
              <a:t>'Sign Up</a:t>
            </a:r>
            <a:r>
              <a:rPr lang="en-US" sz="1400" i="0" dirty="0">
                <a:solidFill>
                  <a:srgbClr val="202124"/>
                </a:solidFill>
                <a:effectLst/>
              </a:rPr>
              <a:t>' or </a:t>
            </a:r>
            <a:r>
              <a:rPr lang="en-US" sz="1400" b="1" i="0" dirty="0">
                <a:solidFill>
                  <a:srgbClr val="0070C0"/>
                </a:solidFill>
                <a:effectLst/>
              </a:rPr>
              <a:t>'Buy Now</a:t>
            </a:r>
            <a:r>
              <a:rPr lang="en-US" sz="1400" i="0" dirty="0">
                <a:solidFill>
                  <a:srgbClr val="202124"/>
                </a:solidFill>
                <a:effectLst/>
              </a:rPr>
              <a:t>' and takes the form of a </a:t>
            </a:r>
            <a:r>
              <a:rPr lang="en-US" sz="1400" b="1" i="0" dirty="0">
                <a:solidFill>
                  <a:srgbClr val="00B050"/>
                </a:solidFill>
                <a:effectLst/>
              </a:rPr>
              <a:t>button </a:t>
            </a:r>
            <a:r>
              <a:rPr lang="en-US" sz="1400" i="0" dirty="0">
                <a:solidFill>
                  <a:srgbClr val="202124"/>
                </a:solidFill>
                <a:effectLst/>
              </a:rPr>
              <a:t>or </a:t>
            </a:r>
            <a:r>
              <a:rPr lang="en-US" sz="1400" b="1" i="0" dirty="0">
                <a:solidFill>
                  <a:srgbClr val="00B050"/>
                </a:solidFill>
                <a:effectLst/>
              </a:rPr>
              <a:t>hyperlink</a:t>
            </a:r>
            <a:r>
              <a:rPr lang="en-US" sz="1400" i="0" dirty="0">
                <a:solidFill>
                  <a:srgbClr val="202124"/>
                </a:solidFill>
                <a:effectLst/>
              </a:rPr>
              <a:t>.</a:t>
            </a:r>
            <a:endParaRPr lang="en-ZA" sz="1400" dirty="0"/>
          </a:p>
        </p:txBody>
      </p:sp>
    </p:spTree>
    <p:extLst>
      <p:ext uri="{BB962C8B-B14F-4D97-AF65-F5344CB8AC3E}">
        <p14:creationId xmlns:p14="http://schemas.microsoft.com/office/powerpoint/2010/main" val="2935097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710CE939-BAAB-E80D-B5FE-35C18F35169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1026" name="Picture 2" descr="Website sitemap example showing homepage, primary navigation items, secondary items, tertiary items, and a CTA tab">
            <a:extLst>
              <a:ext uri="{FF2B5EF4-FFF2-40B4-BE49-F238E27FC236}">
                <a16:creationId xmlns:a16="http://schemas.microsoft.com/office/drawing/2014/main" id="{1E9141F6-6C34-7C48-1AEB-367108985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991" y="128845"/>
            <a:ext cx="11409218" cy="58383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49D8632-2C96-5265-7E35-C4178812797E}"/>
              </a:ext>
            </a:extLst>
          </p:cNvPr>
          <p:cNvSpPr txBox="1"/>
          <p:nvPr/>
        </p:nvSpPr>
        <p:spPr>
          <a:xfrm>
            <a:off x="6096000" y="6581001"/>
            <a:ext cx="6096000" cy="276999"/>
          </a:xfrm>
          <a:prstGeom prst="rect">
            <a:avLst/>
          </a:prstGeom>
          <a:noFill/>
        </p:spPr>
        <p:txBody>
          <a:bodyPr wrap="square">
            <a:spAutoFit/>
          </a:bodyPr>
          <a:lstStyle/>
          <a:p>
            <a:r>
              <a:rPr lang="en-ZA" sz="1200" dirty="0">
                <a:solidFill>
                  <a:schemeClr val="bg1">
                    <a:lumMod val="65000"/>
                  </a:schemeClr>
                </a:solidFill>
              </a:rPr>
              <a:t>Resource: https://www.oneupweb.com/blog/sitemaps-101-introduction-sitemapping-website/</a:t>
            </a:r>
          </a:p>
        </p:txBody>
      </p:sp>
      <p:pic>
        <p:nvPicPr>
          <p:cNvPr id="3" name="Picture 2">
            <a:extLst>
              <a:ext uri="{FF2B5EF4-FFF2-40B4-BE49-F238E27FC236}">
                <a16:creationId xmlns:a16="http://schemas.microsoft.com/office/drawing/2014/main" id="{1642E79E-C24C-D073-2699-1C554EFFBA38}"/>
              </a:ext>
            </a:extLst>
          </p:cNvPr>
          <p:cNvPicPr>
            <a:picLocks noChangeAspect="1"/>
          </p:cNvPicPr>
          <p:nvPr/>
        </p:nvPicPr>
        <p:blipFill rotWithShape="1">
          <a:blip r:embed="rId3"/>
          <a:srcRect b="7449"/>
          <a:stretch/>
        </p:blipFill>
        <p:spPr>
          <a:xfrm>
            <a:off x="6248400" y="3594498"/>
            <a:ext cx="3408218" cy="2986504"/>
          </a:xfrm>
          <a:prstGeom prst="rect">
            <a:avLst/>
          </a:prstGeom>
        </p:spPr>
      </p:pic>
    </p:spTree>
    <p:extLst>
      <p:ext uri="{BB962C8B-B14F-4D97-AF65-F5344CB8AC3E}">
        <p14:creationId xmlns:p14="http://schemas.microsoft.com/office/powerpoint/2010/main" val="131450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710CE939-BAAB-E80D-B5FE-35C18F35169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5" name="Picture 4" descr="A diagram of a company&#10;&#10;Description automatically generated">
            <a:extLst>
              <a:ext uri="{FF2B5EF4-FFF2-40B4-BE49-F238E27FC236}">
                <a16:creationId xmlns:a16="http://schemas.microsoft.com/office/drawing/2014/main" id="{4C18D7C4-E43D-C028-9CCF-52ED0826A5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2332" y="0"/>
            <a:ext cx="9707336" cy="6858000"/>
          </a:xfrm>
          <a:prstGeom prst="rect">
            <a:avLst/>
          </a:prstGeom>
        </p:spPr>
      </p:pic>
    </p:spTree>
    <p:extLst>
      <p:ext uri="{BB962C8B-B14F-4D97-AF65-F5344CB8AC3E}">
        <p14:creationId xmlns:p14="http://schemas.microsoft.com/office/powerpoint/2010/main" val="3012587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F0209-56C3-116B-665C-9FB9FDBCAF0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F8DFF80-5A9E-8BDE-44AA-ED75DA85411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4" name="Picture 3">
            <a:extLst>
              <a:ext uri="{FF2B5EF4-FFF2-40B4-BE49-F238E27FC236}">
                <a16:creationId xmlns:a16="http://schemas.microsoft.com/office/drawing/2014/main" id="{78E1BBCD-854E-E250-1AB6-E499AD663B37}"/>
              </a:ext>
            </a:extLst>
          </p:cNvPr>
          <p:cNvPicPr>
            <a:picLocks noChangeAspect="1"/>
          </p:cNvPicPr>
          <p:nvPr/>
        </p:nvPicPr>
        <p:blipFill>
          <a:blip r:embed="rId2"/>
          <a:stretch>
            <a:fillRect/>
          </a:stretch>
        </p:blipFill>
        <p:spPr>
          <a:xfrm>
            <a:off x="1688981" y="208612"/>
            <a:ext cx="8181080" cy="1412369"/>
          </a:xfrm>
          <a:prstGeom prst="rect">
            <a:avLst/>
          </a:prstGeom>
        </p:spPr>
      </p:pic>
      <p:pic>
        <p:nvPicPr>
          <p:cNvPr id="6" name="Picture 5">
            <a:extLst>
              <a:ext uri="{FF2B5EF4-FFF2-40B4-BE49-F238E27FC236}">
                <a16:creationId xmlns:a16="http://schemas.microsoft.com/office/drawing/2014/main" id="{B9D37E75-3A36-FE29-9A00-F24051545A88}"/>
              </a:ext>
            </a:extLst>
          </p:cNvPr>
          <p:cNvPicPr>
            <a:picLocks noChangeAspect="1"/>
          </p:cNvPicPr>
          <p:nvPr/>
        </p:nvPicPr>
        <p:blipFill>
          <a:blip r:embed="rId3"/>
          <a:stretch>
            <a:fillRect/>
          </a:stretch>
        </p:blipFill>
        <p:spPr>
          <a:xfrm>
            <a:off x="2191805" y="1620981"/>
            <a:ext cx="7678256" cy="3144983"/>
          </a:xfrm>
          <a:prstGeom prst="rect">
            <a:avLst/>
          </a:prstGeom>
        </p:spPr>
      </p:pic>
    </p:spTree>
    <p:extLst>
      <p:ext uri="{BB962C8B-B14F-4D97-AF65-F5344CB8AC3E}">
        <p14:creationId xmlns:p14="http://schemas.microsoft.com/office/powerpoint/2010/main" val="851068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FDD7C-05C4-CC30-92E9-DBC28A26435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94F5C2A-F6CE-61B9-F842-3EB556D5E82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4" name="Picture 3">
            <a:extLst>
              <a:ext uri="{FF2B5EF4-FFF2-40B4-BE49-F238E27FC236}">
                <a16:creationId xmlns:a16="http://schemas.microsoft.com/office/drawing/2014/main" id="{3AF7F752-B221-881D-AB12-6B6B549BEA58}"/>
              </a:ext>
            </a:extLst>
          </p:cNvPr>
          <p:cNvPicPr>
            <a:picLocks noChangeAspect="1"/>
          </p:cNvPicPr>
          <p:nvPr/>
        </p:nvPicPr>
        <p:blipFill>
          <a:blip r:embed="rId2"/>
          <a:stretch>
            <a:fillRect/>
          </a:stretch>
        </p:blipFill>
        <p:spPr>
          <a:xfrm>
            <a:off x="1651744" y="298900"/>
            <a:ext cx="8102979" cy="5353754"/>
          </a:xfrm>
          <a:prstGeom prst="rect">
            <a:avLst/>
          </a:prstGeom>
        </p:spPr>
      </p:pic>
    </p:spTree>
    <p:extLst>
      <p:ext uri="{BB962C8B-B14F-4D97-AF65-F5344CB8AC3E}">
        <p14:creationId xmlns:p14="http://schemas.microsoft.com/office/powerpoint/2010/main" val="38226719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710CE939-BAAB-E80D-B5FE-35C18F35169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15" name="Picture 14">
            <a:extLst>
              <a:ext uri="{FF2B5EF4-FFF2-40B4-BE49-F238E27FC236}">
                <a16:creationId xmlns:a16="http://schemas.microsoft.com/office/drawing/2014/main" id="{3784D51D-E663-61B8-2AAE-5DD25698C3D0}"/>
              </a:ext>
            </a:extLst>
          </p:cNvPr>
          <p:cNvPicPr>
            <a:picLocks noChangeAspect="1"/>
          </p:cNvPicPr>
          <p:nvPr/>
        </p:nvPicPr>
        <p:blipFill>
          <a:blip r:embed="rId2"/>
          <a:stretch>
            <a:fillRect/>
          </a:stretch>
        </p:blipFill>
        <p:spPr>
          <a:xfrm>
            <a:off x="0" y="-13855"/>
            <a:ext cx="3505200" cy="1614236"/>
          </a:xfrm>
          <a:prstGeom prst="rect">
            <a:avLst/>
          </a:prstGeom>
        </p:spPr>
      </p:pic>
      <p:sp>
        <p:nvSpPr>
          <p:cNvPr id="17" name="TextBox 16">
            <a:extLst>
              <a:ext uri="{FF2B5EF4-FFF2-40B4-BE49-F238E27FC236}">
                <a16:creationId xmlns:a16="http://schemas.microsoft.com/office/drawing/2014/main" id="{1664D3FB-8587-3C49-541C-81BB1982037B}"/>
              </a:ext>
            </a:extLst>
          </p:cNvPr>
          <p:cNvSpPr txBox="1"/>
          <p:nvPr/>
        </p:nvSpPr>
        <p:spPr>
          <a:xfrm>
            <a:off x="193963" y="1735876"/>
            <a:ext cx="11291455" cy="830997"/>
          </a:xfrm>
          <a:prstGeom prst="rect">
            <a:avLst/>
          </a:prstGeom>
          <a:noFill/>
        </p:spPr>
        <p:txBody>
          <a:bodyPr wrap="square">
            <a:spAutoFit/>
          </a:bodyPr>
          <a:lstStyle/>
          <a:p>
            <a:r>
              <a:rPr lang="en-US" sz="2400" dirty="0"/>
              <a:t>A user story </a:t>
            </a:r>
            <a:r>
              <a:rPr lang="en-US" sz="2400" b="1" dirty="0">
                <a:solidFill>
                  <a:srgbClr val="00B050"/>
                </a:solidFill>
              </a:rPr>
              <a:t>describes one possible path a user can take in your site or app</a:t>
            </a:r>
            <a:r>
              <a:rPr lang="en-US" sz="2400" dirty="0"/>
              <a:t>. It should be short, but complete. You will need many user stories to describe your whole design.</a:t>
            </a:r>
            <a:endParaRPr lang="en-ZA" sz="2400" dirty="0"/>
          </a:p>
        </p:txBody>
      </p:sp>
      <p:pic>
        <p:nvPicPr>
          <p:cNvPr id="21" name="Picture 20">
            <a:extLst>
              <a:ext uri="{FF2B5EF4-FFF2-40B4-BE49-F238E27FC236}">
                <a16:creationId xmlns:a16="http://schemas.microsoft.com/office/drawing/2014/main" id="{3E49895F-FD80-68C0-F194-CA60CAC3AEBD}"/>
              </a:ext>
            </a:extLst>
          </p:cNvPr>
          <p:cNvPicPr>
            <a:picLocks noChangeAspect="1"/>
          </p:cNvPicPr>
          <p:nvPr/>
        </p:nvPicPr>
        <p:blipFill>
          <a:blip r:embed="rId3"/>
          <a:stretch>
            <a:fillRect/>
          </a:stretch>
        </p:blipFill>
        <p:spPr>
          <a:xfrm>
            <a:off x="193963" y="2854768"/>
            <a:ext cx="6262165" cy="362989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906603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8EA40-731C-5CE2-E813-AB27513A850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7D2CE9F-1D3A-18C0-00F6-CD0F148C21C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4" name="Picture 3">
            <a:extLst>
              <a:ext uri="{FF2B5EF4-FFF2-40B4-BE49-F238E27FC236}">
                <a16:creationId xmlns:a16="http://schemas.microsoft.com/office/drawing/2014/main" id="{668065D6-CEB6-DBFD-C506-2245C51C2E87}"/>
              </a:ext>
            </a:extLst>
          </p:cNvPr>
          <p:cNvPicPr>
            <a:picLocks noChangeAspect="1"/>
          </p:cNvPicPr>
          <p:nvPr/>
        </p:nvPicPr>
        <p:blipFill>
          <a:blip r:embed="rId2"/>
          <a:stretch>
            <a:fillRect/>
          </a:stretch>
        </p:blipFill>
        <p:spPr>
          <a:xfrm>
            <a:off x="350337" y="310427"/>
            <a:ext cx="8102979" cy="5353754"/>
          </a:xfrm>
          <a:prstGeom prst="rect">
            <a:avLst/>
          </a:prstGeom>
        </p:spPr>
      </p:pic>
      <p:sp>
        <p:nvSpPr>
          <p:cNvPr id="3" name="Oval 2">
            <a:extLst>
              <a:ext uri="{FF2B5EF4-FFF2-40B4-BE49-F238E27FC236}">
                <a16:creationId xmlns:a16="http://schemas.microsoft.com/office/drawing/2014/main" id="{043FAF15-DC10-5791-B8C7-E99D28C48130}"/>
              </a:ext>
            </a:extLst>
          </p:cNvPr>
          <p:cNvSpPr/>
          <p:nvPr/>
        </p:nvSpPr>
        <p:spPr>
          <a:xfrm>
            <a:off x="4904509" y="2988701"/>
            <a:ext cx="1039091" cy="852184"/>
          </a:xfrm>
          <a:prstGeom prst="ellipse">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TextBox 4">
            <a:extLst>
              <a:ext uri="{FF2B5EF4-FFF2-40B4-BE49-F238E27FC236}">
                <a16:creationId xmlns:a16="http://schemas.microsoft.com/office/drawing/2014/main" id="{266E86BE-11F7-E3B0-C57E-98B3DE732CB6}"/>
              </a:ext>
            </a:extLst>
          </p:cNvPr>
          <p:cNvSpPr txBox="1"/>
          <p:nvPr/>
        </p:nvSpPr>
        <p:spPr>
          <a:xfrm>
            <a:off x="5015345" y="3183960"/>
            <a:ext cx="817417" cy="461665"/>
          </a:xfrm>
          <a:prstGeom prst="rect">
            <a:avLst/>
          </a:prstGeom>
          <a:noFill/>
        </p:spPr>
        <p:txBody>
          <a:bodyPr wrap="square" rtlCol="0">
            <a:spAutoFit/>
          </a:bodyPr>
          <a:lstStyle/>
          <a:p>
            <a:r>
              <a:rPr lang="en-ZA" sz="1200" b="1" dirty="0">
                <a:solidFill>
                  <a:srgbClr val="00B050"/>
                </a:solidFill>
              </a:rPr>
              <a:t>Actions</a:t>
            </a:r>
            <a:r>
              <a:rPr lang="en-ZA" sz="1200" b="1" dirty="0"/>
              <a:t> </a:t>
            </a:r>
            <a:r>
              <a:rPr lang="en-ZA" sz="1200" dirty="0"/>
              <a:t>(by user)</a:t>
            </a:r>
          </a:p>
        </p:txBody>
      </p:sp>
      <p:sp>
        <p:nvSpPr>
          <p:cNvPr id="6" name="Rectangle 5">
            <a:extLst>
              <a:ext uri="{FF2B5EF4-FFF2-40B4-BE49-F238E27FC236}">
                <a16:creationId xmlns:a16="http://schemas.microsoft.com/office/drawing/2014/main" id="{F5B863F7-7DF0-925A-D0E4-978262352E40}"/>
              </a:ext>
            </a:extLst>
          </p:cNvPr>
          <p:cNvSpPr/>
          <p:nvPr/>
        </p:nvSpPr>
        <p:spPr>
          <a:xfrm>
            <a:off x="6899369" y="3472569"/>
            <a:ext cx="1548583" cy="6383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TextBox 6">
            <a:extLst>
              <a:ext uri="{FF2B5EF4-FFF2-40B4-BE49-F238E27FC236}">
                <a16:creationId xmlns:a16="http://schemas.microsoft.com/office/drawing/2014/main" id="{74514037-3EF6-671C-790E-3FE5B58E39EE}"/>
              </a:ext>
            </a:extLst>
          </p:cNvPr>
          <p:cNvSpPr txBox="1"/>
          <p:nvPr/>
        </p:nvSpPr>
        <p:spPr>
          <a:xfrm>
            <a:off x="6985626" y="3560909"/>
            <a:ext cx="1811819" cy="461665"/>
          </a:xfrm>
          <a:prstGeom prst="rect">
            <a:avLst/>
          </a:prstGeom>
          <a:noFill/>
        </p:spPr>
        <p:txBody>
          <a:bodyPr wrap="square" rtlCol="0">
            <a:spAutoFit/>
          </a:bodyPr>
          <a:lstStyle/>
          <a:p>
            <a:r>
              <a:rPr lang="en-ZA" sz="1200" b="1" dirty="0">
                <a:solidFill>
                  <a:srgbClr val="00B050"/>
                </a:solidFill>
              </a:rPr>
              <a:t>Displayed on screen </a:t>
            </a:r>
            <a:r>
              <a:rPr lang="en-ZA" sz="1200" dirty="0"/>
              <a:t>(after an action)</a:t>
            </a:r>
          </a:p>
        </p:txBody>
      </p:sp>
      <p:sp>
        <p:nvSpPr>
          <p:cNvPr id="8" name="Flowchart: Decision 7">
            <a:extLst>
              <a:ext uri="{FF2B5EF4-FFF2-40B4-BE49-F238E27FC236}">
                <a16:creationId xmlns:a16="http://schemas.microsoft.com/office/drawing/2014/main" id="{AD484905-CA41-2CC9-38F7-AC3BFE6009E6}"/>
              </a:ext>
            </a:extLst>
          </p:cNvPr>
          <p:cNvSpPr/>
          <p:nvPr/>
        </p:nvSpPr>
        <p:spPr>
          <a:xfrm>
            <a:off x="8522492" y="3899138"/>
            <a:ext cx="720436" cy="789709"/>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TextBox 8">
            <a:extLst>
              <a:ext uri="{FF2B5EF4-FFF2-40B4-BE49-F238E27FC236}">
                <a16:creationId xmlns:a16="http://schemas.microsoft.com/office/drawing/2014/main" id="{35789B63-2B77-9106-3FBD-C0F811EED629}"/>
              </a:ext>
            </a:extLst>
          </p:cNvPr>
          <p:cNvSpPr txBox="1"/>
          <p:nvPr/>
        </p:nvSpPr>
        <p:spPr>
          <a:xfrm>
            <a:off x="8522492" y="4155493"/>
            <a:ext cx="817417" cy="276999"/>
          </a:xfrm>
          <a:prstGeom prst="rect">
            <a:avLst/>
          </a:prstGeom>
          <a:noFill/>
        </p:spPr>
        <p:txBody>
          <a:bodyPr wrap="square" rtlCol="0">
            <a:spAutoFit/>
          </a:bodyPr>
          <a:lstStyle/>
          <a:p>
            <a:r>
              <a:rPr lang="en-ZA" sz="1200" b="1" dirty="0">
                <a:solidFill>
                  <a:srgbClr val="00B050"/>
                </a:solidFill>
              </a:rPr>
              <a:t>Decision</a:t>
            </a:r>
            <a:endParaRPr lang="en-ZA" sz="1200" dirty="0">
              <a:solidFill>
                <a:srgbClr val="00B050"/>
              </a:solidFill>
            </a:endParaRPr>
          </a:p>
        </p:txBody>
      </p:sp>
      <p:sp>
        <p:nvSpPr>
          <p:cNvPr id="10" name="TextBox 9">
            <a:extLst>
              <a:ext uri="{FF2B5EF4-FFF2-40B4-BE49-F238E27FC236}">
                <a16:creationId xmlns:a16="http://schemas.microsoft.com/office/drawing/2014/main" id="{49C70905-447B-C2BA-D5CF-75190693ADE2}"/>
              </a:ext>
            </a:extLst>
          </p:cNvPr>
          <p:cNvSpPr txBox="1"/>
          <p:nvPr/>
        </p:nvSpPr>
        <p:spPr>
          <a:xfrm>
            <a:off x="6990990" y="4520887"/>
            <a:ext cx="817417" cy="276999"/>
          </a:xfrm>
          <a:prstGeom prst="rect">
            <a:avLst/>
          </a:prstGeom>
          <a:noFill/>
        </p:spPr>
        <p:txBody>
          <a:bodyPr wrap="square" rtlCol="0">
            <a:spAutoFit/>
          </a:bodyPr>
          <a:lstStyle/>
          <a:p>
            <a:r>
              <a:rPr lang="en-ZA" sz="1200" b="1" dirty="0">
                <a:solidFill>
                  <a:srgbClr val="00B050"/>
                </a:solidFill>
              </a:rPr>
              <a:t>Feedback</a:t>
            </a:r>
            <a:endParaRPr lang="en-ZA" sz="1200" dirty="0">
              <a:solidFill>
                <a:srgbClr val="00B050"/>
              </a:solidFill>
            </a:endParaRPr>
          </a:p>
        </p:txBody>
      </p:sp>
      <p:cxnSp>
        <p:nvCxnSpPr>
          <p:cNvPr id="11" name="Straight Arrow Connector 10">
            <a:extLst>
              <a:ext uri="{FF2B5EF4-FFF2-40B4-BE49-F238E27FC236}">
                <a16:creationId xmlns:a16="http://schemas.microsoft.com/office/drawing/2014/main" id="{E2904506-2E1F-0B6D-E512-87570186E28A}"/>
              </a:ext>
            </a:extLst>
          </p:cNvPr>
          <p:cNvCxnSpPr/>
          <p:nvPr/>
        </p:nvCxnSpPr>
        <p:spPr>
          <a:xfrm>
            <a:off x="2258289" y="5510700"/>
            <a:ext cx="63730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Octagon 11">
            <a:extLst>
              <a:ext uri="{FF2B5EF4-FFF2-40B4-BE49-F238E27FC236}">
                <a16:creationId xmlns:a16="http://schemas.microsoft.com/office/drawing/2014/main" id="{39A936C5-40CE-6C10-28A8-5248F2F61F7D}"/>
              </a:ext>
            </a:extLst>
          </p:cNvPr>
          <p:cNvSpPr/>
          <p:nvPr/>
        </p:nvSpPr>
        <p:spPr>
          <a:xfrm>
            <a:off x="6985626" y="4369674"/>
            <a:ext cx="817417" cy="638346"/>
          </a:xfrm>
          <a:prstGeom prst="oct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55430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1000"/>
                                        <p:tgtEl>
                                          <p:spTgt spid="8"/>
                                        </p:tgtEl>
                                      </p:cBhvr>
                                    </p:animEffect>
                                    <p:anim calcmode="lin" valueType="num">
                                      <p:cBhvr>
                                        <p:cTn id="37" dur="1000" fill="hold"/>
                                        <p:tgtEl>
                                          <p:spTgt spid="8"/>
                                        </p:tgtEl>
                                        <p:attrNameLst>
                                          <p:attrName>ppt_x</p:attrName>
                                        </p:attrNameLst>
                                      </p:cBhvr>
                                      <p:tavLst>
                                        <p:tav tm="0">
                                          <p:val>
                                            <p:strVal val="#ppt_x"/>
                                          </p:val>
                                        </p:tav>
                                        <p:tav tm="100000">
                                          <p:val>
                                            <p:strVal val="#ppt_x"/>
                                          </p:val>
                                        </p:tav>
                                      </p:tavLst>
                                    </p:anim>
                                    <p:anim calcmode="lin" valueType="num">
                                      <p:cBhvr>
                                        <p:cTn id="3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000"/>
                                        <p:tgtEl>
                                          <p:spTgt spid="10"/>
                                        </p:tgtEl>
                                      </p:cBhvr>
                                    </p:animEffect>
                                    <p:anim calcmode="lin" valueType="num">
                                      <p:cBhvr>
                                        <p:cTn id="44" dur="1000" fill="hold"/>
                                        <p:tgtEl>
                                          <p:spTgt spid="10"/>
                                        </p:tgtEl>
                                        <p:attrNameLst>
                                          <p:attrName>ppt_x</p:attrName>
                                        </p:attrNameLst>
                                      </p:cBhvr>
                                      <p:tavLst>
                                        <p:tav tm="0">
                                          <p:val>
                                            <p:strVal val="#ppt_x"/>
                                          </p:val>
                                        </p:tav>
                                        <p:tav tm="100000">
                                          <p:val>
                                            <p:strVal val="#ppt_x"/>
                                          </p:val>
                                        </p:tav>
                                      </p:tavLst>
                                    </p:anim>
                                    <p:anim calcmode="lin" valueType="num">
                                      <p:cBhvr>
                                        <p:cTn id="45" dur="1000" fill="hold"/>
                                        <p:tgtEl>
                                          <p:spTgt spid="10"/>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1000"/>
                                        <p:tgtEl>
                                          <p:spTgt spid="12"/>
                                        </p:tgtEl>
                                      </p:cBhvr>
                                    </p:animEffect>
                                    <p:anim calcmode="lin" valueType="num">
                                      <p:cBhvr>
                                        <p:cTn id="49" dur="1000" fill="hold"/>
                                        <p:tgtEl>
                                          <p:spTgt spid="12"/>
                                        </p:tgtEl>
                                        <p:attrNameLst>
                                          <p:attrName>ppt_x</p:attrName>
                                        </p:attrNameLst>
                                      </p:cBhvr>
                                      <p:tavLst>
                                        <p:tav tm="0">
                                          <p:val>
                                            <p:strVal val="#ppt_x"/>
                                          </p:val>
                                        </p:tav>
                                        <p:tav tm="100000">
                                          <p:val>
                                            <p:strVal val="#ppt_x"/>
                                          </p:val>
                                        </p:tav>
                                      </p:tavLst>
                                    </p:anim>
                                    <p:anim calcmode="lin" valueType="num">
                                      <p:cBhvr>
                                        <p:cTn id="5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1000"/>
                                        <p:tgtEl>
                                          <p:spTgt spid="11"/>
                                        </p:tgtEl>
                                      </p:cBhvr>
                                    </p:animEffect>
                                    <p:anim calcmode="lin" valueType="num">
                                      <p:cBhvr>
                                        <p:cTn id="56" dur="1000" fill="hold"/>
                                        <p:tgtEl>
                                          <p:spTgt spid="11"/>
                                        </p:tgtEl>
                                        <p:attrNameLst>
                                          <p:attrName>ppt_x</p:attrName>
                                        </p:attrNameLst>
                                      </p:cBhvr>
                                      <p:tavLst>
                                        <p:tav tm="0">
                                          <p:val>
                                            <p:strVal val="#ppt_x"/>
                                          </p:val>
                                        </p:tav>
                                        <p:tav tm="100000">
                                          <p:val>
                                            <p:strVal val="#ppt_x"/>
                                          </p:val>
                                        </p:tav>
                                      </p:tavLst>
                                    </p:anim>
                                    <p:anim calcmode="lin" valueType="num">
                                      <p:cBhvr>
                                        <p:cTn id="5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animBg="1"/>
      <p:bldP spid="7" grpId="0"/>
      <p:bldP spid="8" grpId="0" animBg="1"/>
      <p:bldP spid="9" grpId="0"/>
      <p:bldP spid="10" grpId="0"/>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710CE939-BAAB-E80D-B5FE-35C18F35169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4" name="TextBox 3">
            <a:extLst>
              <a:ext uri="{FF2B5EF4-FFF2-40B4-BE49-F238E27FC236}">
                <a16:creationId xmlns:a16="http://schemas.microsoft.com/office/drawing/2014/main" id="{2DC50849-DB99-9AA2-5E5E-0D63A4A3B494}"/>
              </a:ext>
            </a:extLst>
          </p:cNvPr>
          <p:cNvSpPr txBox="1"/>
          <p:nvPr/>
        </p:nvSpPr>
        <p:spPr>
          <a:xfrm>
            <a:off x="180109" y="207626"/>
            <a:ext cx="11914909" cy="1631216"/>
          </a:xfrm>
          <a:prstGeom prst="rect">
            <a:avLst/>
          </a:prstGeom>
          <a:noFill/>
        </p:spPr>
        <p:txBody>
          <a:bodyPr wrap="square">
            <a:spAutoFit/>
          </a:bodyPr>
          <a:lstStyle/>
          <a:p>
            <a:r>
              <a:rPr lang="en-US" sz="2000" b="0" i="0" dirty="0">
                <a:solidFill>
                  <a:srgbClr val="FF0000"/>
                </a:solidFill>
                <a:effectLst/>
                <a:latin typeface="arial" panose="020B0604020202020204" pitchFamily="34" charset="0"/>
              </a:rPr>
              <a:t>Task flow </a:t>
            </a:r>
            <a:r>
              <a:rPr lang="en-US" sz="2000" b="1" i="0" dirty="0">
                <a:solidFill>
                  <a:srgbClr val="202124"/>
                </a:solidFill>
                <a:effectLst/>
                <a:latin typeface="arial" panose="020B0604020202020204" pitchFamily="34" charset="0"/>
              </a:rPr>
              <a:t>represents the user's actions when they complete a specific task</a:t>
            </a:r>
            <a:r>
              <a:rPr lang="en-US" sz="2000" b="0" i="0" dirty="0">
                <a:solidFill>
                  <a:srgbClr val="202124"/>
                </a:solidFill>
                <a:effectLst/>
                <a:latin typeface="arial" panose="020B0604020202020204" pitchFamily="34" charset="0"/>
              </a:rPr>
              <a:t>. </a:t>
            </a:r>
          </a:p>
          <a:p>
            <a:endParaRPr lang="en-US" sz="2000" dirty="0">
              <a:solidFill>
                <a:srgbClr val="202124"/>
              </a:solidFill>
              <a:latin typeface="arial" panose="020B0604020202020204" pitchFamily="34" charset="0"/>
            </a:endParaRPr>
          </a:p>
          <a:p>
            <a:r>
              <a:rPr lang="en-US" sz="2000" b="0" i="0" dirty="0">
                <a:solidFill>
                  <a:srgbClr val="202124"/>
                </a:solidFill>
                <a:effectLst/>
                <a:latin typeface="arial" panose="020B0604020202020204" pitchFamily="34" charset="0"/>
              </a:rPr>
              <a:t>Usually, </a:t>
            </a:r>
            <a:r>
              <a:rPr lang="en-US" sz="2000" b="0" i="0" dirty="0">
                <a:solidFill>
                  <a:srgbClr val="FF0000"/>
                </a:solidFill>
                <a:effectLst/>
                <a:latin typeface="arial" panose="020B0604020202020204" pitchFamily="34" charset="0"/>
              </a:rPr>
              <a:t>task flows </a:t>
            </a:r>
            <a:r>
              <a:rPr lang="en-US" sz="2000" b="0" i="0" dirty="0">
                <a:solidFill>
                  <a:srgbClr val="202124"/>
                </a:solidFill>
                <a:effectLst/>
                <a:latin typeface="arial" panose="020B0604020202020204" pitchFamily="34" charset="0"/>
              </a:rPr>
              <a:t>illustrate only one path without multiple ways. </a:t>
            </a:r>
          </a:p>
          <a:p>
            <a:endParaRPr lang="en-US" sz="2000" dirty="0">
              <a:solidFill>
                <a:srgbClr val="202124"/>
              </a:solidFill>
              <a:latin typeface="arial" panose="020B0604020202020204" pitchFamily="34" charset="0"/>
            </a:endParaRPr>
          </a:p>
          <a:p>
            <a:r>
              <a:rPr lang="en-US" sz="2000" b="0" i="0" dirty="0">
                <a:solidFill>
                  <a:srgbClr val="202124"/>
                </a:solidFill>
                <a:effectLst/>
                <a:latin typeface="arial" panose="020B0604020202020204" pitchFamily="34" charset="0"/>
              </a:rPr>
              <a:t>Task flows are used in UX design when you think that all clients will take the same sequence of steps.</a:t>
            </a:r>
            <a:endParaRPr lang="en-ZA" sz="2000" dirty="0"/>
          </a:p>
        </p:txBody>
      </p:sp>
      <p:sp>
        <p:nvSpPr>
          <p:cNvPr id="8" name="TextBox 7">
            <a:extLst>
              <a:ext uri="{FF2B5EF4-FFF2-40B4-BE49-F238E27FC236}">
                <a16:creationId xmlns:a16="http://schemas.microsoft.com/office/drawing/2014/main" id="{3447ED92-E4ED-B408-042A-3B76AE2AD878}"/>
              </a:ext>
            </a:extLst>
          </p:cNvPr>
          <p:cNvSpPr txBox="1"/>
          <p:nvPr/>
        </p:nvSpPr>
        <p:spPr>
          <a:xfrm>
            <a:off x="6137562" y="6581001"/>
            <a:ext cx="6096000" cy="276999"/>
          </a:xfrm>
          <a:prstGeom prst="rect">
            <a:avLst/>
          </a:prstGeom>
          <a:noFill/>
        </p:spPr>
        <p:txBody>
          <a:bodyPr wrap="square">
            <a:spAutoFit/>
          </a:bodyPr>
          <a:lstStyle/>
          <a:p>
            <a:r>
              <a:rPr lang="en-ZA" sz="1200" dirty="0">
                <a:solidFill>
                  <a:schemeClr val="bg1">
                    <a:lumMod val="75000"/>
                  </a:schemeClr>
                </a:solidFill>
              </a:rPr>
              <a:t>Source: https://www.eleken.co/blog-posts/ux-flow-and-its-importance-for-the-design-process</a:t>
            </a:r>
          </a:p>
        </p:txBody>
      </p:sp>
      <p:pic>
        <p:nvPicPr>
          <p:cNvPr id="9" name="Picture 8">
            <a:extLst>
              <a:ext uri="{FF2B5EF4-FFF2-40B4-BE49-F238E27FC236}">
                <a16:creationId xmlns:a16="http://schemas.microsoft.com/office/drawing/2014/main" id="{074A8A56-1022-950B-8B28-45F485A4D7C7}"/>
              </a:ext>
            </a:extLst>
          </p:cNvPr>
          <p:cNvPicPr>
            <a:picLocks noChangeAspect="1"/>
          </p:cNvPicPr>
          <p:nvPr/>
        </p:nvPicPr>
        <p:blipFill>
          <a:blip r:embed="rId2"/>
          <a:stretch>
            <a:fillRect/>
          </a:stretch>
        </p:blipFill>
        <p:spPr>
          <a:xfrm>
            <a:off x="136519" y="2254827"/>
            <a:ext cx="11918962" cy="2348346"/>
          </a:xfrm>
          <a:prstGeom prst="rect">
            <a:avLst/>
          </a:prstGeom>
        </p:spPr>
      </p:pic>
    </p:spTree>
    <p:extLst>
      <p:ext uri="{BB962C8B-B14F-4D97-AF65-F5344CB8AC3E}">
        <p14:creationId xmlns:p14="http://schemas.microsoft.com/office/powerpoint/2010/main" val="3694901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710CE939-BAAB-E80D-B5FE-35C18F35169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7" name="TextBox 6">
            <a:extLst>
              <a:ext uri="{FF2B5EF4-FFF2-40B4-BE49-F238E27FC236}">
                <a16:creationId xmlns:a16="http://schemas.microsoft.com/office/drawing/2014/main" id="{6777BAF3-2618-2A6E-332A-7702B4BC1EFE}"/>
              </a:ext>
            </a:extLst>
          </p:cNvPr>
          <p:cNvSpPr txBox="1"/>
          <p:nvPr/>
        </p:nvSpPr>
        <p:spPr>
          <a:xfrm>
            <a:off x="6137562" y="6581001"/>
            <a:ext cx="6096000" cy="276999"/>
          </a:xfrm>
          <a:prstGeom prst="rect">
            <a:avLst/>
          </a:prstGeom>
          <a:noFill/>
        </p:spPr>
        <p:txBody>
          <a:bodyPr wrap="square">
            <a:spAutoFit/>
          </a:bodyPr>
          <a:lstStyle/>
          <a:p>
            <a:r>
              <a:rPr lang="en-ZA" sz="1200" dirty="0">
                <a:solidFill>
                  <a:schemeClr val="bg1">
                    <a:lumMod val="75000"/>
                  </a:schemeClr>
                </a:solidFill>
              </a:rPr>
              <a:t>Source: https://www.eleken.co/blog-posts/ux-flow-and-its-importance-for-the-design-process</a:t>
            </a:r>
          </a:p>
        </p:txBody>
      </p:sp>
      <p:pic>
        <p:nvPicPr>
          <p:cNvPr id="8" name="Picture 7">
            <a:extLst>
              <a:ext uri="{FF2B5EF4-FFF2-40B4-BE49-F238E27FC236}">
                <a16:creationId xmlns:a16="http://schemas.microsoft.com/office/drawing/2014/main" id="{90BBA97F-4DD0-4655-E015-CA4B9E943E90}"/>
              </a:ext>
            </a:extLst>
          </p:cNvPr>
          <p:cNvPicPr>
            <a:picLocks noChangeAspect="1"/>
          </p:cNvPicPr>
          <p:nvPr/>
        </p:nvPicPr>
        <p:blipFill rotWithShape="1">
          <a:blip r:embed="rId2"/>
          <a:srcRect t="20981"/>
          <a:stretch/>
        </p:blipFill>
        <p:spPr>
          <a:xfrm>
            <a:off x="0" y="998189"/>
            <a:ext cx="12169082" cy="4467429"/>
          </a:xfrm>
          <a:prstGeom prst="rect">
            <a:avLst/>
          </a:prstGeom>
        </p:spPr>
      </p:pic>
      <p:sp>
        <p:nvSpPr>
          <p:cNvPr id="9" name="TextBox 8">
            <a:extLst>
              <a:ext uri="{FF2B5EF4-FFF2-40B4-BE49-F238E27FC236}">
                <a16:creationId xmlns:a16="http://schemas.microsoft.com/office/drawing/2014/main" id="{EEEECBCA-9909-BEE2-3CFE-B6A79B1BBCD3}"/>
              </a:ext>
            </a:extLst>
          </p:cNvPr>
          <p:cNvSpPr txBox="1"/>
          <p:nvPr/>
        </p:nvSpPr>
        <p:spPr>
          <a:xfrm>
            <a:off x="20780" y="518021"/>
            <a:ext cx="6116782" cy="369332"/>
          </a:xfrm>
          <a:prstGeom prst="rect">
            <a:avLst/>
          </a:prstGeom>
          <a:noFill/>
        </p:spPr>
        <p:txBody>
          <a:bodyPr wrap="square">
            <a:spAutoFit/>
          </a:bodyPr>
          <a:lstStyle/>
          <a:p>
            <a:r>
              <a:rPr lang="en-US" b="0" i="0" dirty="0">
                <a:effectLst/>
              </a:rPr>
              <a:t>Example of a Task Flow</a:t>
            </a:r>
            <a:endParaRPr lang="en-ZA" dirty="0"/>
          </a:p>
        </p:txBody>
      </p:sp>
    </p:spTree>
    <p:extLst>
      <p:ext uri="{BB962C8B-B14F-4D97-AF65-F5344CB8AC3E}">
        <p14:creationId xmlns:p14="http://schemas.microsoft.com/office/powerpoint/2010/main" val="35169315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710CE939-BAAB-E80D-B5FE-35C18F35169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7" name="TextBox 6">
            <a:extLst>
              <a:ext uri="{FF2B5EF4-FFF2-40B4-BE49-F238E27FC236}">
                <a16:creationId xmlns:a16="http://schemas.microsoft.com/office/drawing/2014/main" id="{6777BAF3-2618-2A6E-332A-7702B4BC1EFE}"/>
              </a:ext>
            </a:extLst>
          </p:cNvPr>
          <p:cNvSpPr txBox="1"/>
          <p:nvPr/>
        </p:nvSpPr>
        <p:spPr>
          <a:xfrm>
            <a:off x="5638800" y="6581001"/>
            <a:ext cx="6594762" cy="276999"/>
          </a:xfrm>
          <a:prstGeom prst="rect">
            <a:avLst/>
          </a:prstGeom>
          <a:noFill/>
        </p:spPr>
        <p:txBody>
          <a:bodyPr wrap="square">
            <a:spAutoFit/>
          </a:bodyPr>
          <a:lstStyle/>
          <a:p>
            <a:r>
              <a:rPr lang="en-ZA" sz="1200" dirty="0">
                <a:solidFill>
                  <a:schemeClr val="bg1">
                    <a:lumMod val="75000"/>
                  </a:schemeClr>
                </a:solidFill>
              </a:rPr>
              <a:t>Source: https://www.seekpng.com/ipng/u2e6o0y3e6i1a9i1_task-flow-task-flow-airplane-ticket/</a:t>
            </a:r>
          </a:p>
        </p:txBody>
      </p:sp>
      <p:pic>
        <p:nvPicPr>
          <p:cNvPr id="1026" name="Picture 2" descr="Task Flow - Task Flow Airplane Ticket (1000x766), Png Download">
            <a:extLst>
              <a:ext uri="{FF2B5EF4-FFF2-40B4-BE49-F238E27FC236}">
                <a16:creationId xmlns:a16="http://schemas.microsoft.com/office/drawing/2014/main" id="{A3E148C8-548F-A7C4-D9CC-E36F57845A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3232" y="111071"/>
            <a:ext cx="8808491" cy="67469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DBA33B8-7104-4EC2-5955-3740B7A609ED}"/>
              </a:ext>
            </a:extLst>
          </p:cNvPr>
          <p:cNvSpPr txBox="1"/>
          <p:nvPr/>
        </p:nvSpPr>
        <p:spPr>
          <a:xfrm>
            <a:off x="40696" y="33112"/>
            <a:ext cx="6116782" cy="369332"/>
          </a:xfrm>
          <a:prstGeom prst="rect">
            <a:avLst/>
          </a:prstGeom>
          <a:noFill/>
        </p:spPr>
        <p:txBody>
          <a:bodyPr wrap="square">
            <a:spAutoFit/>
          </a:bodyPr>
          <a:lstStyle/>
          <a:p>
            <a:r>
              <a:rPr lang="en-US" b="0" i="0" dirty="0">
                <a:effectLst/>
              </a:rPr>
              <a:t>Task Flow for an Airplane Ticket</a:t>
            </a:r>
            <a:endParaRPr lang="en-ZA" dirty="0"/>
          </a:p>
        </p:txBody>
      </p:sp>
    </p:spTree>
    <p:extLst>
      <p:ext uri="{BB962C8B-B14F-4D97-AF65-F5344CB8AC3E}">
        <p14:creationId xmlns:p14="http://schemas.microsoft.com/office/powerpoint/2010/main" val="3357128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710CE939-BAAB-E80D-B5FE-35C18F35169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5" name="Picture 4">
            <a:extLst>
              <a:ext uri="{FF2B5EF4-FFF2-40B4-BE49-F238E27FC236}">
                <a16:creationId xmlns:a16="http://schemas.microsoft.com/office/drawing/2014/main" id="{53E13CF7-78A7-CEED-E721-B36CD89CB11A}"/>
              </a:ext>
            </a:extLst>
          </p:cNvPr>
          <p:cNvPicPr>
            <a:picLocks noChangeAspect="1"/>
          </p:cNvPicPr>
          <p:nvPr/>
        </p:nvPicPr>
        <p:blipFill>
          <a:blip r:embed="rId2"/>
          <a:stretch>
            <a:fillRect/>
          </a:stretch>
        </p:blipFill>
        <p:spPr>
          <a:xfrm>
            <a:off x="0" y="0"/>
            <a:ext cx="6074678" cy="5306046"/>
          </a:xfrm>
          <a:prstGeom prst="rect">
            <a:avLst/>
          </a:prstGeom>
        </p:spPr>
      </p:pic>
      <p:pic>
        <p:nvPicPr>
          <p:cNvPr id="7" name="Picture 6">
            <a:extLst>
              <a:ext uri="{FF2B5EF4-FFF2-40B4-BE49-F238E27FC236}">
                <a16:creationId xmlns:a16="http://schemas.microsoft.com/office/drawing/2014/main" id="{10250E78-2CCF-0AC6-A4B4-308D9840B832}"/>
              </a:ext>
            </a:extLst>
          </p:cNvPr>
          <p:cNvPicPr>
            <a:picLocks noChangeAspect="1"/>
          </p:cNvPicPr>
          <p:nvPr/>
        </p:nvPicPr>
        <p:blipFill>
          <a:blip r:embed="rId3"/>
          <a:stretch>
            <a:fillRect/>
          </a:stretch>
        </p:blipFill>
        <p:spPr>
          <a:xfrm>
            <a:off x="5744075" y="0"/>
            <a:ext cx="6447925" cy="2129698"/>
          </a:xfrm>
          <a:prstGeom prst="rect">
            <a:avLst/>
          </a:prstGeom>
        </p:spPr>
      </p:pic>
    </p:spTree>
    <p:extLst>
      <p:ext uri="{BB962C8B-B14F-4D97-AF65-F5344CB8AC3E}">
        <p14:creationId xmlns:p14="http://schemas.microsoft.com/office/powerpoint/2010/main" val="30056238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710CE939-BAAB-E80D-B5FE-35C18F35169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4" name="Picture 3">
            <a:extLst>
              <a:ext uri="{FF2B5EF4-FFF2-40B4-BE49-F238E27FC236}">
                <a16:creationId xmlns:a16="http://schemas.microsoft.com/office/drawing/2014/main" id="{905D97C7-85DD-C7D1-1F4F-4BAA0086D5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2332" y="0"/>
            <a:ext cx="9707336" cy="6858000"/>
          </a:xfrm>
          <a:prstGeom prst="rect">
            <a:avLst/>
          </a:prstGeom>
        </p:spPr>
      </p:pic>
      <p:sp>
        <p:nvSpPr>
          <p:cNvPr id="5" name="Rectangle: Rounded Corners 4">
            <a:extLst>
              <a:ext uri="{FF2B5EF4-FFF2-40B4-BE49-F238E27FC236}">
                <a16:creationId xmlns:a16="http://schemas.microsoft.com/office/drawing/2014/main" id="{99ABB135-90C4-2CD1-F43E-3C398F80601D}"/>
              </a:ext>
            </a:extLst>
          </p:cNvPr>
          <p:cNvSpPr/>
          <p:nvPr/>
        </p:nvSpPr>
        <p:spPr>
          <a:xfrm>
            <a:off x="5084617" y="173182"/>
            <a:ext cx="1302328" cy="92132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a:p>
        </p:txBody>
      </p:sp>
      <p:sp>
        <p:nvSpPr>
          <p:cNvPr id="6" name="Rectangle: Rounded Corners 5">
            <a:extLst>
              <a:ext uri="{FF2B5EF4-FFF2-40B4-BE49-F238E27FC236}">
                <a16:creationId xmlns:a16="http://schemas.microsoft.com/office/drawing/2014/main" id="{9E55301E-531A-BD6F-BB07-5A1151CF6A2F}"/>
              </a:ext>
            </a:extLst>
          </p:cNvPr>
          <p:cNvSpPr/>
          <p:nvPr/>
        </p:nvSpPr>
        <p:spPr>
          <a:xfrm>
            <a:off x="8201891" y="311727"/>
            <a:ext cx="720436" cy="64423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dirty="0"/>
          </a:p>
        </p:txBody>
      </p:sp>
      <p:sp>
        <p:nvSpPr>
          <p:cNvPr id="8" name="Rectangle: Rounded Corners 7">
            <a:extLst>
              <a:ext uri="{FF2B5EF4-FFF2-40B4-BE49-F238E27FC236}">
                <a16:creationId xmlns:a16="http://schemas.microsoft.com/office/drawing/2014/main" id="{1C5ED7A8-2623-0BD6-DC3B-5EFBC346F3E8}"/>
              </a:ext>
            </a:extLst>
          </p:cNvPr>
          <p:cNvSpPr/>
          <p:nvPr/>
        </p:nvSpPr>
        <p:spPr>
          <a:xfrm>
            <a:off x="7592289" y="1267690"/>
            <a:ext cx="720437" cy="76892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a:p>
        </p:txBody>
      </p:sp>
      <p:sp>
        <p:nvSpPr>
          <p:cNvPr id="9" name="Rectangle: Rounded Corners 8">
            <a:extLst>
              <a:ext uri="{FF2B5EF4-FFF2-40B4-BE49-F238E27FC236}">
                <a16:creationId xmlns:a16="http://schemas.microsoft.com/office/drawing/2014/main" id="{8CC7CD07-C627-BEF4-8104-477FCD8ECE95}"/>
              </a:ext>
            </a:extLst>
          </p:cNvPr>
          <p:cNvSpPr/>
          <p:nvPr/>
        </p:nvSpPr>
        <p:spPr>
          <a:xfrm>
            <a:off x="7592289" y="2507672"/>
            <a:ext cx="720437" cy="76892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a:p>
        </p:txBody>
      </p:sp>
      <p:sp>
        <p:nvSpPr>
          <p:cNvPr id="11" name="Rectangle: Rounded Corners 10">
            <a:extLst>
              <a:ext uri="{FF2B5EF4-FFF2-40B4-BE49-F238E27FC236}">
                <a16:creationId xmlns:a16="http://schemas.microsoft.com/office/drawing/2014/main" id="{E0130F10-44AF-503E-7F2F-D936B56E1B83}"/>
              </a:ext>
            </a:extLst>
          </p:cNvPr>
          <p:cNvSpPr/>
          <p:nvPr/>
        </p:nvSpPr>
        <p:spPr>
          <a:xfrm>
            <a:off x="9393382" y="1378527"/>
            <a:ext cx="720436" cy="64423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dirty="0"/>
          </a:p>
        </p:txBody>
      </p:sp>
      <p:sp>
        <p:nvSpPr>
          <p:cNvPr id="12" name="Rectangle: Rounded Corners 11">
            <a:extLst>
              <a:ext uri="{FF2B5EF4-FFF2-40B4-BE49-F238E27FC236}">
                <a16:creationId xmlns:a16="http://schemas.microsoft.com/office/drawing/2014/main" id="{E3BC5C50-03D5-21FA-B924-1DF4328D846E}"/>
              </a:ext>
            </a:extLst>
          </p:cNvPr>
          <p:cNvSpPr/>
          <p:nvPr/>
        </p:nvSpPr>
        <p:spPr>
          <a:xfrm>
            <a:off x="9379527" y="2570018"/>
            <a:ext cx="720436" cy="64423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dirty="0"/>
          </a:p>
        </p:txBody>
      </p:sp>
      <p:sp>
        <p:nvSpPr>
          <p:cNvPr id="13" name="Rectangle: Rounded Corners 12">
            <a:extLst>
              <a:ext uri="{FF2B5EF4-FFF2-40B4-BE49-F238E27FC236}">
                <a16:creationId xmlns:a16="http://schemas.microsoft.com/office/drawing/2014/main" id="{DD10C8BE-0678-E41F-BF7E-7E5EAE175C44}"/>
              </a:ext>
            </a:extLst>
          </p:cNvPr>
          <p:cNvSpPr/>
          <p:nvPr/>
        </p:nvSpPr>
        <p:spPr>
          <a:xfrm>
            <a:off x="5084616" y="1991590"/>
            <a:ext cx="1440871" cy="64423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dirty="0"/>
          </a:p>
        </p:txBody>
      </p:sp>
      <p:sp>
        <p:nvSpPr>
          <p:cNvPr id="14" name="Rectangle: Rounded Corners 13">
            <a:extLst>
              <a:ext uri="{FF2B5EF4-FFF2-40B4-BE49-F238E27FC236}">
                <a16:creationId xmlns:a16="http://schemas.microsoft.com/office/drawing/2014/main" id="{5533FC3C-A6BD-9B22-148C-04C2A9E432B2}"/>
              </a:ext>
            </a:extLst>
          </p:cNvPr>
          <p:cNvSpPr/>
          <p:nvPr/>
        </p:nvSpPr>
        <p:spPr>
          <a:xfrm>
            <a:off x="3583748" y="1925782"/>
            <a:ext cx="720436" cy="76892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dirty="0"/>
          </a:p>
        </p:txBody>
      </p:sp>
      <p:sp>
        <p:nvSpPr>
          <p:cNvPr id="15" name="Rectangle: Rounded Corners 14">
            <a:extLst>
              <a:ext uri="{FF2B5EF4-FFF2-40B4-BE49-F238E27FC236}">
                <a16:creationId xmlns:a16="http://schemas.microsoft.com/office/drawing/2014/main" id="{AF3C424F-E5AA-B0ED-0BD6-657628BDCB8D}"/>
              </a:ext>
            </a:extLst>
          </p:cNvPr>
          <p:cNvSpPr/>
          <p:nvPr/>
        </p:nvSpPr>
        <p:spPr>
          <a:xfrm>
            <a:off x="9139421" y="5479474"/>
            <a:ext cx="752724" cy="89361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dirty="0"/>
          </a:p>
        </p:txBody>
      </p:sp>
      <p:sp>
        <p:nvSpPr>
          <p:cNvPr id="16" name="Rectangle: Rounded Corners 15">
            <a:extLst>
              <a:ext uri="{FF2B5EF4-FFF2-40B4-BE49-F238E27FC236}">
                <a16:creationId xmlns:a16="http://schemas.microsoft.com/office/drawing/2014/main" id="{82E0ABBB-8791-F556-0EF2-1C28ED7B61D8}"/>
              </a:ext>
            </a:extLst>
          </p:cNvPr>
          <p:cNvSpPr/>
          <p:nvPr/>
        </p:nvSpPr>
        <p:spPr>
          <a:xfrm>
            <a:off x="4133350" y="3931227"/>
            <a:ext cx="951266" cy="76892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dirty="0"/>
          </a:p>
        </p:txBody>
      </p:sp>
      <p:sp>
        <p:nvSpPr>
          <p:cNvPr id="17" name="Rectangle: Rounded Corners 16">
            <a:extLst>
              <a:ext uri="{FF2B5EF4-FFF2-40B4-BE49-F238E27FC236}">
                <a16:creationId xmlns:a16="http://schemas.microsoft.com/office/drawing/2014/main" id="{24A16C92-7CAA-9B7B-8F53-E3C8ADE5348B}"/>
              </a:ext>
            </a:extLst>
          </p:cNvPr>
          <p:cNvSpPr/>
          <p:nvPr/>
        </p:nvSpPr>
        <p:spPr>
          <a:xfrm>
            <a:off x="6255325" y="3962400"/>
            <a:ext cx="1440871" cy="64423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dirty="0"/>
          </a:p>
        </p:txBody>
      </p:sp>
      <p:sp>
        <p:nvSpPr>
          <p:cNvPr id="18" name="Rectangle: Rounded Corners 17">
            <a:extLst>
              <a:ext uri="{FF2B5EF4-FFF2-40B4-BE49-F238E27FC236}">
                <a16:creationId xmlns:a16="http://schemas.microsoft.com/office/drawing/2014/main" id="{12BDD4A9-5C8E-6E2A-80D0-5E5C813AE0DA}"/>
              </a:ext>
            </a:extLst>
          </p:cNvPr>
          <p:cNvSpPr/>
          <p:nvPr/>
        </p:nvSpPr>
        <p:spPr>
          <a:xfrm>
            <a:off x="8682160" y="3796144"/>
            <a:ext cx="1736458" cy="10390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dirty="0"/>
          </a:p>
        </p:txBody>
      </p:sp>
      <p:sp>
        <p:nvSpPr>
          <p:cNvPr id="19" name="Rectangle: Rounded Corners 18">
            <a:extLst>
              <a:ext uri="{FF2B5EF4-FFF2-40B4-BE49-F238E27FC236}">
                <a16:creationId xmlns:a16="http://schemas.microsoft.com/office/drawing/2014/main" id="{21D0E994-CC9F-1E49-3C48-353F43FB204D}"/>
              </a:ext>
            </a:extLst>
          </p:cNvPr>
          <p:cNvSpPr/>
          <p:nvPr/>
        </p:nvSpPr>
        <p:spPr>
          <a:xfrm>
            <a:off x="1480142" y="3796144"/>
            <a:ext cx="1667244" cy="10390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dirty="0"/>
          </a:p>
        </p:txBody>
      </p:sp>
      <p:sp>
        <p:nvSpPr>
          <p:cNvPr id="21" name="Rectangle: Rounded Corners 20">
            <a:extLst>
              <a:ext uri="{FF2B5EF4-FFF2-40B4-BE49-F238E27FC236}">
                <a16:creationId xmlns:a16="http://schemas.microsoft.com/office/drawing/2014/main" id="{558DACE6-7D69-A287-4783-CC6A2D732FED}"/>
              </a:ext>
            </a:extLst>
          </p:cNvPr>
          <p:cNvSpPr/>
          <p:nvPr/>
        </p:nvSpPr>
        <p:spPr>
          <a:xfrm>
            <a:off x="3856258" y="5448302"/>
            <a:ext cx="1588577" cy="89361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dirty="0"/>
          </a:p>
        </p:txBody>
      </p:sp>
      <p:sp>
        <p:nvSpPr>
          <p:cNvPr id="22" name="Rectangle: Rounded Corners 21">
            <a:extLst>
              <a:ext uri="{FF2B5EF4-FFF2-40B4-BE49-F238E27FC236}">
                <a16:creationId xmlns:a16="http://schemas.microsoft.com/office/drawing/2014/main" id="{82D1B874-31D0-91C9-1288-8B1846BD5690}"/>
              </a:ext>
            </a:extLst>
          </p:cNvPr>
          <p:cNvSpPr/>
          <p:nvPr/>
        </p:nvSpPr>
        <p:spPr>
          <a:xfrm>
            <a:off x="1914277" y="1863435"/>
            <a:ext cx="720436" cy="83127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dirty="0"/>
          </a:p>
        </p:txBody>
      </p:sp>
      <p:sp>
        <p:nvSpPr>
          <p:cNvPr id="23" name="Rectangle: Rounded Corners 22">
            <a:extLst>
              <a:ext uri="{FF2B5EF4-FFF2-40B4-BE49-F238E27FC236}">
                <a16:creationId xmlns:a16="http://schemas.microsoft.com/office/drawing/2014/main" id="{1942AC23-674B-8E74-7008-E3C7220489C3}"/>
              </a:ext>
            </a:extLst>
          </p:cNvPr>
          <p:cNvSpPr/>
          <p:nvPr/>
        </p:nvSpPr>
        <p:spPr>
          <a:xfrm>
            <a:off x="6615542" y="5590310"/>
            <a:ext cx="976747" cy="644237"/>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ZA" dirty="0"/>
          </a:p>
        </p:txBody>
      </p:sp>
    </p:spTree>
    <p:extLst>
      <p:ext uri="{BB962C8B-B14F-4D97-AF65-F5344CB8AC3E}">
        <p14:creationId xmlns:p14="http://schemas.microsoft.com/office/powerpoint/2010/main" val="3733523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5"/>
                                        </p:tgtEl>
                                      </p:cBhvr>
                                    </p:animEffect>
                                    <p:anim calcmode="lin" valueType="num">
                                      <p:cBhvr>
                                        <p:cTn id="7" dur="1000"/>
                                        <p:tgtEl>
                                          <p:spTgt spid="5"/>
                                        </p:tgtEl>
                                        <p:attrNameLst>
                                          <p:attrName>ppt_x</p:attrName>
                                        </p:attrNameLst>
                                      </p:cBhvr>
                                      <p:tavLst>
                                        <p:tav tm="0">
                                          <p:val>
                                            <p:strVal val="ppt_x"/>
                                          </p:val>
                                        </p:tav>
                                        <p:tav tm="100000">
                                          <p:val>
                                            <p:strVal val="ppt_x"/>
                                          </p:val>
                                        </p:tav>
                                      </p:tavLst>
                                    </p:anim>
                                    <p:anim calcmode="lin" valueType="num">
                                      <p:cBhvr>
                                        <p:cTn id="8" dur="1000"/>
                                        <p:tgtEl>
                                          <p:spTgt spid="5"/>
                                        </p:tgtEl>
                                        <p:attrNameLst>
                                          <p:attrName>ppt_y</p:attrName>
                                        </p:attrNameLst>
                                      </p:cBhvr>
                                      <p:tavLst>
                                        <p:tav tm="0">
                                          <p:val>
                                            <p:strVal val="ppt_y"/>
                                          </p:val>
                                        </p:tav>
                                        <p:tav tm="100000">
                                          <p:val>
                                            <p:strVal val="ppt_y+.1"/>
                                          </p:val>
                                        </p:tav>
                                      </p:tavLst>
                                    </p:anim>
                                    <p:set>
                                      <p:cBhvr>
                                        <p:cTn id="9" dur="1" fill="hold">
                                          <p:stCondLst>
                                            <p:cond delay="999"/>
                                          </p:stCondLst>
                                        </p:cTn>
                                        <p:tgtEl>
                                          <p:spTgt spid="5"/>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0" nodeType="clickEffect">
                                  <p:stCondLst>
                                    <p:cond delay="0"/>
                                  </p:stCondLst>
                                  <p:childTnLst>
                                    <p:animEffect transition="out" filter="fade">
                                      <p:cBhvr>
                                        <p:cTn id="13" dur="1000"/>
                                        <p:tgtEl>
                                          <p:spTgt spid="6"/>
                                        </p:tgtEl>
                                      </p:cBhvr>
                                    </p:animEffect>
                                    <p:anim calcmode="lin" valueType="num">
                                      <p:cBhvr>
                                        <p:cTn id="14" dur="1000"/>
                                        <p:tgtEl>
                                          <p:spTgt spid="6"/>
                                        </p:tgtEl>
                                        <p:attrNameLst>
                                          <p:attrName>ppt_x</p:attrName>
                                        </p:attrNameLst>
                                      </p:cBhvr>
                                      <p:tavLst>
                                        <p:tav tm="0">
                                          <p:val>
                                            <p:strVal val="ppt_x"/>
                                          </p:val>
                                        </p:tav>
                                        <p:tav tm="100000">
                                          <p:val>
                                            <p:strVal val="ppt_x"/>
                                          </p:val>
                                        </p:tav>
                                      </p:tavLst>
                                    </p:anim>
                                    <p:anim calcmode="lin" valueType="num">
                                      <p:cBhvr>
                                        <p:cTn id="15" dur="1000"/>
                                        <p:tgtEl>
                                          <p:spTgt spid="6"/>
                                        </p:tgtEl>
                                        <p:attrNameLst>
                                          <p:attrName>ppt_y</p:attrName>
                                        </p:attrNameLst>
                                      </p:cBhvr>
                                      <p:tavLst>
                                        <p:tav tm="0">
                                          <p:val>
                                            <p:strVal val="ppt_y"/>
                                          </p:val>
                                        </p:tav>
                                        <p:tav tm="100000">
                                          <p:val>
                                            <p:strVal val="ppt_y+.1"/>
                                          </p:val>
                                        </p:tav>
                                      </p:tavLst>
                                    </p:anim>
                                    <p:set>
                                      <p:cBhvr>
                                        <p:cTn id="16" dur="1" fill="hold">
                                          <p:stCondLst>
                                            <p:cond delay="999"/>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xit" presetSubtype="0" fill="hold" grpId="0" nodeType="clickEffect">
                                  <p:stCondLst>
                                    <p:cond delay="0"/>
                                  </p:stCondLst>
                                  <p:childTnLst>
                                    <p:animEffect transition="out" filter="fade">
                                      <p:cBhvr>
                                        <p:cTn id="20" dur="1000"/>
                                        <p:tgtEl>
                                          <p:spTgt spid="11"/>
                                        </p:tgtEl>
                                      </p:cBhvr>
                                    </p:animEffect>
                                    <p:anim calcmode="lin" valueType="num">
                                      <p:cBhvr>
                                        <p:cTn id="21" dur="1000"/>
                                        <p:tgtEl>
                                          <p:spTgt spid="11"/>
                                        </p:tgtEl>
                                        <p:attrNameLst>
                                          <p:attrName>ppt_x</p:attrName>
                                        </p:attrNameLst>
                                      </p:cBhvr>
                                      <p:tavLst>
                                        <p:tav tm="0">
                                          <p:val>
                                            <p:strVal val="ppt_x"/>
                                          </p:val>
                                        </p:tav>
                                        <p:tav tm="100000">
                                          <p:val>
                                            <p:strVal val="ppt_x"/>
                                          </p:val>
                                        </p:tav>
                                      </p:tavLst>
                                    </p:anim>
                                    <p:anim calcmode="lin" valueType="num">
                                      <p:cBhvr>
                                        <p:cTn id="22" dur="1000"/>
                                        <p:tgtEl>
                                          <p:spTgt spid="11"/>
                                        </p:tgtEl>
                                        <p:attrNameLst>
                                          <p:attrName>ppt_y</p:attrName>
                                        </p:attrNameLst>
                                      </p:cBhvr>
                                      <p:tavLst>
                                        <p:tav tm="0">
                                          <p:val>
                                            <p:strVal val="ppt_y"/>
                                          </p:val>
                                        </p:tav>
                                        <p:tav tm="100000">
                                          <p:val>
                                            <p:strVal val="ppt_y+.1"/>
                                          </p:val>
                                        </p:tav>
                                      </p:tavLst>
                                    </p:anim>
                                    <p:set>
                                      <p:cBhvr>
                                        <p:cTn id="23" dur="1" fill="hold">
                                          <p:stCondLst>
                                            <p:cond delay="999"/>
                                          </p:stCondLst>
                                        </p:cTn>
                                        <p:tgtEl>
                                          <p:spTgt spid="11"/>
                                        </p:tgtEl>
                                        <p:attrNameLst>
                                          <p:attrName>style.visibility</p:attrName>
                                        </p:attrNameLst>
                                      </p:cBhvr>
                                      <p:to>
                                        <p:strVal val="hidden"/>
                                      </p:to>
                                    </p:set>
                                  </p:childTnLst>
                                </p:cTn>
                              </p:par>
                              <p:par>
                                <p:cTn id="24" presetID="42" presetClass="exit" presetSubtype="0" fill="hold" grpId="0" nodeType="withEffect">
                                  <p:stCondLst>
                                    <p:cond delay="0"/>
                                  </p:stCondLst>
                                  <p:childTnLst>
                                    <p:animEffect transition="out" filter="fade">
                                      <p:cBhvr>
                                        <p:cTn id="25" dur="1000"/>
                                        <p:tgtEl>
                                          <p:spTgt spid="12"/>
                                        </p:tgtEl>
                                      </p:cBhvr>
                                    </p:animEffect>
                                    <p:anim calcmode="lin" valueType="num">
                                      <p:cBhvr>
                                        <p:cTn id="26" dur="1000"/>
                                        <p:tgtEl>
                                          <p:spTgt spid="12"/>
                                        </p:tgtEl>
                                        <p:attrNameLst>
                                          <p:attrName>ppt_x</p:attrName>
                                        </p:attrNameLst>
                                      </p:cBhvr>
                                      <p:tavLst>
                                        <p:tav tm="0">
                                          <p:val>
                                            <p:strVal val="ppt_x"/>
                                          </p:val>
                                        </p:tav>
                                        <p:tav tm="100000">
                                          <p:val>
                                            <p:strVal val="ppt_x"/>
                                          </p:val>
                                        </p:tav>
                                      </p:tavLst>
                                    </p:anim>
                                    <p:anim calcmode="lin" valueType="num">
                                      <p:cBhvr>
                                        <p:cTn id="27" dur="1000"/>
                                        <p:tgtEl>
                                          <p:spTgt spid="12"/>
                                        </p:tgtEl>
                                        <p:attrNameLst>
                                          <p:attrName>ppt_y</p:attrName>
                                        </p:attrNameLst>
                                      </p:cBhvr>
                                      <p:tavLst>
                                        <p:tav tm="0">
                                          <p:val>
                                            <p:strVal val="ppt_y"/>
                                          </p:val>
                                        </p:tav>
                                        <p:tav tm="100000">
                                          <p:val>
                                            <p:strVal val="ppt_y+.1"/>
                                          </p:val>
                                        </p:tav>
                                      </p:tavLst>
                                    </p:anim>
                                    <p:set>
                                      <p:cBhvr>
                                        <p:cTn id="28" dur="1" fill="hold">
                                          <p:stCondLst>
                                            <p:cond delay="999"/>
                                          </p:stCondLst>
                                        </p:cTn>
                                        <p:tgtEl>
                                          <p:spTgt spid="1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42" presetClass="exit" presetSubtype="0" fill="hold" grpId="0" nodeType="clickEffect">
                                  <p:stCondLst>
                                    <p:cond delay="0"/>
                                  </p:stCondLst>
                                  <p:childTnLst>
                                    <p:animEffect transition="out" filter="fade">
                                      <p:cBhvr>
                                        <p:cTn id="32" dur="1000"/>
                                        <p:tgtEl>
                                          <p:spTgt spid="8"/>
                                        </p:tgtEl>
                                      </p:cBhvr>
                                    </p:animEffect>
                                    <p:anim calcmode="lin" valueType="num">
                                      <p:cBhvr>
                                        <p:cTn id="33" dur="1000"/>
                                        <p:tgtEl>
                                          <p:spTgt spid="8"/>
                                        </p:tgtEl>
                                        <p:attrNameLst>
                                          <p:attrName>ppt_x</p:attrName>
                                        </p:attrNameLst>
                                      </p:cBhvr>
                                      <p:tavLst>
                                        <p:tav tm="0">
                                          <p:val>
                                            <p:strVal val="ppt_x"/>
                                          </p:val>
                                        </p:tav>
                                        <p:tav tm="100000">
                                          <p:val>
                                            <p:strVal val="ppt_x"/>
                                          </p:val>
                                        </p:tav>
                                      </p:tavLst>
                                    </p:anim>
                                    <p:anim calcmode="lin" valueType="num">
                                      <p:cBhvr>
                                        <p:cTn id="34" dur="1000"/>
                                        <p:tgtEl>
                                          <p:spTgt spid="8"/>
                                        </p:tgtEl>
                                        <p:attrNameLst>
                                          <p:attrName>ppt_y</p:attrName>
                                        </p:attrNameLst>
                                      </p:cBhvr>
                                      <p:tavLst>
                                        <p:tav tm="0">
                                          <p:val>
                                            <p:strVal val="ppt_y"/>
                                          </p:val>
                                        </p:tav>
                                        <p:tav tm="100000">
                                          <p:val>
                                            <p:strVal val="ppt_y+.1"/>
                                          </p:val>
                                        </p:tav>
                                      </p:tavLst>
                                    </p:anim>
                                    <p:set>
                                      <p:cBhvr>
                                        <p:cTn id="35" dur="1" fill="hold">
                                          <p:stCondLst>
                                            <p:cond delay="999"/>
                                          </p:stCondLst>
                                        </p:cTn>
                                        <p:tgtEl>
                                          <p:spTgt spid="8"/>
                                        </p:tgtEl>
                                        <p:attrNameLst>
                                          <p:attrName>style.visibility</p:attrName>
                                        </p:attrNameLst>
                                      </p:cBhvr>
                                      <p:to>
                                        <p:strVal val="hidden"/>
                                      </p:to>
                                    </p:set>
                                  </p:childTnLst>
                                </p:cTn>
                              </p:par>
                              <p:par>
                                <p:cTn id="36" presetID="42" presetClass="exit" presetSubtype="0" fill="hold" grpId="0" nodeType="withEffect">
                                  <p:stCondLst>
                                    <p:cond delay="0"/>
                                  </p:stCondLst>
                                  <p:childTnLst>
                                    <p:animEffect transition="out" filter="fade">
                                      <p:cBhvr>
                                        <p:cTn id="37" dur="1000"/>
                                        <p:tgtEl>
                                          <p:spTgt spid="9"/>
                                        </p:tgtEl>
                                      </p:cBhvr>
                                    </p:animEffect>
                                    <p:anim calcmode="lin" valueType="num">
                                      <p:cBhvr>
                                        <p:cTn id="38" dur="1000"/>
                                        <p:tgtEl>
                                          <p:spTgt spid="9"/>
                                        </p:tgtEl>
                                        <p:attrNameLst>
                                          <p:attrName>ppt_x</p:attrName>
                                        </p:attrNameLst>
                                      </p:cBhvr>
                                      <p:tavLst>
                                        <p:tav tm="0">
                                          <p:val>
                                            <p:strVal val="ppt_x"/>
                                          </p:val>
                                        </p:tav>
                                        <p:tav tm="100000">
                                          <p:val>
                                            <p:strVal val="ppt_x"/>
                                          </p:val>
                                        </p:tav>
                                      </p:tavLst>
                                    </p:anim>
                                    <p:anim calcmode="lin" valueType="num">
                                      <p:cBhvr>
                                        <p:cTn id="39" dur="1000"/>
                                        <p:tgtEl>
                                          <p:spTgt spid="9"/>
                                        </p:tgtEl>
                                        <p:attrNameLst>
                                          <p:attrName>ppt_y</p:attrName>
                                        </p:attrNameLst>
                                      </p:cBhvr>
                                      <p:tavLst>
                                        <p:tav tm="0">
                                          <p:val>
                                            <p:strVal val="ppt_y"/>
                                          </p:val>
                                        </p:tav>
                                        <p:tav tm="100000">
                                          <p:val>
                                            <p:strVal val="ppt_y+.1"/>
                                          </p:val>
                                        </p:tav>
                                      </p:tavLst>
                                    </p:anim>
                                    <p:set>
                                      <p:cBhvr>
                                        <p:cTn id="40" dur="1" fill="hold">
                                          <p:stCondLst>
                                            <p:cond delay="999"/>
                                          </p:stCondLst>
                                        </p:cTn>
                                        <p:tgtEl>
                                          <p:spTgt spid="9"/>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42" presetClass="exit" presetSubtype="0" fill="hold" grpId="0" nodeType="clickEffect">
                                  <p:stCondLst>
                                    <p:cond delay="0"/>
                                  </p:stCondLst>
                                  <p:childTnLst>
                                    <p:animEffect transition="out" filter="fade">
                                      <p:cBhvr>
                                        <p:cTn id="44" dur="1000"/>
                                        <p:tgtEl>
                                          <p:spTgt spid="13"/>
                                        </p:tgtEl>
                                      </p:cBhvr>
                                    </p:animEffect>
                                    <p:anim calcmode="lin" valueType="num">
                                      <p:cBhvr>
                                        <p:cTn id="45" dur="1000"/>
                                        <p:tgtEl>
                                          <p:spTgt spid="13"/>
                                        </p:tgtEl>
                                        <p:attrNameLst>
                                          <p:attrName>ppt_x</p:attrName>
                                        </p:attrNameLst>
                                      </p:cBhvr>
                                      <p:tavLst>
                                        <p:tav tm="0">
                                          <p:val>
                                            <p:strVal val="ppt_x"/>
                                          </p:val>
                                        </p:tav>
                                        <p:tav tm="100000">
                                          <p:val>
                                            <p:strVal val="ppt_x"/>
                                          </p:val>
                                        </p:tav>
                                      </p:tavLst>
                                    </p:anim>
                                    <p:anim calcmode="lin" valueType="num">
                                      <p:cBhvr>
                                        <p:cTn id="46" dur="1000"/>
                                        <p:tgtEl>
                                          <p:spTgt spid="13"/>
                                        </p:tgtEl>
                                        <p:attrNameLst>
                                          <p:attrName>ppt_y</p:attrName>
                                        </p:attrNameLst>
                                      </p:cBhvr>
                                      <p:tavLst>
                                        <p:tav tm="0">
                                          <p:val>
                                            <p:strVal val="ppt_y"/>
                                          </p:val>
                                        </p:tav>
                                        <p:tav tm="100000">
                                          <p:val>
                                            <p:strVal val="ppt_y+.1"/>
                                          </p:val>
                                        </p:tav>
                                      </p:tavLst>
                                    </p:anim>
                                    <p:set>
                                      <p:cBhvr>
                                        <p:cTn id="47" dur="1" fill="hold">
                                          <p:stCondLst>
                                            <p:cond delay="999"/>
                                          </p:stCondLst>
                                        </p:cTn>
                                        <p:tgtEl>
                                          <p:spTgt spid="13"/>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42" presetClass="exit" presetSubtype="0" fill="hold" grpId="0" nodeType="clickEffect">
                                  <p:stCondLst>
                                    <p:cond delay="0"/>
                                  </p:stCondLst>
                                  <p:childTnLst>
                                    <p:animEffect transition="out" filter="fade">
                                      <p:cBhvr>
                                        <p:cTn id="51" dur="1000"/>
                                        <p:tgtEl>
                                          <p:spTgt spid="14"/>
                                        </p:tgtEl>
                                      </p:cBhvr>
                                    </p:animEffect>
                                    <p:anim calcmode="lin" valueType="num">
                                      <p:cBhvr>
                                        <p:cTn id="52" dur="1000"/>
                                        <p:tgtEl>
                                          <p:spTgt spid="14"/>
                                        </p:tgtEl>
                                        <p:attrNameLst>
                                          <p:attrName>ppt_x</p:attrName>
                                        </p:attrNameLst>
                                      </p:cBhvr>
                                      <p:tavLst>
                                        <p:tav tm="0">
                                          <p:val>
                                            <p:strVal val="ppt_x"/>
                                          </p:val>
                                        </p:tav>
                                        <p:tav tm="100000">
                                          <p:val>
                                            <p:strVal val="ppt_x"/>
                                          </p:val>
                                        </p:tav>
                                      </p:tavLst>
                                    </p:anim>
                                    <p:anim calcmode="lin" valueType="num">
                                      <p:cBhvr>
                                        <p:cTn id="53" dur="1000"/>
                                        <p:tgtEl>
                                          <p:spTgt spid="14"/>
                                        </p:tgtEl>
                                        <p:attrNameLst>
                                          <p:attrName>ppt_y</p:attrName>
                                        </p:attrNameLst>
                                      </p:cBhvr>
                                      <p:tavLst>
                                        <p:tav tm="0">
                                          <p:val>
                                            <p:strVal val="ppt_y"/>
                                          </p:val>
                                        </p:tav>
                                        <p:tav tm="100000">
                                          <p:val>
                                            <p:strVal val="ppt_y+.1"/>
                                          </p:val>
                                        </p:tav>
                                      </p:tavLst>
                                    </p:anim>
                                    <p:set>
                                      <p:cBhvr>
                                        <p:cTn id="54" dur="1" fill="hold">
                                          <p:stCondLst>
                                            <p:cond delay="999"/>
                                          </p:stCondLst>
                                        </p:cTn>
                                        <p:tgtEl>
                                          <p:spTgt spid="14"/>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42" presetClass="exit" presetSubtype="0" fill="hold" grpId="0" nodeType="clickEffect">
                                  <p:stCondLst>
                                    <p:cond delay="0"/>
                                  </p:stCondLst>
                                  <p:childTnLst>
                                    <p:animEffect transition="out" filter="fade">
                                      <p:cBhvr>
                                        <p:cTn id="58" dur="1000"/>
                                        <p:tgtEl>
                                          <p:spTgt spid="22"/>
                                        </p:tgtEl>
                                      </p:cBhvr>
                                    </p:animEffect>
                                    <p:anim calcmode="lin" valueType="num">
                                      <p:cBhvr>
                                        <p:cTn id="59" dur="1000"/>
                                        <p:tgtEl>
                                          <p:spTgt spid="22"/>
                                        </p:tgtEl>
                                        <p:attrNameLst>
                                          <p:attrName>ppt_x</p:attrName>
                                        </p:attrNameLst>
                                      </p:cBhvr>
                                      <p:tavLst>
                                        <p:tav tm="0">
                                          <p:val>
                                            <p:strVal val="ppt_x"/>
                                          </p:val>
                                        </p:tav>
                                        <p:tav tm="100000">
                                          <p:val>
                                            <p:strVal val="ppt_x"/>
                                          </p:val>
                                        </p:tav>
                                      </p:tavLst>
                                    </p:anim>
                                    <p:anim calcmode="lin" valueType="num">
                                      <p:cBhvr>
                                        <p:cTn id="60" dur="1000"/>
                                        <p:tgtEl>
                                          <p:spTgt spid="22"/>
                                        </p:tgtEl>
                                        <p:attrNameLst>
                                          <p:attrName>ppt_y</p:attrName>
                                        </p:attrNameLst>
                                      </p:cBhvr>
                                      <p:tavLst>
                                        <p:tav tm="0">
                                          <p:val>
                                            <p:strVal val="ppt_y"/>
                                          </p:val>
                                        </p:tav>
                                        <p:tav tm="100000">
                                          <p:val>
                                            <p:strVal val="ppt_y+.1"/>
                                          </p:val>
                                        </p:tav>
                                      </p:tavLst>
                                    </p:anim>
                                    <p:set>
                                      <p:cBhvr>
                                        <p:cTn id="61" dur="1" fill="hold">
                                          <p:stCondLst>
                                            <p:cond delay="999"/>
                                          </p:stCondLst>
                                        </p:cTn>
                                        <p:tgtEl>
                                          <p:spTgt spid="22"/>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42" presetClass="exit" presetSubtype="0" fill="hold" grpId="0" nodeType="clickEffect">
                                  <p:stCondLst>
                                    <p:cond delay="0"/>
                                  </p:stCondLst>
                                  <p:childTnLst>
                                    <p:animEffect transition="out" filter="fade">
                                      <p:cBhvr>
                                        <p:cTn id="65" dur="1000"/>
                                        <p:tgtEl>
                                          <p:spTgt spid="19"/>
                                        </p:tgtEl>
                                      </p:cBhvr>
                                    </p:animEffect>
                                    <p:anim calcmode="lin" valueType="num">
                                      <p:cBhvr>
                                        <p:cTn id="66" dur="1000"/>
                                        <p:tgtEl>
                                          <p:spTgt spid="19"/>
                                        </p:tgtEl>
                                        <p:attrNameLst>
                                          <p:attrName>ppt_x</p:attrName>
                                        </p:attrNameLst>
                                      </p:cBhvr>
                                      <p:tavLst>
                                        <p:tav tm="0">
                                          <p:val>
                                            <p:strVal val="ppt_x"/>
                                          </p:val>
                                        </p:tav>
                                        <p:tav tm="100000">
                                          <p:val>
                                            <p:strVal val="ppt_x"/>
                                          </p:val>
                                        </p:tav>
                                      </p:tavLst>
                                    </p:anim>
                                    <p:anim calcmode="lin" valueType="num">
                                      <p:cBhvr>
                                        <p:cTn id="67" dur="1000"/>
                                        <p:tgtEl>
                                          <p:spTgt spid="19"/>
                                        </p:tgtEl>
                                        <p:attrNameLst>
                                          <p:attrName>ppt_y</p:attrName>
                                        </p:attrNameLst>
                                      </p:cBhvr>
                                      <p:tavLst>
                                        <p:tav tm="0">
                                          <p:val>
                                            <p:strVal val="ppt_y"/>
                                          </p:val>
                                        </p:tav>
                                        <p:tav tm="100000">
                                          <p:val>
                                            <p:strVal val="ppt_y+.1"/>
                                          </p:val>
                                        </p:tav>
                                      </p:tavLst>
                                    </p:anim>
                                    <p:set>
                                      <p:cBhvr>
                                        <p:cTn id="68" dur="1" fill="hold">
                                          <p:stCondLst>
                                            <p:cond delay="999"/>
                                          </p:stCondLst>
                                        </p:cTn>
                                        <p:tgtEl>
                                          <p:spTgt spid="19"/>
                                        </p:tgtEl>
                                        <p:attrNameLst>
                                          <p:attrName>style.visibility</p:attrName>
                                        </p:attrNameLst>
                                      </p:cBhvr>
                                      <p:to>
                                        <p:strVal val="hidden"/>
                                      </p:to>
                                    </p:set>
                                  </p:childTnLst>
                                </p:cTn>
                              </p:par>
                              <p:par>
                                <p:cTn id="69" presetID="42" presetClass="exit" presetSubtype="0" fill="hold" grpId="0" nodeType="withEffect">
                                  <p:stCondLst>
                                    <p:cond delay="0"/>
                                  </p:stCondLst>
                                  <p:childTnLst>
                                    <p:animEffect transition="out" filter="fade">
                                      <p:cBhvr>
                                        <p:cTn id="70" dur="1000"/>
                                        <p:tgtEl>
                                          <p:spTgt spid="16"/>
                                        </p:tgtEl>
                                      </p:cBhvr>
                                    </p:animEffect>
                                    <p:anim calcmode="lin" valueType="num">
                                      <p:cBhvr>
                                        <p:cTn id="71" dur="1000"/>
                                        <p:tgtEl>
                                          <p:spTgt spid="16"/>
                                        </p:tgtEl>
                                        <p:attrNameLst>
                                          <p:attrName>ppt_x</p:attrName>
                                        </p:attrNameLst>
                                      </p:cBhvr>
                                      <p:tavLst>
                                        <p:tav tm="0">
                                          <p:val>
                                            <p:strVal val="ppt_x"/>
                                          </p:val>
                                        </p:tav>
                                        <p:tav tm="100000">
                                          <p:val>
                                            <p:strVal val="ppt_x"/>
                                          </p:val>
                                        </p:tav>
                                      </p:tavLst>
                                    </p:anim>
                                    <p:anim calcmode="lin" valueType="num">
                                      <p:cBhvr>
                                        <p:cTn id="72" dur="1000"/>
                                        <p:tgtEl>
                                          <p:spTgt spid="16"/>
                                        </p:tgtEl>
                                        <p:attrNameLst>
                                          <p:attrName>ppt_y</p:attrName>
                                        </p:attrNameLst>
                                      </p:cBhvr>
                                      <p:tavLst>
                                        <p:tav tm="0">
                                          <p:val>
                                            <p:strVal val="ppt_y"/>
                                          </p:val>
                                        </p:tav>
                                        <p:tav tm="100000">
                                          <p:val>
                                            <p:strVal val="ppt_y+.1"/>
                                          </p:val>
                                        </p:tav>
                                      </p:tavLst>
                                    </p:anim>
                                    <p:set>
                                      <p:cBhvr>
                                        <p:cTn id="73" dur="1" fill="hold">
                                          <p:stCondLst>
                                            <p:cond delay="999"/>
                                          </p:stCondLst>
                                        </p:cTn>
                                        <p:tgtEl>
                                          <p:spTgt spid="16"/>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42" presetClass="exit" presetSubtype="0" fill="hold" grpId="0" nodeType="clickEffect">
                                  <p:stCondLst>
                                    <p:cond delay="0"/>
                                  </p:stCondLst>
                                  <p:childTnLst>
                                    <p:animEffect transition="out" filter="fade">
                                      <p:cBhvr>
                                        <p:cTn id="77" dur="1000"/>
                                        <p:tgtEl>
                                          <p:spTgt spid="17"/>
                                        </p:tgtEl>
                                      </p:cBhvr>
                                    </p:animEffect>
                                    <p:anim calcmode="lin" valueType="num">
                                      <p:cBhvr>
                                        <p:cTn id="78" dur="1000"/>
                                        <p:tgtEl>
                                          <p:spTgt spid="17"/>
                                        </p:tgtEl>
                                        <p:attrNameLst>
                                          <p:attrName>ppt_x</p:attrName>
                                        </p:attrNameLst>
                                      </p:cBhvr>
                                      <p:tavLst>
                                        <p:tav tm="0">
                                          <p:val>
                                            <p:strVal val="ppt_x"/>
                                          </p:val>
                                        </p:tav>
                                        <p:tav tm="100000">
                                          <p:val>
                                            <p:strVal val="ppt_x"/>
                                          </p:val>
                                        </p:tav>
                                      </p:tavLst>
                                    </p:anim>
                                    <p:anim calcmode="lin" valueType="num">
                                      <p:cBhvr>
                                        <p:cTn id="79" dur="1000"/>
                                        <p:tgtEl>
                                          <p:spTgt spid="17"/>
                                        </p:tgtEl>
                                        <p:attrNameLst>
                                          <p:attrName>ppt_y</p:attrName>
                                        </p:attrNameLst>
                                      </p:cBhvr>
                                      <p:tavLst>
                                        <p:tav tm="0">
                                          <p:val>
                                            <p:strVal val="ppt_y"/>
                                          </p:val>
                                        </p:tav>
                                        <p:tav tm="100000">
                                          <p:val>
                                            <p:strVal val="ppt_y+.1"/>
                                          </p:val>
                                        </p:tav>
                                      </p:tavLst>
                                    </p:anim>
                                    <p:set>
                                      <p:cBhvr>
                                        <p:cTn id="80" dur="1" fill="hold">
                                          <p:stCondLst>
                                            <p:cond delay="999"/>
                                          </p:stCondLst>
                                        </p:cTn>
                                        <p:tgtEl>
                                          <p:spTgt spid="17"/>
                                        </p:tgtEl>
                                        <p:attrNameLst>
                                          <p:attrName>style.visibility</p:attrName>
                                        </p:attrNameLst>
                                      </p:cBhvr>
                                      <p:to>
                                        <p:strVal val="hidden"/>
                                      </p:to>
                                    </p:set>
                                  </p:childTnLst>
                                </p:cTn>
                              </p:par>
                              <p:par>
                                <p:cTn id="81" presetID="42" presetClass="exit" presetSubtype="0" fill="hold" grpId="0" nodeType="withEffect">
                                  <p:stCondLst>
                                    <p:cond delay="0"/>
                                  </p:stCondLst>
                                  <p:childTnLst>
                                    <p:animEffect transition="out" filter="fade">
                                      <p:cBhvr>
                                        <p:cTn id="82" dur="1000"/>
                                        <p:tgtEl>
                                          <p:spTgt spid="18"/>
                                        </p:tgtEl>
                                      </p:cBhvr>
                                    </p:animEffect>
                                    <p:anim calcmode="lin" valueType="num">
                                      <p:cBhvr>
                                        <p:cTn id="83" dur="1000"/>
                                        <p:tgtEl>
                                          <p:spTgt spid="18"/>
                                        </p:tgtEl>
                                        <p:attrNameLst>
                                          <p:attrName>ppt_x</p:attrName>
                                        </p:attrNameLst>
                                      </p:cBhvr>
                                      <p:tavLst>
                                        <p:tav tm="0">
                                          <p:val>
                                            <p:strVal val="ppt_x"/>
                                          </p:val>
                                        </p:tav>
                                        <p:tav tm="100000">
                                          <p:val>
                                            <p:strVal val="ppt_x"/>
                                          </p:val>
                                        </p:tav>
                                      </p:tavLst>
                                    </p:anim>
                                    <p:anim calcmode="lin" valueType="num">
                                      <p:cBhvr>
                                        <p:cTn id="84" dur="1000"/>
                                        <p:tgtEl>
                                          <p:spTgt spid="18"/>
                                        </p:tgtEl>
                                        <p:attrNameLst>
                                          <p:attrName>ppt_y</p:attrName>
                                        </p:attrNameLst>
                                      </p:cBhvr>
                                      <p:tavLst>
                                        <p:tav tm="0">
                                          <p:val>
                                            <p:strVal val="ppt_y"/>
                                          </p:val>
                                        </p:tav>
                                        <p:tav tm="100000">
                                          <p:val>
                                            <p:strVal val="ppt_y+.1"/>
                                          </p:val>
                                        </p:tav>
                                      </p:tavLst>
                                    </p:anim>
                                    <p:set>
                                      <p:cBhvr>
                                        <p:cTn id="85" dur="1" fill="hold">
                                          <p:stCondLst>
                                            <p:cond delay="999"/>
                                          </p:stCondLst>
                                        </p:cTn>
                                        <p:tgtEl>
                                          <p:spTgt spid="18"/>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42" presetClass="exit" presetSubtype="0" fill="hold" grpId="0" nodeType="clickEffect">
                                  <p:stCondLst>
                                    <p:cond delay="0"/>
                                  </p:stCondLst>
                                  <p:childTnLst>
                                    <p:animEffect transition="out" filter="fade">
                                      <p:cBhvr>
                                        <p:cTn id="89" dur="1000"/>
                                        <p:tgtEl>
                                          <p:spTgt spid="15"/>
                                        </p:tgtEl>
                                      </p:cBhvr>
                                    </p:animEffect>
                                    <p:anim calcmode="lin" valueType="num">
                                      <p:cBhvr>
                                        <p:cTn id="90" dur="1000"/>
                                        <p:tgtEl>
                                          <p:spTgt spid="15"/>
                                        </p:tgtEl>
                                        <p:attrNameLst>
                                          <p:attrName>ppt_x</p:attrName>
                                        </p:attrNameLst>
                                      </p:cBhvr>
                                      <p:tavLst>
                                        <p:tav tm="0">
                                          <p:val>
                                            <p:strVal val="ppt_x"/>
                                          </p:val>
                                        </p:tav>
                                        <p:tav tm="100000">
                                          <p:val>
                                            <p:strVal val="ppt_x"/>
                                          </p:val>
                                        </p:tav>
                                      </p:tavLst>
                                    </p:anim>
                                    <p:anim calcmode="lin" valueType="num">
                                      <p:cBhvr>
                                        <p:cTn id="91" dur="1000"/>
                                        <p:tgtEl>
                                          <p:spTgt spid="15"/>
                                        </p:tgtEl>
                                        <p:attrNameLst>
                                          <p:attrName>ppt_y</p:attrName>
                                        </p:attrNameLst>
                                      </p:cBhvr>
                                      <p:tavLst>
                                        <p:tav tm="0">
                                          <p:val>
                                            <p:strVal val="ppt_y"/>
                                          </p:val>
                                        </p:tav>
                                        <p:tav tm="100000">
                                          <p:val>
                                            <p:strVal val="ppt_y+.1"/>
                                          </p:val>
                                        </p:tav>
                                      </p:tavLst>
                                    </p:anim>
                                    <p:set>
                                      <p:cBhvr>
                                        <p:cTn id="92" dur="1" fill="hold">
                                          <p:stCondLst>
                                            <p:cond delay="999"/>
                                          </p:stCondLst>
                                        </p:cTn>
                                        <p:tgtEl>
                                          <p:spTgt spid="15"/>
                                        </p:tgtEl>
                                        <p:attrNameLst>
                                          <p:attrName>style.visibility</p:attrName>
                                        </p:attrNameLst>
                                      </p:cBhvr>
                                      <p:to>
                                        <p:strVal val="hidden"/>
                                      </p:to>
                                    </p:set>
                                  </p:childTnLst>
                                </p:cTn>
                              </p:par>
                              <p:par>
                                <p:cTn id="93" presetID="42" presetClass="exit" presetSubtype="0" fill="hold" grpId="0" nodeType="withEffect">
                                  <p:stCondLst>
                                    <p:cond delay="0"/>
                                  </p:stCondLst>
                                  <p:childTnLst>
                                    <p:animEffect transition="out" filter="fade">
                                      <p:cBhvr>
                                        <p:cTn id="94" dur="1000"/>
                                        <p:tgtEl>
                                          <p:spTgt spid="23"/>
                                        </p:tgtEl>
                                      </p:cBhvr>
                                    </p:animEffect>
                                    <p:anim calcmode="lin" valueType="num">
                                      <p:cBhvr>
                                        <p:cTn id="95" dur="1000"/>
                                        <p:tgtEl>
                                          <p:spTgt spid="23"/>
                                        </p:tgtEl>
                                        <p:attrNameLst>
                                          <p:attrName>ppt_x</p:attrName>
                                        </p:attrNameLst>
                                      </p:cBhvr>
                                      <p:tavLst>
                                        <p:tav tm="0">
                                          <p:val>
                                            <p:strVal val="ppt_x"/>
                                          </p:val>
                                        </p:tav>
                                        <p:tav tm="100000">
                                          <p:val>
                                            <p:strVal val="ppt_x"/>
                                          </p:val>
                                        </p:tav>
                                      </p:tavLst>
                                    </p:anim>
                                    <p:anim calcmode="lin" valueType="num">
                                      <p:cBhvr>
                                        <p:cTn id="96" dur="1000"/>
                                        <p:tgtEl>
                                          <p:spTgt spid="23"/>
                                        </p:tgtEl>
                                        <p:attrNameLst>
                                          <p:attrName>ppt_y</p:attrName>
                                        </p:attrNameLst>
                                      </p:cBhvr>
                                      <p:tavLst>
                                        <p:tav tm="0">
                                          <p:val>
                                            <p:strVal val="ppt_y"/>
                                          </p:val>
                                        </p:tav>
                                        <p:tav tm="100000">
                                          <p:val>
                                            <p:strVal val="ppt_y+.1"/>
                                          </p:val>
                                        </p:tav>
                                      </p:tavLst>
                                    </p:anim>
                                    <p:set>
                                      <p:cBhvr>
                                        <p:cTn id="97" dur="1" fill="hold">
                                          <p:stCondLst>
                                            <p:cond delay="999"/>
                                          </p:stCondLst>
                                        </p:cTn>
                                        <p:tgtEl>
                                          <p:spTgt spid="23"/>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42" presetClass="exit" presetSubtype="0" fill="hold" grpId="0" nodeType="clickEffect">
                                  <p:stCondLst>
                                    <p:cond delay="0"/>
                                  </p:stCondLst>
                                  <p:childTnLst>
                                    <p:animEffect transition="out" filter="fade">
                                      <p:cBhvr>
                                        <p:cTn id="101" dur="1000"/>
                                        <p:tgtEl>
                                          <p:spTgt spid="21"/>
                                        </p:tgtEl>
                                      </p:cBhvr>
                                    </p:animEffect>
                                    <p:anim calcmode="lin" valueType="num">
                                      <p:cBhvr>
                                        <p:cTn id="102" dur="1000"/>
                                        <p:tgtEl>
                                          <p:spTgt spid="21"/>
                                        </p:tgtEl>
                                        <p:attrNameLst>
                                          <p:attrName>ppt_x</p:attrName>
                                        </p:attrNameLst>
                                      </p:cBhvr>
                                      <p:tavLst>
                                        <p:tav tm="0">
                                          <p:val>
                                            <p:strVal val="ppt_x"/>
                                          </p:val>
                                        </p:tav>
                                        <p:tav tm="100000">
                                          <p:val>
                                            <p:strVal val="ppt_x"/>
                                          </p:val>
                                        </p:tav>
                                      </p:tavLst>
                                    </p:anim>
                                    <p:anim calcmode="lin" valueType="num">
                                      <p:cBhvr>
                                        <p:cTn id="103" dur="1000"/>
                                        <p:tgtEl>
                                          <p:spTgt spid="21"/>
                                        </p:tgtEl>
                                        <p:attrNameLst>
                                          <p:attrName>ppt_y</p:attrName>
                                        </p:attrNameLst>
                                      </p:cBhvr>
                                      <p:tavLst>
                                        <p:tav tm="0">
                                          <p:val>
                                            <p:strVal val="ppt_y"/>
                                          </p:val>
                                        </p:tav>
                                        <p:tav tm="100000">
                                          <p:val>
                                            <p:strVal val="ppt_y+.1"/>
                                          </p:val>
                                        </p:tav>
                                      </p:tavLst>
                                    </p:anim>
                                    <p:set>
                                      <p:cBhvr>
                                        <p:cTn id="104" dur="1" fill="hold">
                                          <p:stCondLst>
                                            <p:cond delay="9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P spid="22" grpId="0" animBg="1"/>
      <p:bldP spid="2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C2053-EFBD-7E29-6B78-2EE135DCE7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805C26-FCB0-381E-C441-8B9A5D89EE5F}"/>
              </a:ext>
            </a:extLst>
          </p:cNvPr>
          <p:cNvSpPr txBox="1"/>
          <p:nvPr/>
        </p:nvSpPr>
        <p:spPr>
          <a:xfrm>
            <a:off x="83126" y="83807"/>
            <a:ext cx="7938655" cy="3877985"/>
          </a:xfrm>
          <a:prstGeom prst="rect">
            <a:avLst/>
          </a:prstGeom>
          <a:noFill/>
        </p:spPr>
        <p:txBody>
          <a:bodyPr wrap="square">
            <a:spAutoFit/>
          </a:bodyPr>
          <a:lstStyle/>
          <a:p>
            <a:pPr marL="0" marR="0" indent="0" algn="l">
              <a:lnSpc>
                <a:spcPct val="100000"/>
              </a:lnSpc>
              <a:spcBef>
                <a:spcPts val="2400"/>
              </a:spcBef>
              <a:spcAft>
                <a:spcPts val="1200"/>
              </a:spcAft>
              <a:buNone/>
            </a:pPr>
            <a:r>
              <a:rPr lang="en-ZA" sz="2400" b="1" dirty="0">
                <a:solidFill>
                  <a:schemeClr val="accent1"/>
                </a:solidFill>
                <a:effectLst/>
                <a:latin typeface="+mn-lt"/>
              </a:rPr>
              <a:t>TASK: Design a Task Flow for "Book a Service" Process</a:t>
            </a:r>
          </a:p>
          <a:p>
            <a:pPr marL="0" marR="0" indent="0" algn="l">
              <a:spcBef>
                <a:spcPts val="1200"/>
              </a:spcBef>
              <a:spcAft>
                <a:spcPts val="1200"/>
              </a:spcAft>
              <a:buNone/>
            </a:pPr>
            <a:r>
              <a:rPr lang="en-ZA" sz="1800" b="1" i="0" dirty="0">
                <a:solidFill>
                  <a:srgbClr val="E23ACE"/>
                </a:solidFill>
                <a:effectLst/>
                <a:latin typeface="+mn-lt"/>
              </a:rPr>
              <a:t>Background:</a:t>
            </a:r>
            <a:r>
              <a:rPr lang="en-ZA" dirty="0">
                <a:solidFill>
                  <a:srgbClr val="E23ACE"/>
                </a:solidFill>
              </a:rPr>
              <a:t> </a:t>
            </a:r>
            <a:r>
              <a:rPr lang="en-ZA" sz="1800" b="0" i="0" dirty="0">
                <a:solidFill>
                  <a:schemeClr val="tx1"/>
                </a:solidFill>
                <a:effectLst/>
                <a:latin typeface="+mn-lt"/>
              </a:rPr>
              <a:t>You are the UX designer for </a:t>
            </a:r>
            <a:r>
              <a:rPr lang="en-ZA" sz="1800" b="1" i="0" dirty="0">
                <a:solidFill>
                  <a:schemeClr val="tx1"/>
                </a:solidFill>
                <a:effectLst/>
                <a:latin typeface="+mn-lt"/>
              </a:rPr>
              <a:t>"</a:t>
            </a:r>
            <a:r>
              <a:rPr lang="en-ZA" sz="1800" b="1" i="0" dirty="0" err="1">
                <a:solidFill>
                  <a:schemeClr val="tx1"/>
                </a:solidFill>
                <a:effectLst/>
                <a:latin typeface="+mn-lt"/>
              </a:rPr>
              <a:t>PetPals</a:t>
            </a:r>
            <a:r>
              <a:rPr lang="en-ZA" sz="1800" b="1" i="0" dirty="0">
                <a:solidFill>
                  <a:schemeClr val="tx1"/>
                </a:solidFill>
                <a:effectLst/>
                <a:latin typeface="+mn-lt"/>
              </a:rPr>
              <a:t>"</a:t>
            </a:r>
            <a:r>
              <a:rPr lang="en-ZA" sz="1800" b="0" i="0" dirty="0">
                <a:solidFill>
                  <a:schemeClr val="tx1"/>
                </a:solidFill>
                <a:effectLst/>
                <a:latin typeface="+mn-lt"/>
              </a:rPr>
              <a:t> – a new mobile app that connects pet owners with local pet sitters and dog walkers. The business owner wants to understand how customers will book a service through the app. </a:t>
            </a:r>
          </a:p>
          <a:p>
            <a:pPr marL="0" marR="0" indent="0" algn="l">
              <a:spcBef>
                <a:spcPts val="1200"/>
              </a:spcBef>
              <a:spcAft>
                <a:spcPts val="1200"/>
              </a:spcAft>
              <a:buNone/>
            </a:pPr>
            <a:r>
              <a:rPr lang="en-ZA" sz="1800" b="0" i="0" dirty="0">
                <a:solidFill>
                  <a:schemeClr val="tx1"/>
                </a:solidFill>
                <a:effectLst/>
                <a:latin typeface="+mn-lt"/>
              </a:rPr>
              <a:t>You need to create a </a:t>
            </a:r>
            <a:r>
              <a:rPr lang="en-ZA" sz="1800" b="0" i="0" dirty="0">
                <a:solidFill>
                  <a:srgbClr val="7030A0"/>
                </a:solidFill>
                <a:effectLst/>
                <a:latin typeface="+mn-lt"/>
              </a:rPr>
              <a:t>task flow </a:t>
            </a:r>
            <a:r>
              <a:rPr lang="en-ZA" sz="1800" b="0" i="0" dirty="0">
                <a:solidFill>
                  <a:schemeClr val="tx1"/>
                </a:solidFill>
                <a:effectLst/>
                <a:latin typeface="+mn-lt"/>
              </a:rPr>
              <a:t>that visually explains this process to the business owner.</a:t>
            </a:r>
          </a:p>
          <a:p>
            <a:pPr>
              <a:buNone/>
            </a:pPr>
            <a:r>
              <a:rPr lang="en-ZA" sz="1800" b="1" dirty="0">
                <a:solidFill>
                  <a:srgbClr val="E23ACE"/>
                </a:solidFill>
                <a:effectLst/>
                <a:latin typeface="+mn-lt"/>
              </a:rPr>
              <a:t>Instructions:</a:t>
            </a:r>
          </a:p>
          <a:p>
            <a:pPr marL="0" marR="0" indent="0" algn="l">
              <a:spcBef>
                <a:spcPts val="1200"/>
              </a:spcBef>
              <a:spcAft>
                <a:spcPts val="1200"/>
              </a:spcAft>
              <a:buNone/>
            </a:pPr>
            <a:r>
              <a:rPr lang="en-ZA" sz="1800" b="0" i="0" dirty="0">
                <a:solidFill>
                  <a:schemeClr val="tx1"/>
                </a:solidFill>
                <a:effectLst/>
                <a:latin typeface="+mn-lt"/>
              </a:rPr>
              <a:t>Draw up a </a:t>
            </a:r>
            <a:r>
              <a:rPr lang="en-ZA" sz="1800" b="1" i="0" dirty="0">
                <a:solidFill>
                  <a:schemeClr val="tx1"/>
                </a:solidFill>
                <a:effectLst/>
                <a:latin typeface="+mn-lt"/>
              </a:rPr>
              <a:t>task flow</a:t>
            </a:r>
            <a:r>
              <a:rPr lang="en-ZA" sz="1800" b="0" i="0" dirty="0">
                <a:solidFill>
                  <a:schemeClr val="tx1"/>
                </a:solidFill>
                <a:effectLst/>
                <a:latin typeface="+mn-lt"/>
              </a:rPr>
              <a:t> of the </a:t>
            </a:r>
            <a:r>
              <a:rPr lang="en-ZA" sz="1800" b="1" i="0" dirty="0">
                <a:solidFill>
                  <a:schemeClr val="tx1"/>
                </a:solidFill>
                <a:effectLst/>
                <a:latin typeface="+mn-lt"/>
              </a:rPr>
              <a:t>'Book a Service'</a:t>
            </a:r>
            <a:r>
              <a:rPr lang="en-ZA" sz="1800" b="0" i="0" dirty="0">
                <a:solidFill>
                  <a:schemeClr val="tx1"/>
                </a:solidFill>
                <a:effectLst/>
                <a:latin typeface="+mn-lt"/>
              </a:rPr>
              <a:t> process to explain to the business owner. Clearly label each step so that the business owner will easily understand what is supposed to happen at each step.</a:t>
            </a:r>
            <a:endParaRPr lang="en-ZA" sz="1200" b="0" i="0" dirty="0">
              <a:solidFill>
                <a:srgbClr val="0F1115"/>
              </a:solidFill>
              <a:effectLst/>
              <a:latin typeface="quote-cjk-patch"/>
            </a:endParaRPr>
          </a:p>
        </p:txBody>
      </p:sp>
      <p:graphicFrame>
        <p:nvGraphicFramePr>
          <p:cNvPr id="5" name="Table 4">
            <a:extLst>
              <a:ext uri="{FF2B5EF4-FFF2-40B4-BE49-F238E27FC236}">
                <a16:creationId xmlns:a16="http://schemas.microsoft.com/office/drawing/2014/main" id="{74257C36-3C85-22B4-8DEC-B615BE6BAE3B}"/>
              </a:ext>
            </a:extLst>
          </p:cNvPr>
          <p:cNvGraphicFramePr>
            <a:graphicFrameLocks noGrp="1"/>
          </p:cNvGraphicFramePr>
          <p:nvPr>
            <p:extLst>
              <p:ext uri="{D42A27DB-BD31-4B8C-83A1-F6EECF244321}">
                <p14:modId xmlns:p14="http://schemas.microsoft.com/office/powerpoint/2010/main" val="3615780808"/>
              </p:ext>
            </p:extLst>
          </p:nvPr>
        </p:nvGraphicFramePr>
        <p:xfrm>
          <a:off x="4481869" y="4217033"/>
          <a:ext cx="4232640" cy="2494727"/>
        </p:xfrm>
        <a:graphic>
          <a:graphicData uri="http://schemas.openxmlformats.org/drawingml/2006/table">
            <a:tbl>
              <a:tblPr>
                <a:tableStyleId>{5C22544A-7EE6-4342-B048-85BDC9FD1C3A}</a:tableStyleId>
              </a:tblPr>
              <a:tblGrid>
                <a:gridCol w="976822">
                  <a:extLst>
                    <a:ext uri="{9D8B030D-6E8A-4147-A177-3AD203B41FA5}">
                      <a16:colId xmlns:a16="http://schemas.microsoft.com/office/drawing/2014/main" val="2287389761"/>
                    </a:ext>
                  </a:extLst>
                </a:gridCol>
                <a:gridCol w="3255818">
                  <a:extLst>
                    <a:ext uri="{9D8B030D-6E8A-4147-A177-3AD203B41FA5}">
                      <a16:colId xmlns:a16="http://schemas.microsoft.com/office/drawing/2014/main" val="936773873"/>
                    </a:ext>
                  </a:extLst>
                </a:gridCol>
              </a:tblGrid>
              <a:tr h="0">
                <a:tc>
                  <a:txBody>
                    <a:bodyPr/>
                    <a:lstStyle/>
                    <a:p>
                      <a:pPr algn="ctr">
                        <a:lnSpc>
                          <a:spcPct val="138889"/>
                        </a:lnSpc>
                        <a:buNone/>
                      </a:pPr>
                      <a:r>
                        <a:rPr lang="en-ZA" sz="1400" b="1">
                          <a:solidFill>
                            <a:srgbClr val="008EC0"/>
                          </a:solidFill>
                          <a:effectLst/>
                        </a:rPr>
                        <a:t>Shape</a:t>
                      </a:r>
                      <a:endParaRPr lang="en-ZA" sz="1400" b="1">
                        <a:solidFill>
                          <a:srgbClr val="008EC0"/>
                        </a:solidFill>
                        <a:effectLst/>
                        <a:latin typeface="quote-cjk-patch"/>
                      </a:endParaRPr>
                    </a:p>
                  </a:txBody>
                  <a:tcPr marR="152400" marT="95250" marB="95250" anchor="ctr"/>
                </a:tc>
                <a:tc>
                  <a:txBody>
                    <a:bodyPr/>
                    <a:lstStyle/>
                    <a:p>
                      <a:pPr algn="ctr">
                        <a:lnSpc>
                          <a:spcPct val="138889"/>
                        </a:lnSpc>
                        <a:buNone/>
                      </a:pPr>
                      <a:r>
                        <a:rPr lang="en-ZA" sz="1400" b="1" dirty="0">
                          <a:solidFill>
                            <a:srgbClr val="008EC0"/>
                          </a:solidFill>
                          <a:effectLst/>
                        </a:rPr>
                        <a:t>Represents</a:t>
                      </a:r>
                      <a:endParaRPr lang="en-ZA" sz="1400" b="1" dirty="0">
                        <a:solidFill>
                          <a:srgbClr val="008EC0"/>
                        </a:solidFill>
                        <a:effectLst/>
                        <a:latin typeface="quote-cjk-patch"/>
                      </a:endParaRPr>
                    </a:p>
                  </a:txBody>
                  <a:tcPr marL="152400" marR="152400" marT="95250" marB="95250" anchor="ctr"/>
                </a:tc>
                <a:extLst>
                  <a:ext uri="{0D108BD9-81ED-4DB2-BD59-A6C34878D82A}">
                    <a16:rowId xmlns:a16="http://schemas.microsoft.com/office/drawing/2014/main" val="4014837476"/>
                  </a:ext>
                </a:extLst>
              </a:tr>
              <a:tr h="0">
                <a:tc>
                  <a:txBody>
                    <a:bodyPr/>
                    <a:lstStyle/>
                    <a:p>
                      <a:pPr>
                        <a:lnSpc>
                          <a:spcPct val="138889"/>
                        </a:lnSpc>
                        <a:buNone/>
                      </a:pPr>
                      <a:r>
                        <a:rPr lang="en-ZA" sz="1125" b="1">
                          <a:solidFill>
                            <a:srgbClr val="E23ACE"/>
                          </a:solidFill>
                          <a:effectLst/>
                        </a:rPr>
                        <a:t>Circles</a:t>
                      </a:r>
                      <a:endParaRPr lang="en-ZA" sz="1125" b="1">
                        <a:solidFill>
                          <a:srgbClr val="E23ACE"/>
                        </a:solidFill>
                        <a:effectLst/>
                        <a:latin typeface="quote-cjk-patch"/>
                      </a:endParaRPr>
                    </a:p>
                  </a:txBody>
                  <a:tcPr marR="152400" marT="95250" marB="95250" anchor="ctr"/>
                </a:tc>
                <a:tc>
                  <a:txBody>
                    <a:bodyPr/>
                    <a:lstStyle/>
                    <a:p>
                      <a:pPr>
                        <a:lnSpc>
                          <a:spcPct val="138889"/>
                        </a:lnSpc>
                        <a:buNone/>
                      </a:pPr>
                      <a:r>
                        <a:rPr lang="en-ZA" sz="1125">
                          <a:effectLst/>
                        </a:rPr>
                        <a:t>Actions by the customer</a:t>
                      </a:r>
                      <a:endParaRPr lang="en-ZA" sz="1125" b="0">
                        <a:effectLst/>
                        <a:latin typeface="quote-cjk-patch"/>
                      </a:endParaRPr>
                    </a:p>
                  </a:txBody>
                  <a:tcPr marL="152400" marT="95250" marB="95250" anchor="ctr"/>
                </a:tc>
                <a:extLst>
                  <a:ext uri="{0D108BD9-81ED-4DB2-BD59-A6C34878D82A}">
                    <a16:rowId xmlns:a16="http://schemas.microsoft.com/office/drawing/2014/main" val="851367040"/>
                  </a:ext>
                </a:extLst>
              </a:tr>
              <a:tr h="0">
                <a:tc>
                  <a:txBody>
                    <a:bodyPr/>
                    <a:lstStyle/>
                    <a:p>
                      <a:pPr>
                        <a:lnSpc>
                          <a:spcPct val="138889"/>
                        </a:lnSpc>
                        <a:buNone/>
                      </a:pPr>
                      <a:r>
                        <a:rPr lang="en-ZA" sz="1125" b="1">
                          <a:solidFill>
                            <a:srgbClr val="E23ACE"/>
                          </a:solidFill>
                          <a:effectLst/>
                        </a:rPr>
                        <a:t>Rectangles</a:t>
                      </a:r>
                      <a:endParaRPr lang="en-ZA" sz="1125" b="1">
                        <a:solidFill>
                          <a:srgbClr val="E23ACE"/>
                        </a:solidFill>
                        <a:effectLst/>
                        <a:latin typeface="quote-cjk-patch"/>
                      </a:endParaRPr>
                    </a:p>
                  </a:txBody>
                  <a:tcPr marR="152400" marT="95250" marB="95250" anchor="ctr"/>
                </a:tc>
                <a:tc>
                  <a:txBody>
                    <a:bodyPr/>
                    <a:lstStyle/>
                    <a:p>
                      <a:pPr>
                        <a:lnSpc>
                          <a:spcPct val="138889"/>
                        </a:lnSpc>
                        <a:buNone/>
                      </a:pPr>
                      <a:r>
                        <a:rPr lang="en-ZA" sz="1125">
                          <a:effectLst/>
                        </a:rPr>
                        <a:t>What is displayed on the screen after an action</a:t>
                      </a:r>
                      <a:endParaRPr lang="en-ZA" sz="1125" b="0">
                        <a:effectLst/>
                        <a:latin typeface="quote-cjk-patch"/>
                      </a:endParaRPr>
                    </a:p>
                  </a:txBody>
                  <a:tcPr marL="152400" marT="95250" marB="95250" anchor="ctr"/>
                </a:tc>
                <a:extLst>
                  <a:ext uri="{0D108BD9-81ED-4DB2-BD59-A6C34878D82A}">
                    <a16:rowId xmlns:a16="http://schemas.microsoft.com/office/drawing/2014/main" val="3551214609"/>
                  </a:ext>
                </a:extLst>
              </a:tr>
              <a:tr h="0">
                <a:tc>
                  <a:txBody>
                    <a:bodyPr/>
                    <a:lstStyle/>
                    <a:p>
                      <a:pPr>
                        <a:lnSpc>
                          <a:spcPct val="138889"/>
                        </a:lnSpc>
                        <a:buNone/>
                      </a:pPr>
                      <a:r>
                        <a:rPr lang="en-ZA" sz="1125" b="1">
                          <a:solidFill>
                            <a:srgbClr val="E23ACE"/>
                          </a:solidFill>
                          <a:effectLst/>
                        </a:rPr>
                        <a:t>Diamonds</a:t>
                      </a:r>
                      <a:endParaRPr lang="en-ZA" sz="1125" b="1">
                        <a:solidFill>
                          <a:srgbClr val="E23ACE"/>
                        </a:solidFill>
                        <a:effectLst/>
                        <a:latin typeface="quote-cjk-patch"/>
                      </a:endParaRPr>
                    </a:p>
                  </a:txBody>
                  <a:tcPr marR="152400" marT="95250" marB="95250" anchor="ctr"/>
                </a:tc>
                <a:tc>
                  <a:txBody>
                    <a:bodyPr/>
                    <a:lstStyle/>
                    <a:p>
                      <a:pPr>
                        <a:lnSpc>
                          <a:spcPct val="138889"/>
                        </a:lnSpc>
                        <a:buNone/>
                      </a:pPr>
                      <a:r>
                        <a:rPr lang="en-ZA" sz="1125">
                          <a:effectLst/>
                        </a:rPr>
                        <a:t>Points where the customer must make a decision</a:t>
                      </a:r>
                      <a:endParaRPr lang="en-ZA" sz="1125" b="0">
                        <a:effectLst/>
                        <a:latin typeface="quote-cjk-patch"/>
                      </a:endParaRPr>
                    </a:p>
                  </a:txBody>
                  <a:tcPr marL="152400" marT="95250" marB="95250" anchor="ctr"/>
                </a:tc>
                <a:extLst>
                  <a:ext uri="{0D108BD9-81ED-4DB2-BD59-A6C34878D82A}">
                    <a16:rowId xmlns:a16="http://schemas.microsoft.com/office/drawing/2014/main" val="1750660281"/>
                  </a:ext>
                </a:extLst>
              </a:tr>
              <a:tr h="0">
                <a:tc>
                  <a:txBody>
                    <a:bodyPr/>
                    <a:lstStyle/>
                    <a:p>
                      <a:pPr>
                        <a:lnSpc>
                          <a:spcPct val="138889"/>
                        </a:lnSpc>
                        <a:buNone/>
                      </a:pPr>
                      <a:r>
                        <a:rPr lang="en-ZA" sz="1125" b="1">
                          <a:solidFill>
                            <a:srgbClr val="E23ACE"/>
                          </a:solidFill>
                          <a:effectLst/>
                        </a:rPr>
                        <a:t>Octagons</a:t>
                      </a:r>
                      <a:endParaRPr lang="en-ZA" sz="1125" b="1">
                        <a:solidFill>
                          <a:srgbClr val="E23ACE"/>
                        </a:solidFill>
                        <a:effectLst/>
                        <a:latin typeface="quote-cjk-patch"/>
                      </a:endParaRPr>
                    </a:p>
                  </a:txBody>
                  <a:tcPr marR="152400" marT="95250" marB="95250" anchor="ctr"/>
                </a:tc>
                <a:tc>
                  <a:txBody>
                    <a:bodyPr/>
                    <a:lstStyle/>
                    <a:p>
                      <a:pPr>
                        <a:lnSpc>
                          <a:spcPct val="138889"/>
                        </a:lnSpc>
                        <a:buNone/>
                      </a:pPr>
                      <a:r>
                        <a:rPr lang="en-ZA" sz="1125">
                          <a:effectLst/>
                        </a:rPr>
                        <a:t>Points where the customer will receive feedback</a:t>
                      </a:r>
                      <a:endParaRPr lang="en-ZA" sz="1125" b="0">
                        <a:effectLst/>
                        <a:latin typeface="quote-cjk-patch"/>
                      </a:endParaRPr>
                    </a:p>
                  </a:txBody>
                  <a:tcPr marL="152400" marT="95250" marB="95250" anchor="ctr"/>
                </a:tc>
                <a:extLst>
                  <a:ext uri="{0D108BD9-81ED-4DB2-BD59-A6C34878D82A}">
                    <a16:rowId xmlns:a16="http://schemas.microsoft.com/office/drawing/2014/main" val="1626691611"/>
                  </a:ext>
                </a:extLst>
              </a:tr>
              <a:tr h="0">
                <a:tc>
                  <a:txBody>
                    <a:bodyPr/>
                    <a:lstStyle/>
                    <a:p>
                      <a:pPr>
                        <a:lnSpc>
                          <a:spcPct val="138889"/>
                        </a:lnSpc>
                        <a:buNone/>
                      </a:pPr>
                      <a:r>
                        <a:rPr lang="en-ZA" sz="1125" b="1" dirty="0">
                          <a:solidFill>
                            <a:srgbClr val="E23ACE"/>
                          </a:solidFill>
                          <a:effectLst/>
                        </a:rPr>
                        <a:t>Arrows</a:t>
                      </a:r>
                      <a:endParaRPr lang="en-ZA" sz="1125" b="1" dirty="0">
                        <a:solidFill>
                          <a:srgbClr val="E23ACE"/>
                        </a:solidFill>
                        <a:effectLst/>
                        <a:latin typeface="quote-cjk-patch"/>
                      </a:endParaRPr>
                    </a:p>
                  </a:txBody>
                  <a:tcPr marR="152400" marT="95250" marB="95250" anchor="ctr"/>
                </a:tc>
                <a:tc>
                  <a:txBody>
                    <a:bodyPr/>
                    <a:lstStyle/>
                    <a:p>
                      <a:pPr>
                        <a:lnSpc>
                          <a:spcPct val="138889"/>
                        </a:lnSpc>
                        <a:buNone/>
                      </a:pPr>
                      <a:r>
                        <a:rPr lang="en-ZA" sz="1125" dirty="0">
                          <a:effectLst/>
                        </a:rPr>
                        <a:t>Direction of the task flow from step to step</a:t>
                      </a:r>
                      <a:endParaRPr lang="en-ZA" sz="1125" b="0" dirty="0">
                        <a:effectLst/>
                        <a:latin typeface="quote-cjk-patch"/>
                      </a:endParaRPr>
                    </a:p>
                  </a:txBody>
                  <a:tcPr marL="152400" marT="95250" marB="95250" anchor="ctr"/>
                </a:tc>
                <a:extLst>
                  <a:ext uri="{0D108BD9-81ED-4DB2-BD59-A6C34878D82A}">
                    <a16:rowId xmlns:a16="http://schemas.microsoft.com/office/drawing/2014/main" val="698900107"/>
                  </a:ext>
                </a:extLst>
              </a:tr>
            </a:tbl>
          </a:graphicData>
        </a:graphic>
      </p:graphicFrame>
      <p:sp>
        <p:nvSpPr>
          <p:cNvPr id="7" name="TextBox 6">
            <a:extLst>
              <a:ext uri="{FF2B5EF4-FFF2-40B4-BE49-F238E27FC236}">
                <a16:creationId xmlns:a16="http://schemas.microsoft.com/office/drawing/2014/main" id="{00D8A680-DD41-DF3B-855B-F66731B604C3}"/>
              </a:ext>
            </a:extLst>
          </p:cNvPr>
          <p:cNvSpPr txBox="1"/>
          <p:nvPr/>
        </p:nvSpPr>
        <p:spPr>
          <a:xfrm>
            <a:off x="83126" y="4208430"/>
            <a:ext cx="6096000" cy="412934"/>
          </a:xfrm>
          <a:prstGeom prst="rect">
            <a:avLst/>
          </a:prstGeom>
          <a:noFill/>
        </p:spPr>
        <p:txBody>
          <a:bodyPr wrap="square">
            <a:spAutoFit/>
          </a:bodyPr>
          <a:lstStyle/>
          <a:p>
            <a:pPr marL="0" marR="0" indent="0" algn="l">
              <a:lnSpc>
                <a:spcPct val="100000"/>
              </a:lnSpc>
              <a:spcBef>
                <a:spcPts val="2400"/>
              </a:spcBef>
              <a:spcAft>
                <a:spcPts val="1200"/>
              </a:spcAft>
              <a:buNone/>
            </a:pPr>
            <a:r>
              <a:rPr lang="en-ZA" sz="1800" b="1" dirty="0">
                <a:solidFill>
                  <a:schemeClr val="tx1"/>
                </a:solidFill>
                <a:effectLst/>
                <a:latin typeface="+mn-lt"/>
              </a:rPr>
              <a:t>Use the following shapes in your task flow:</a:t>
            </a:r>
            <a:endParaRPr lang="en-ZA" sz="1800" b="1" dirty="0">
              <a:solidFill>
                <a:srgbClr val="0F1115"/>
              </a:solidFill>
              <a:effectLst/>
              <a:latin typeface="quote-cjk-patch"/>
            </a:endParaRPr>
          </a:p>
        </p:txBody>
      </p:sp>
      <p:pic>
        <p:nvPicPr>
          <p:cNvPr id="9" name="Picture 8">
            <a:extLst>
              <a:ext uri="{FF2B5EF4-FFF2-40B4-BE49-F238E27FC236}">
                <a16:creationId xmlns:a16="http://schemas.microsoft.com/office/drawing/2014/main" id="{4AA3A267-BFF5-C4A5-76BF-66CEE2AE6A8D}"/>
              </a:ext>
            </a:extLst>
          </p:cNvPr>
          <p:cNvPicPr>
            <a:picLocks noChangeAspect="1"/>
          </p:cNvPicPr>
          <p:nvPr/>
        </p:nvPicPr>
        <p:blipFill>
          <a:blip r:embed="rId2"/>
          <a:stretch>
            <a:fillRect/>
          </a:stretch>
        </p:blipFill>
        <p:spPr>
          <a:xfrm>
            <a:off x="8021781" y="98079"/>
            <a:ext cx="3180967" cy="3989161"/>
          </a:xfrm>
          <a:prstGeom prst="rect">
            <a:avLst/>
          </a:prstGeom>
        </p:spPr>
      </p:pic>
    </p:spTree>
    <p:extLst>
      <p:ext uri="{BB962C8B-B14F-4D97-AF65-F5344CB8AC3E}">
        <p14:creationId xmlns:p14="http://schemas.microsoft.com/office/powerpoint/2010/main" val="2251318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1000"/>
                                        <p:tgtEl>
                                          <p:spTgt spid="4">
                                            <p:txEl>
                                              <p:pRg st="3" end="3"/>
                                            </p:txEl>
                                          </p:spTgt>
                                        </p:tgtEl>
                                      </p:cBhvr>
                                    </p:animEffect>
                                    <p:anim calcmode="lin" valueType="num">
                                      <p:cBhvr>
                                        <p:cTn id="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1000"/>
                                        <p:tgtEl>
                                          <p:spTgt spid="4">
                                            <p:txEl>
                                              <p:pRg st="4" end="4"/>
                                            </p:txEl>
                                          </p:spTgt>
                                        </p:tgtEl>
                                      </p:cBhvr>
                                    </p:animEffect>
                                    <p:anim calcmode="lin" valueType="num">
                                      <p:cBhvr>
                                        <p:cTn id="1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D7A1F-8015-3608-17CF-07C0741724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A64B279-B2D4-295D-3FC4-5B28A4AAAB27}"/>
              </a:ext>
            </a:extLst>
          </p:cNvPr>
          <p:cNvSpPr txBox="1"/>
          <p:nvPr/>
        </p:nvSpPr>
        <p:spPr>
          <a:xfrm>
            <a:off x="6442364" y="94754"/>
            <a:ext cx="5583382" cy="534248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ZA" sz="1400" b="1" dirty="0">
                <a:solidFill>
                  <a:schemeClr val="tx1"/>
                </a:solidFill>
                <a:effectLst/>
                <a:latin typeface="+mn-lt"/>
              </a:rPr>
              <a:t>Process Steps to Include (Your task flow must cover these actions):</a:t>
            </a:r>
          </a:p>
          <a:p>
            <a:pPr marL="0" marR="0" lvl="0" indent="-342900" algn="l">
              <a:spcBef>
                <a:spcPts val="1200"/>
              </a:spcBef>
              <a:spcAft>
                <a:spcPts val="1200"/>
              </a:spcAft>
              <a:buFont typeface="+mj-lt"/>
              <a:buAutoNum type="arabicPeriod"/>
            </a:pPr>
            <a:r>
              <a:rPr lang="en-ZA" sz="1400" b="0" i="0" dirty="0">
                <a:solidFill>
                  <a:schemeClr val="tx1"/>
                </a:solidFill>
                <a:effectLst/>
                <a:latin typeface="+mn-lt"/>
              </a:rPr>
              <a:t>Customer opens the </a:t>
            </a:r>
            <a:r>
              <a:rPr lang="en-ZA" sz="1400" b="0" i="0" dirty="0" err="1">
                <a:solidFill>
                  <a:schemeClr val="tx1"/>
                </a:solidFill>
                <a:effectLst/>
                <a:latin typeface="+mn-lt"/>
              </a:rPr>
              <a:t>PetPals</a:t>
            </a:r>
            <a:r>
              <a:rPr lang="en-ZA" sz="1400" b="0" i="0" dirty="0">
                <a:solidFill>
                  <a:schemeClr val="tx1"/>
                </a:solidFill>
                <a:effectLst/>
                <a:latin typeface="+mn-lt"/>
              </a:rPr>
              <a:t> app</a:t>
            </a:r>
          </a:p>
          <a:p>
            <a:pPr marL="0" marR="0" lvl="0" indent="-342900" algn="l">
              <a:spcBef>
                <a:spcPts val="450"/>
              </a:spcBef>
              <a:spcAft>
                <a:spcPts val="1200"/>
              </a:spcAft>
              <a:buFont typeface="+mj-lt"/>
              <a:buAutoNum type="arabicPeriod"/>
            </a:pPr>
            <a:r>
              <a:rPr lang="en-ZA" sz="1400" b="0" i="0" dirty="0">
                <a:solidFill>
                  <a:schemeClr val="tx1"/>
                </a:solidFill>
                <a:effectLst/>
                <a:latin typeface="+mn-lt"/>
              </a:rPr>
              <a:t>Customer browses available pet sitters/walkers</a:t>
            </a:r>
          </a:p>
          <a:p>
            <a:pPr marL="0" marR="0" lvl="0" indent="-342900" algn="l">
              <a:spcBef>
                <a:spcPts val="450"/>
              </a:spcBef>
              <a:spcAft>
                <a:spcPts val="1200"/>
              </a:spcAft>
              <a:buFont typeface="+mj-lt"/>
              <a:buAutoNum type="arabicPeriod"/>
            </a:pPr>
            <a:r>
              <a:rPr lang="en-ZA" sz="1400" b="0" i="0" dirty="0">
                <a:solidFill>
                  <a:schemeClr val="tx1"/>
                </a:solidFill>
                <a:effectLst/>
                <a:latin typeface="+mn-lt"/>
              </a:rPr>
              <a:t>Customer selects a sitter/walker</a:t>
            </a:r>
          </a:p>
          <a:p>
            <a:pPr marL="0" marR="0" lvl="0" indent="-342900" algn="l">
              <a:spcBef>
                <a:spcPts val="450"/>
              </a:spcBef>
              <a:spcAft>
                <a:spcPts val="1200"/>
              </a:spcAft>
              <a:buFont typeface="+mj-lt"/>
              <a:buAutoNum type="arabicPeriod"/>
            </a:pPr>
            <a:r>
              <a:rPr lang="en-ZA" sz="1400" b="0" i="0" dirty="0">
                <a:solidFill>
                  <a:schemeClr val="tx1"/>
                </a:solidFill>
                <a:effectLst/>
                <a:latin typeface="+mn-lt"/>
              </a:rPr>
              <a:t>Customer chooses a date and time for the service</a:t>
            </a:r>
          </a:p>
          <a:p>
            <a:pPr marL="0" marR="0" lvl="0" indent="-342900" algn="l">
              <a:spcBef>
                <a:spcPts val="450"/>
              </a:spcBef>
              <a:spcAft>
                <a:spcPts val="1200"/>
              </a:spcAft>
              <a:buFont typeface="+mj-lt"/>
              <a:buAutoNum type="arabicPeriod"/>
            </a:pPr>
            <a:r>
              <a:rPr lang="en-ZA" sz="1400" b="0" i="0" dirty="0">
                <a:solidFill>
                  <a:schemeClr val="tx1"/>
                </a:solidFill>
                <a:effectLst/>
                <a:latin typeface="+mn-lt"/>
              </a:rPr>
              <a:t>System checks if the sitter is available</a:t>
            </a:r>
          </a:p>
          <a:p>
            <a:pPr marL="0" marR="0" lvl="0" indent="-342900" algn="l">
              <a:spcBef>
                <a:spcPts val="450"/>
              </a:spcBef>
              <a:spcAft>
                <a:spcPts val="600"/>
              </a:spcAft>
              <a:buFont typeface="+mj-lt"/>
              <a:buAutoNum type="arabicPeriod"/>
            </a:pPr>
            <a:r>
              <a:rPr lang="en-ZA" sz="1400" b="0" i="1" dirty="0">
                <a:solidFill>
                  <a:schemeClr val="tx1"/>
                </a:solidFill>
                <a:effectLst/>
                <a:latin typeface="+mn-lt"/>
              </a:rPr>
              <a:t>(Decision Point)</a:t>
            </a:r>
            <a:r>
              <a:rPr lang="en-ZA" sz="1400" b="0" i="0" dirty="0">
                <a:solidFill>
                  <a:schemeClr val="tx1"/>
                </a:solidFill>
                <a:effectLst/>
                <a:latin typeface="+mn-lt"/>
              </a:rPr>
              <a:t> – Is the sitter available?</a:t>
            </a:r>
          </a:p>
          <a:p>
            <a:pPr marL="0" marR="0" lvl="1" indent="-285750" algn="l">
              <a:spcBef>
                <a:spcPts val="300"/>
              </a:spcBef>
              <a:spcAft>
                <a:spcPts val="1200"/>
              </a:spcAft>
              <a:buFont typeface="+mj-lt"/>
              <a:buAutoNum type="arabicPeriod"/>
            </a:pPr>
            <a:r>
              <a:rPr lang="en-ZA" sz="1400" b="0" i="0" dirty="0">
                <a:solidFill>
                  <a:schemeClr val="tx1"/>
                </a:solidFill>
                <a:effectLst/>
                <a:latin typeface="+mn-lt"/>
              </a:rPr>
              <a:t>If </a:t>
            </a:r>
            <a:r>
              <a:rPr lang="en-ZA" sz="1400" b="1" i="0" dirty="0">
                <a:solidFill>
                  <a:schemeClr val="tx1"/>
                </a:solidFill>
                <a:effectLst/>
                <a:latin typeface="+mn-lt"/>
              </a:rPr>
              <a:t>YES</a:t>
            </a:r>
            <a:r>
              <a:rPr lang="en-ZA" sz="1400" b="0" i="0" dirty="0">
                <a:solidFill>
                  <a:schemeClr val="tx1"/>
                </a:solidFill>
                <a:effectLst/>
                <a:latin typeface="+mn-lt"/>
              </a:rPr>
              <a:t> → Customer confirms the booking</a:t>
            </a:r>
          </a:p>
          <a:p>
            <a:pPr marL="0" marR="0" lvl="1" indent="-285750" algn="l">
              <a:spcBef>
                <a:spcPts val="450"/>
              </a:spcBef>
              <a:spcAft>
                <a:spcPts val="1200"/>
              </a:spcAft>
              <a:buFont typeface="+mj-lt"/>
              <a:buAutoNum type="arabicPeriod"/>
            </a:pPr>
            <a:r>
              <a:rPr lang="en-ZA" sz="1400" b="0" i="0" dirty="0">
                <a:solidFill>
                  <a:schemeClr val="tx1"/>
                </a:solidFill>
                <a:effectLst/>
                <a:latin typeface="+mn-lt"/>
              </a:rPr>
              <a:t>If </a:t>
            </a:r>
            <a:r>
              <a:rPr lang="en-ZA" sz="1400" b="1" i="0" dirty="0">
                <a:solidFill>
                  <a:schemeClr val="tx1"/>
                </a:solidFill>
                <a:effectLst/>
                <a:latin typeface="+mn-lt"/>
              </a:rPr>
              <a:t>NO</a:t>
            </a:r>
            <a:r>
              <a:rPr lang="en-ZA" sz="1400" b="0" i="0" dirty="0">
                <a:solidFill>
                  <a:schemeClr val="tx1"/>
                </a:solidFill>
                <a:effectLst/>
                <a:latin typeface="+mn-lt"/>
              </a:rPr>
              <a:t> → Customer is shown alternative sitters and must select again</a:t>
            </a:r>
          </a:p>
          <a:p>
            <a:pPr marL="0" marR="0" lvl="0" indent="-342900" algn="l">
              <a:spcBef>
                <a:spcPts val="450"/>
              </a:spcBef>
              <a:spcAft>
                <a:spcPts val="1200"/>
              </a:spcAft>
              <a:buFont typeface="+mj-lt"/>
              <a:buAutoNum type="arabicPeriod"/>
            </a:pPr>
            <a:r>
              <a:rPr lang="en-ZA" sz="1400" b="0" i="0" dirty="0">
                <a:solidFill>
                  <a:schemeClr val="tx1"/>
                </a:solidFill>
                <a:effectLst/>
                <a:latin typeface="+mn-lt"/>
              </a:rPr>
              <a:t>Customer enters pet details and special instructions</a:t>
            </a:r>
          </a:p>
          <a:p>
            <a:pPr marL="0" marR="0" lvl="0" indent="-342900" algn="l">
              <a:spcBef>
                <a:spcPts val="450"/>
              </a:spcBef>
              <a:spcAft>
                <a:spcPts val="1200"/>
              </a:spcAft>
              <a:buFont typeface="+mj-lt"/>
              <a:buAutoNum type="arabicPeriod"/>
            </a:pPr>
            <a:r>
              <a:rPr lang="en-ZA" sz="1400" b="0" i="0" dirty="0">
                <a:solidFill>
                  <a:schemeClr val="tx1"/>
                </a:solidFill>
                <a:effectLst/>
                <a:latin typeface="+mn-lt"/>
              </a:rPr>
              <a:t>Customer confirms the booking</a:t>
            </a:r>
          </a:p>
          <a:p>
            <a:pPr marL="0" marR="0" lvl="0" indent="-342900" algn="l">
              <a:spcBef>
                <a:spcPts val="450"/>
              </a:spcBef>
              <a:spcAft>
                <a:spcPts val="1200"/>
              </a:spcAft>
              <a:buFont typeface="+mj-lt"/>
              <a:buAutoNum type="arabicPeriod"/>
            </a:pPr>
            <a:r>
              <a:rPr lang="en-ZA" sz="1400" b="0" i="0" dirty="0">
                <a:solidFill>
                  <a:schemeClr val="tx1"/>
                </a:solidFill>
                <a:effectLst/>
                <a:latin typeface="+mn-lt"/>
              </a:rPr>
              <a:t>System processes the booking</a:t>
            </a:r>
          </a:p>
          <a:p>
            <a:pPr marL="0" marR="0" lvl="0" indent="-342900" algn="l">
              <a:spcBef>
                <a:spcPts val="450"/>
              </a:spcBef>
              <a:spcAft>
                <a:spcPts val="1200"/>
              </a:spcAft>
              <a:buFont typeface="+mj-lt"/>
              <a:buAutoNum type="arabicPeriod"/>
            </a:pPr>
            <a:r>
              <a:rPr lang="en-ZA" sz="1400" b="0" i="0" dirty="0">
                <a:solidFill>
                  <a:schemeClr val="tx1"/>
                </a:solidFill>
                <a:effectLst/>
                <a:latin typeface="+mn-lt"/>
              </a:rPr>
              <a:t>Customer receives booking confirmation</a:t>
            </a:r>
            <a:endParaRPr lang="en-ZA" sz="1400" b="0" i="0" dirty="0">
              <a:solidFill>
                <a:srgbClr val="0F1115"/>
              </a:solidFill>
              <a:effectLst/>
              <a:latin typeface="quote-cjk-patch"/>
            </a:endParaRPr>
          </a:p>
        </p:txBody>
      </p:sp>
      <p:sp>
        <p:nvSpPr>
          <p:cNvPr id="8" name="TextBox 7">
            <a:extLst>
              <a:ext uri="{FF2B5EF4-FFF2-40B4-BE49-F238E27FC236}">
                <a16:creationId xmlns:a16="http://schemas.microsoft.com/office/drawing/2014/main" id="{954A71FB-8E5E-D686-AC5E-3FA2CECDE244}"/>
              </a:ext>
            </a:extLst>
          </p:cNvPr>
          <p:cNvSpPr txBox="1"/>
          <p:nvPr/>
        </p:nvSpPr>
        <p:spPr>
          <a:xfrm>
            <a:off x="166254" y="233299"/>
            <a:ext cx="6096000" cy="1479892"/>
          </a:xfrm>
          <a:prstGeom prst="rect">
            <a:avLst/>
          </a:prstGeom>
          <a:noFill/>
        </p:spPr>
        <p:txBody>
          <a:bodyPr wrap="square">
            <a:spAutoFit/>
          </a:bodyPr>
          <a:lstStyle/>
          <a:p>
            <a:pPr marL="0" marR="0" indent="0" algn="l">
              <a:lnSpc>
                <a:spcPct val="100000"/>
              </a:lnSpc>
              <a:spcBef>
                <a:spcPts val="2400"/>
              </a:spcBef>
              <a:spcAft>
                <a:spcPts val="1200"/>
              </a:spcAft>
              <a:buNone/>
            </a:pPr>
            <a:r>
              <a:rPr lang="en-ZA" sz="1400" b="1" dirty="0">
                <a:solidFill>
                  <a:schemeClr val="tx1"/>
                </a:solidFill>
                <a:effectLst/>
                <a:latin typeface="+mn-lt"/>
              </a:rPr>
              <a:t>Use a task flow template in </a:t>
            </a:r>
            <a:r>
              <a:rPr lang="en-ZA" sz="1400" b="1" dirty="0" err="1">
                <a:solidFill>
                  <a:schemeClr val="tx1"/>
                </a:solidFill>
                <a:effectLst/>
                <a:latin typeface="+mn-lt"/>
              </a:rPr>
              <a:t>FigJam</a:t>
            </a:r>
            <a:r>
              <a:rPr lang="en-ZA" sz="1400" b="1" dirty="0">
                <a:solidFill>
                  <a:schemeClr val="tx1"/>
                </a:solidFill>
                <a:effectLst/>
                <a:latin typeface="+mn-lt"/>
              </a:rPr>
              <a:t>.</a:t>
            </a:r>
          </a:p>
          <a:p>
            <a:pPr marL="0" marR="0" lvl="0" indent="-342900" algn="l">
              <a:spcBef>
                <a:spcPts val="1200"/>
              </a:spcBef>
              <a:spcAft>
                <a:spcPts val="1200"/>
              </a:spcAft>
              <a:buFont typeface="+mj-lt"/>
              <a:buAutoNum type="arabicPeriod"/>
            </a:pPr>
            <a:r>
              <a:rPr lang="en-ZA" sz="1400" b="0" i="0" dirty="0">
                <a:solidFill>
                  <a:schemeClr val="tx1"/>
                </a:solidFill>
                <a:effectLst/>
                <a:latin typeface="+mn-lt"/>
              </a:rPr>
              <a:t>Export the task flow as an image (</a:t>
            </a:r>
            <a:r>
              <a:rPr lang="en-ZA" sz="1400" b="0" i="0" dirty="0" err="1">
                <a:solidFill>
                  <a:schemeClr val="tx1"/>
                </a:solidFill>
                <a:effectLst/>
                <a:latin typeface="+mn-lt"/>
              </a:rPr>
              <a:t>png</a:t>
            </a:r>
            <a:r>
              <a:rPr lang="en-ZA" sz="1400" b="0" i="0" dirty="0">
                <a:solidFill>
                  <a:schemeClr val="tx1"/>
                </a:solidFill>
                <a:effectLst/>
                <a:latin typeface="+mn-lt"/>
              </a:rPr>
              <a:t>/jpg) and paste it into your document.</a:t>
            </a:r>
          </a:p>
          <a:p>
            <a:pPr marL="0" marR="0" lvl="0" indent="-342900" algn="l">
              <a:spcBef>
                <a:spcPts val="450"/>
              </a:spcBef>
              <a:spcAft>
                <a:spcPts val="1200"/>
              </a:spcAft>
              <a:buFont typeface="+mj-lt"/>
              <a:buAutoNum type="arabicPeriod"/>
            </a:pPr>
            <a:r>
              <a:rPr lang="en-ZA" sz="1400" b="0" i="0" dirty="0">
                <a:solidFill>
                  <a:schemeClr val="tx1"/>
                </a:solidFill>
                <a:effectLst/>
                <a:latin typeface="+mn-lt"/>
              </a:rPr>
              <a:t>Provide the </a:t>
            </a:r>
            <a:r>
              <a:rPr lang="en-ZA" sz="1400" b="1" i="0" dirty="0">
                <a:solidFill>
                  <a:schemeClr val="tx1"/>
                </a:solidFill>
                <a:effectLst/>
                <a:latin typeface="+mn-lt"/>
              </a:rPr>
              <a:t>share link for the page from </a:t>
            </a:r>
            <a:r>
              <a:rPr lang="en-ZA" sz="1400" b="1" i="0" dirty="0" err="1">
                <a:solidFill>
                  <a:schemeClr val="tx1"/>
                </a:solidFill>
                <a:effectLst/>
                <a:latin typeface="+mn-lt"/>
              </a:rPr>
              <a:t>FigJam</a:t>
            </a:r>
            <a:r>
              <a:rPr lang="en-ZA" sz="1400" b="0" i="0" dirty="0">
                <a:solidFill>
                  <a:schemeClr val="tx1"/>
                </a:solidFill>
                <a:effectLst/>
                <a:latin typeface="+mn-lt"/>
              </a:rPr>
              <a:t> and add it to your document</a:t>
            </a:r>
            <a:r>
              <a:rPr lang="en-ZA" sz="1400" dirty="0"/>
              <a:t> </a:t>
            </a:r>
            <a:r>
              <a:rPr lang="en-ZA" sz="1400" b="0" i="0" dirty="0">
                <a:solidFill>
                  <a:schemeClr val="tx1"/>
                </a:solidFill>
                <a:effectLst/>
                <a:latin typeface="+mn-lt"/>
              </a:rPr>
              <a:t>for verification.</a:t>
            </a:r>
          </a:p>
        </p:txBody>
      </p:sp>
    </p:spTree>
    <p:extLst>
      <p:ext uri="{BB962C8B-B14F-4D97-AF65-F5344CB8AC3E}">
        <p14:creationId xmlns:p14="http://schemas.microsoft.com/office/powerpoint/2010/main" val="6496597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6F0D8-4722-CF66-8F16-32BC443EBE2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6E38EAD-CD55-ADF6-CE0D-123D22120C58}"/>
              </a:ext>
            </a:extLst>
          </p:cNvPr>
          <p:cNvSpPr txBox="1"/>
          <p:nvPr/>
        </p:nvSpPr>
        <p:spPr>
          <a:xfrm>
            <a:off x="0" y="0"/>
            <a:ext cx="11830259" cy="156966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ZA" sz="4800" i="1" dirty="0">
                <a:solidFill>
                  <a:srgbClr val="002060"/>
                </a:solidFill>
                <a:latin typeface="Calibri" panose="020F0502020204030204"/>
              </a:rPr>
              <a:t>Email your task flow to: </a:t>
            </a:r>
            <a:r>
              <a:rPr kumimoji="0" lang="en-ZA" sz="4800" b="0" i="1" u="none" strike="noStrike" kern="1200" cap="none" spc="0" normalizeH="0" baseline="0" noProof="0" dirty="0">
                <a:ln>
                  <a:noFill/>
                </a:ln>
                <a:solidFill>
                  <a:srgbClr val="E23ACE"/>
                </a:solidFill>
                <a:effectLst/>
                <a:uLnTx/>
                <a:uFillTx/>
                <a:latin typeface="Calibri" panose="020F0502020204030204"/>
                <a:ea typeface="+mn-ea"/>
                <a:cs typeface="+mn-cs"/>
              </a:rPr>
              <a:t>bvdmerwe@emeris.ac.za</a:t>
            </a:r>
          </a:p>
        </p:txBody>
      </p:sp>
      <p:pic>
        <p:nvPicPr>
          <p:cNvPr id="3" name="Picture 2">
            <a:extLst>
              <a:ext uri="{FF2B5EF4-FFF2-40B4-BE49-F238E27FC236}">
                <a16:creationId xmlns:a16="http://schemas.microsoft.com/office/drawing/2014/main" id="{48FB4D66-FA27-A4C8-0B8E-6BE6DBA9BE0E}"/>
              </a:ext>
            </a:extLst>
          </p:cNvPr>
          <p:cNvPicPr>
            <a:picLocks noChangeAspect="1"/>
          </p:cNvPicPr>
          <p:nvPr/>
        </p:nvPicPr>
        <p:blipFill>
          <a:blip r:embed="rId2"/>
          <a:stretch>
            <a:fillRect/>
          </a:stretch>
        </p:blipFill>
        <p:spPr>
          <a:xfrm>
            <a:off x="325581" y="1856510"/>
            <a:ext cx="5207589" cy="3397294"/>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CB7B7C79-ABBA-DBDE-4748-27EAD7F7999A}"/>
              </a:ext>
            </a:extLst>
          </p:cNvPr>
          <p:cNvPicPr>
            <a:picLocks noChangeAspect="1"/>
          </p:cNvPicPr>
          <p:nvPr/>
        </p:nvPicPr>
        <p:blipFill>
          <a:blip r:embed="rId3"/>
          <a:stretch>
            <a:fillRect/>
          </a:stretch>
        </p:blipFill>
        <p:spPr>
          <a:xfrm>
            <a:off x="5915129" y="1436752"/>
            <a:ext cx="5987499" cy="338280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414099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A5ED45EE-16DD-41FE-A542-4FD400E90D11}"/>
              </a:ext>
            </a:extLst>
          </p:cNvPr>
          <p:cNvSpPr txBox="1"/>
          <p:nvPr/>
        </p:nvSpPr>
        <p:spPr>
          <a:xfrm>
            <a:off x="193963" y="6546365"/>
            <a:ext cx="1291243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Resource: Garrett, J. J. 2000. The elements of User Experience. [Online]. Available at: https://hci.stanford.edu/dsc </a:t>
            </a:r>
            <a:r>
              <a:rPr kumimoji="0" lang="en-US" sz="1200" b="0" i="0" u="none" strike="noStrike" kern="1200" cap="none" spc="0" normalizeH="0" baseline="0" noProof="0" dirty="0" err="1">
                <a:ln>
                  <a:noFill/>
                </a:ln>
                <a:solidFill>
                  <a:prstClr val="white">
                    <a:lumMod val="50000"/>
                  </a:prstClr>
                </a:solidFill>
                <a:effectLst/>
                <a:uLnTx/>
                <a:uFillTx/>
                <a:latin typeface="Calibri" panose="020F0502020204030204"/>
                <a:ea typeface="+mn-ea"/>
                <a:cs typeface="+mn-cs"/>
              </a:rPr>
              <a:t>hool</a:t>
            </a:r>
            <a:r>
              <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/resources/interaction/ garrett-elements.pdf [Accessed 19 August 2022].</a:t>
            </a:r>
          </a:p>
        </p:txBody>
      </p:sp>
      <p:pic>
        <p:nvPicPr>
          <p:cNvPr id="4" name="Picture 3">
            <a:extLst>
              <a:ext uri="{FF2B5EF4-FFF2-40B4-BE49-F238E27FC236}">
                <a16:creationId xmlns:a16="http://schemas.microsoft.com/office/drawing/2014/main" id="{81AA1796-BBA6-3347-BB2E-9DF28F497E4D}"/>
              </a:ext>
            </a:extLst>
          </p:cNvPr>
          <p:cNvPicPr>
            <a:picLocks noChangeAspect="1"/>
          </p:cNvPicPr>
          <p:nvPr/>
        </p:nvPicPr>
        <p:blipFill>
          <a:blip r:embed="rId2"/>
          <a:stretch>
            <a:fillRect/>
          </a:stretch>
        </p:blipFill>
        <p:spPr>
          <a:xfrm>
            <a:off x="0" y="614930"/>
            <a:ext cx="12192008" cy="5841380"/>
          </a:xfrm>
          <a:prstGeom prst="rect">
            <a:avLst/>
          </a:prstGeom>
        </p:spPr>
      </p:pic>
      <p:pic>
        <p:nvPicPr>
          <p:cNvPr id="3" name="Picture 2">
            <a:extLst>
              <a:ext uri="{FF2B5EF4-FFF2-40B4-BE49-F238E27FC236}">
                <a16:creationId xmlns:a16="http://schemas.microsoft.com/office/drawing/2014/main" id="{2A6AF3A5-1779-5126-0542-8DE919A74E63}"/>
              </a:ext>
            </a:extLst>
          </p:cNvPr>
          <p:cNvPicPr>
            <a:picLocks noChangeAspect="1"/>
          </p:cNvPicPr>
          <p:nvPr/>
        </p:nvPicPr>
        <p:blipFill>
          <a:blip r:embed="rId3"/>
          <a:stretch>
            <a:fillRect/>
          </a:stretch>
        </p:blipFill>
        <p:spPr>
          <a:xfrm>
            <a:off x="0" y="1177725"/>
            <a:ext cx="3348000" cy="465664"/>
          </a:xfrm>
          <a:prstGeom prst="rect">
            <a:avLst/>
          </a:prstGeom>
        </p:spPr>
      </p:pic>
      <p:pic>
        <p:nvPicPr>
          <p:cNvPr id="5" name="Picture 4">
            <a:extLst>
              <a:ext uri="{FF2B5EF4-FFF2-40B4-BE49-F238E27FC236}">
                <a16:creationId xmlns:a16="http://schemas.microsoft.com/office/drawing/2014/main" id="{B4577D73-1E12-04BF-814D-880393C3C850}"/>
              </a:ext>
            </a:extLst>
          </p:cNvPr>
          <p:cNvPicPr>
            <a:picLocks noChangeAspect="1"/>
          </p:cNvPicPr>
          <p:nvPr/>
        </p:nvPicPr>
        <p:blipFill>
          <a:blip r:embed="rId3"/>
          <a:stretch>
            <a:fillRect/>
          </a:stretch>
        </p:blipFill>
        <p:spPr>
          <a:xfrm>
            <a:off x="0" y="1842742"/>
            <a:ext cx="3348000" cy="1274621"/>
          </a:xfrm>
          <a:prstGeom prst="rect">
            <a:avLst/>
          </a:prstGeom>
        </p:spPr>
      </p:pic>
      <p:pic>
        <p:nvPicPr>
          <p:cNvPr id="6" name="Picture 5">
            <a:extLst>
              <a:ext uri="{FF2B5EF4-FFF2-40B4-BE49-F238E27FC236}">
                <a16:creationId xmlns:a16="http://schemas.microsoft.com/office/drawing/2014/main" id="{143B27B1-1D7B-B4B3-566F-ADBB66576C51}"/>
              </a:ext>
            </a:extLst>
          </p:cNvPr>
          <p:cNvPicPr>
            <a:picLocks noChangeAspect="1"/>
          </p:cNvPicPr>
          <p:nvPr/>
        </p:nvPicPr>
        <p:blipFill>
          <a:blip r:embed="rId3"/>
          <a:stretch>
            <a:fillRect/>
          </a:stretch>
        </p:blipFill>
        <p:spPr>
          <a:xfrm>
            <a:off x="0" y="3235215"/>
            <a:ext cx="3348000" cy="921239"/>
          </a:xfrm>
          <a:prstGeom prst="rect">
            <a:avLst/>
          </a:prstGeom>
        </p:spPr>
      </p:pic>
      <p:pic>
        <p:nvPicPr>
          <p:cNvPr id="7" name="Picture 6">
            <a:extLst>
              <a:ext uri="{FF2B5EF4-FFF2-40B4-BE49-F238E27FC236}">
                <a16:creationId xmlns:a16="http://schemas.microsoft.com/office/drawing/2014/main" id="{7BB5CE3F-C6DE-16E3-4246-57B11C36D247}"/>
              </a:ext>
            </a:extLst>
          </p:cNvPr>
          <p:cNvPicPr>
            <a:picLocks noChangeAspect="1"/>
          </p:cNvPicPr>
          <p:nvPr/>
        </p:nvPicPr>
        <p:blipFill>
          <a:blip r:embed="rId3"/>
          <a:stretch>
            <a:fillRect/>
          </a:stretch>
        </p:blipFill>
        <p:spPr>
          <a:xfrm>
            <a:off x="0" y="4274306"/>
            <a:ext cx="3348000" cy="602586"/>
          </a:xfrm>
          <a:prstGeom prst="rect">
            <a:avLst/>
          </a:prstGeom>
        </p:spPr>
      </p:pic>
      <p:pic>
        <p:nvPicPr>
          <p:cNvPr id="8" name="Picture 7">
            <a:extLst>
              <a:ext uri="{FF2B5EF4-FFF2-40B4-BE49-F238E27FC236}">
                <a16:creationId xmlns:a16="http://schemas.microsoft.com/office/drawing/2014/main" id="{C8FFEFF9-8E5F-0368-D9EF-0BEE3AB5B0B1}"/>
              </a:ext>
            </a:extLst>
          </p:cNvPr>
          <p:cNvPicPr>
            <a:picLocks noChangeAspect="1"/>
          </p:cNvPicPr>
          <p:nvPr/>
        </p:nvPicPr>
        <p:blipFill>
          <a:blip r:embed="rId3"/>
          <a:stretch>
            <a:fillRect/>
          </a:stretch>
        </p:blipFill>
        <p:spPr>
          <a:xfrm>
            <a:off x="0" y="5064015"/>
            <a:ext cx="3348000" cy="962804"/>
          </a:xfrm>
          <a:prstGeom prst="rect">
            <a:avLst/>
          </a:prstGeom>
        </p:spPr>
      </p:pic>
      <p:pic>
        <p:nvPicPr>
          <p:cNvPr id="9" name="Picture 8">
            <a:extLst>
              <a:ext uri="{FF2B5EF4-FFF2-40B4-BE49-F238E27FC236}">
                <a16:creationId xmlns:a16="http://schemas.microsoft.com/office/drawing/2014/main" id="{29B7CFAE-ECD4-210D-4295-32232D614196}"/>
              </a:ext>
            </a:extLst>
          </p:cNvPr>
          <p:cNvPicPr>
            <a:picLocks noChangeAspect="1"/>
          </p:cNvPicPr>
          <p:nvPr/>
        </p:nvPicPr>
        <p:blipFill>
          <a:blip r:embed="rId3"/>
          <a:stretch>
            <a:fillRect/>
          </a:stretch>
        </p:blipFill>
        <p:spPr>
          <a:xfrm>
            <a:off x="8714511" y="1055732"/>
            <a:ext cx="3062934" cy="720000"/>
          </a:xfrm>
          <a:prstGeom prst="rect">
            <a:avLst/>
          </a:prstGeom>
        </p:spPr>
      </p:pic>
      <p:pic>
        <p:nvPicPr>
          <p:cNvPr id="10" name="Picture 9">
            <a:extLst>
              <a:ext uri="{FF2B5EF4-FFF2-40B4-BE49-F238E27FC236}">
                <a16:creationId xmlns:a16="http://schemas.microsoft.com/office/drawing/2014/main" id="{DEA12588-9EB0-6874-FDAC-F5487A754F1E}"/>
              </a:ext>
            </a:extLst>
          </p:cNvPr>
          <p:cNvPicPr>
            <a:picLocks noChangeAspect="1"/>
          </p:cNvPicPr>
          <p:nvPr/>
        </p:nvPicPr>
        <p:blipFill>
          <a:blip r:embed="rId3"/>
          <a:stretch>
            <a:fillRect/>
          </a:stretch>
        </p:blipFill>
        <p:spPr>
          <a:xfrm>
            <a:off x="8714511" y="1835724"/>
            <a:ext cx="3348000" cy="1274621"/>
          </a:xfrm>
          <a:prstGeom prst="rect">
            <a:avLst/>
          </a:prstGeom>
        </p:spPr>
      </p:pic>
      <p:pic>
        <p:nvPicPr>
          <p:cNvPr id="11" name="Picture 10">
            <a:extLst>
              <a:ext uri="{FF2B5EF4-FFF2-40B4-BE49-F238E27FC236}">
                <a16:creationId xmlns:a16="http://schemas.microsoft.com/office/drawing/2014/main" id="{065A9F90-2CFD-ECED-EB0A-4EA444C7DEBC}"/>
              </a:ext>
            </a:extLst>
          </p:cNvPr>
          <p:cNvPicPr>
            <a:picLocks noChangeAspect="1"/>
          </p:cNvPicPr>
          <p:nvPr/>
        </p:nvPicPr>
        <p:blipFill>
          <a:blip r:embed="rId3"/>
          <a:stretch>
            <a:fillRect/>
          </a:stretch>
        </p:blipFill>
        <p:spPr>
          <a:xfrm>
            <a:off x="8714511" y="3183217"/>
            <a:ext cx="3348000" cy="921239"/>
          </a:xfrm>
          <a:prstGeom prst="rect">
            <a:avLst/>
          </a:prstGeom>
        </p:spPr>
      </p:pic>
      <p:pic>
        <p:nvPicPr>
          <p:cNvPr id="13" name="Picture 12">
            <a:extLst>
              <a:ext uri="{FF2B5EF4-FFF2-40B4-BE49-F238E27FC236}">
                <a16:creationId xmlns:a16="http://schemas.microsoft.com/office/drawing/2014/main" id="{3AB0D42C-9519-6B2E-B296-E74AAC8C8E35}"/>
              </a:ext>
            </a:extLst>
          </p:cNvPr>
          <p:cNvPicPr>
            <a:picLocks noChangeAspect="1"/>
          </p:cNvPicPr>
          <p:nvPr/>
        </p:nvPicPr>
        <p:blipFill>
          <a:blip r:embed="rId3"/>
          <a:stretch>
            <a:fillRect/>
          </a:stretch>
        </p:blipFill>
        <p:spPr>
          <a:xfrm>
            <a:off x="8714511" y="4274306"/>
            <a:ext cx="3348000" cy="602586"/>
          </a:xfrm>
          <a:prstGeom prst="rect">
            <a:avLst/>
          </a:prstGeom>
        </p:spPr>
      </p:pic>
      <p:pic>
        <p:nvPicPr>
          <p:cNvPr id="14" name="Picture 13">
            <a:extLst>
              <a:ext uri="{FF2B5EF4-FFF2-40B4-BE49-F238E27FC236}">
                <a16:creationId xmlns:a16="http://schemas.microsoft.com/office/drawing/2014/main" id="{395956C9-23F5-4033-9FA0-EADB33434095}"/>
              </a:ext>
            </a:extLst>
          </p:cNvPr>
          <p:cNvPicPr>
            <a:picLocks noChangeAspect="1"/>
          </p:cNvPicPr>
          <p:nvPr/>
        </p:nvPicPr>
        <p:blipFill>
          <a:blip r:embed="rId3"/>
          <a:stretch>
            <a:fillRect/>
          </a:stretch>
        </p:blipFill>
        <p:spPr>
          <a:xfrm>
            <a:off x="8714511" y="5064015"/>
            <a:ext cx="3348000" cy="962804"/>
          </a:xfrm>
          <a:prstGeom prst="rect">
            <a:avLst/>
          </a:prstGeom>
        </p:spPr>
      </p:pic>
      <p:sp>
        <p:nvSpPr>
          <p:cNvPr id="15" name="TextBox 14">
            <a:extLst>
              <a:ext uri="{FF2B5EF4-FFF2-40B4-BE49-F238E27FC236}">
                <a16:creationId xmlns:a16="http://schemas.microsoft.com/office/drawing/2014/main" id="{346174BB-E288-AA58-8166-64E57F41DE8A}"/>
              </a:ext>
            </a:extLst>
          </p:cNvPr>
          <p:cNvSpPr txBox="1"/>
          <p:nvPr/>
        </p:nvSpPr>
        <p:spPr>
          <a:xfrm>
            <a:off x="0" y="68340"/>
            <a:ext cx="1149927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8EC0"/>
                </a:solidFill>
                <a:effectLst/>
                <a:uLnTx/>
                <a:uFillTx/>
                <a:latin typeface="Calibri" panose="020F0502020204030204"/>
                <a:ea typeface="+mn-ea"/>
                <a:cs typeface="+mn-cs"/>
              </a:rPr>
              <a:t>The Elements of User Experience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 basic duality (Garrett, 2000): </a:t>
            </a:r>
          </a:p>
        </p:txBody>
      </p:sp>
      <p:sp>
        <p:nvSpPr>
          <p:cNvPr id="16" name="TextBox 15">
            <a:extLst>
              <a:ext uri="{FF2B5EF4-FFF2-40B4-BE49-F238E27FC236}">
                <a16:creationId xmlns:a16="http://schemas.microsoft.com/office/drawing/2014/main" id="{41C234C2-BDD9-9DED-5C75-FD3CA91062DC}"/>
              </a:ext>
            </a:extLst>
          </p:cNvPr>
          <p:cNvSpPr txBox="1"/>
          <p:nvPr/>
        </p:nvSpPr>
        <p:spPr>
          <a:xfrm>
            <a:off x="3403021" y="3350954"/>
            <a:ext cx="13785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C3399"/>
                </a:solidFill>
                <a:effectLst/>
                <a:uLnTx/>
                <a:uFillTx/>
                <a:latin typeface="Calibri" panose="020F0502020204030204"/>
                <a:ea typeface="+mn-ea"/>
                <a:cs typeface="+mn-cs"/>
              </a:rPr>
              <a:t>3. Structure</a:t>
            </a:r>
          </a:p>
        </p:txBody>
      </p:sp>
      <p:sp>
        <p:nvSpPr>
          <p:cNvPr id="18" name="TextBox 17">
            <a:extLst>
              <a:ext uri="{FF2B5EF4-FFF2-40B4-BE49-F238E27FC236}">
                <a16:creationId xmlns:a16="http://schemas.microsoft.com/office/drawing/2014/main" id="{70A8B11F-C1D2-65C2-5512-21B3A249C4D2}"/>
              </a:ext>
            </a:extLst>
          </p:cNvPr>
          <p:cNvSpPr txBox="1"/>
          <p:nvPr/>
        </p:nvSpPr>
        <p:spPr>
          <a:xfrm>
            <a:off x="3477490" y="4414393"/>
            <a:ext cx="122959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C3399"/>
                </a:solidFill>
                <a:effectLst/>
                <a:uLnTx/>
                <a:uFillTx/>
                <a:latin typeface="Calibri" panose="020F0502020204030204"/>
                <a:ea typeface="+mn-ea"/>
                <a:cs typeface="+mn-cs"/>
              </a:rPr>
              <a:t>2. Scope</a:t>
            </a:r>
          </a:p>
        </p:txBody>
      </p:sp>
      <p:sp>
        <p:nvSpPr>
          <p:cNvPr id="20" name="TextBox 19">
            <a:extLst>
              <a:ext uri="{FF2B5EF4-FFF2-40B4-BE49-F238E27FC236}">
                <a16:creationId xmlns:a16="http://schemas.microsoft.com/office/drawing/2014/main" id="{AF67CBA4-A6C6-5CB3-25CF-81FA388D9933}"/>
              </a:ext>
            </a:extLst>
          </p:cNvPr>
          <p:cNvSpPr txBox="1"/>
          <p:nvPr/>
        </p:nvSpPr>
        <p:spPr>
          <a:xfrm>
            <a:off x="3477490" y="5267296"/>
            <a:ext cx="122959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C3399"/>
                </a:solidFill>
                <a:effectLst/>
                <a:uLnTx/>
                <a:uFillTx/>
                <a:latin typeface="Calibri" panose="020F0502020204030204"/>
                <a:ea typeface="+mn-ea"/>
                <a:cs typeface="+mn-cs"/>
              </a:rPr>
              <a:t>1. Strategy</a:t>
            </a:r>
          </a:p>
        </p:txBody>
      </p:sp>
      <p:pic>
        <p:nvPicPr>
          <p:cNvPr id="17" name="Picture 16">
            <a:extLst>
              <a:ext uri="{FF2B5EF4-FFF2-40B4-BE49-F238E27FC236}">
                <a16:creationId xmlns:a16="http://schemas.microsoft.com/office/drawing/2014/main" id="{797AE3D7-5994-7190-404F-EE78AB283C0E}"/>
              </a:ext>
            </a:extLst>
          </p:cNvPr>
          <p:cNvPicPr>
            <a:picLocks noChangeAspect="1"/>
          </p:cNvPicPr>
          <p:nvPr/>
        </p:nvPicPr>
        <p:blipFill>
          <a:blip r:embed="rId4"/>
          <a:stretch>
            <a:fillRect/>
          </a:stretch>
        </p:blipFill>
        <p:spPr>
          <a:xfrm>
            <a:off x="11499272" y="1"/>
            <a:ext cx="691203" cy="602820"/>
          </a:xfrm>
          <a:prstGeom prst="rect">
            <a:avLst/>
          </a:prstGeom>
        </p:spPr>
      </p:pic>
      <p:sp>
        <p:nvSpPr>
          <p:cNvPr id="2" name="TextBox 1">
            <a:extLst>
              <a:ext uri="{FF2B5EF4-FFF2-40B4-BE49-F238E27FC236}">
                <a16:creationId xmlns:a16="http://schemas.microsoft.com/office/drawing/2014/main" id="{A0DFB3F3-EA94-10C8-216C-A91C76023FCB}"/>
              </a:ext>
            </a:extLst>
          </p:cNvPr>
          <p:cNvSpPr txBox="1"/>
          <p:nvPr/>
        </p:nvSpPr>
        <p:spPr>
          <a:xfrm>
            <a:off x="2202874" y="2051350"/>
            <a:ext cx="277090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C3399"/>
                </a:solidFill>
                <a:effectLst/>
                <a:uLnTx/>
                <a:uFillTx/>
                <a:latin typeface="Calibri" panose="020F0502020204030204"/>
                <a:ea typeface="+mn-ea"/>
                <a:cs typeface="+mn-cs"/>
              </a:rPr>
              <a:t>4. UX and User Interface and Visual Design </a:t>
            </a:r>
          </a:p>
        </p:txBody>
      </p:sp>
    </p:spTree>
    <p:extLst>
      <p:ext uri="{BB962C8B-B14F-4D97-AF65-F5344CB8AC3E}">
        <p14:creationId xmlns:p14="http://schemas.microsoft.com/office/powerpoint/2010/main" val="3957508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nodeType="clickEffect">
                                  <p:stCondLst>
                                    <p:cond delay="0"/>
                                  </p:stCondLst>
                                  <p:childTnLst>
                                    <p:animEffect transition="out" filter="fade">
                                      <p:cBhvr>
                                        <p:cTn id="6" dur="1000"/>
                                        <p:tgtEl>
                                          <p:spTgt spid="8"/>
                                        </p:tgtEl>
                                      </p:cBhvr>
                                    </p:animEffect>
                                    <p:anim calcmode="lin" valueType="num">
                                      <p:cBhvr>
                                        <p:cTn id="7" dur="1000"/>
                                        <p:tgtEl>
                                          <p:spTgt spid="8"/>
                                        </p:tgtEl>
                                        <p:attrNameLst>
                                          <p:attrName>ppt_x</p:attrName>
                                        </p:attrNameLst>
                                      </p:cBhvr>
                                      <p:tavLst>
                                        <p:tav tm="0">
                                          <p:val>
                                            <p:strVal val="ppt_x"/>
                                          </p:val>
                                        </p:tav>
                                        <p:tav tm="100000">
                                          <p:val>
                                            <p:strVal val="ppt_x"/>
                                          </p:val>
                                        </p:tav>
                                      </p:tavLst>
                                    </p:anim>
                                    <p:anim calcmode="lin" valueType="num">
                                      <p:cBhvr>
                                        <p:cTn id="8" dur="1000"/>
                                        <p:tgtEl>
                                          <p:spTgt spid="8"/>
                                        </p:tgtEl>
                                        <p:attrNameLst>
                                          <p:attrName>ppt_y</p:attrName>
                                        </p:attrNameLst>
                                      </p:cBhvr>
                                      <p:tavLst>
                                        <p:tav tm="0">
                                          <p:val>
                                            <p:strVal val="ppt_y"/>
                                          </p:val>
                                        </p:tav>
                                        <p:tav tm="100000">
                                          <p:val>
                                            <p:strVal val="ppt_y+.1"/>
                                          </p:val>
                                        </p:tav>
                                      </p:tavLst>
                                    </p:anim>
                                    <p:set>
                                      <p:cBhvr>
                                        <p:cTn id="9" dur="1" fill="hold">
                                          <p:stCondLst>
                                            <p:cond delay="999"/>
                                          </p:stCondLst>
                                        </p:cTn>
                                        <p:tgtEl>
                                          <p:spTgt spid="8"/>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nodeType="clickEffect">
                                  <p:stCondLst>
                                    <p:cond delay="0"/>
                                  </p:stCondLst>
                                  <p:childTnLst>
                                    <p:animEffect transition="out" filter="fade">
                                      <p:cBhvr>
                                        <p:cTn id="13" dur="1000"/>
                                        <p:tgtEl>
                                          <p:spTgt spid="14"/>
                                        </p:tgtEl>
                                      </p:cBhvr>
                                    </p:animEffect>
                                    <p:anim calcmode="lin" valueType="num">
                                      <p:cBhvr>
                                        <p:cTn id="14" dur="1000"/>
                                        <p:tgtEl>
                                          <p:spTgt spid="14"/>
                                        </p:tgtEl>
                                        <p:attrNameLst>
                                          <p:attrName>ppt_x</p:attrName>
                                        </p:attrNameLst>
                                      </p:cBhvr>
                                      <p:tavLst>
                                        <p:tav tm="0">
                                          <p:val>
                                            <p:strVal val="ppt_x"/>
                                          </p:val>
                                        </p:tav>
                                        <p:tav tm="100000">
                                          <p:val>
                                            <p:strVal val="ppt_x"/>
                                          </p:val>
                                        </p:tav>
                                      </p:tavLst>
                                    </p:anim>
                                    <p:anim calcmode="lin" valueType="num">
                                      <p:cBhvr>
                                        <p:cTn id="15" dur="1000"/>
                                        <p:tgtEl>
                                          <p:spTgt spid="14"/>
                                        </p:tgtEl>
                                        <p:attrNameLst>
                                          <p:attrName>ppt_y</p:attrName>
                                        </p:attrNameLst>
                                      </p:cBhvr>
                                      <p:tavLst>
                                        <p:tav tm="0">
                                          <p:val>
                                            <p:strVal val="ppt_y"/>
                                          </p:val>
                                        </p:tav>
                                        <p:tav tm="100000">
                                          <p:val>
                                            <p:strVal val="ppt_y+.1"/>
                                          </p:val>
                                        </p:tav>
                                      </p:tavLst>
                                    </p:anim>
                                    <p:set>
                                      <p:cBhvr>
                                        <p:cTn id="16" dur="1" fill="hold">
                                          <p:stCondLst>
                                            <p:cond delay="999"/>
                                          </p:stCondLst>
                                        </p:cTn>
                                        <p:tgtEl>
                                          <p:spTgt spid="1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xit" presetSubtype="0" fill="hold" nodeType="clickEffect">
                                  <p:stCondLst>
                                    <p:cond delay="0"/>
                                  </p:stCondLst>
                                  <p:childTnLst>
                                    <p:animEffect transition="out" filter="fade">
                                      <p:cBhvr>
                                        <p:cTn id="20" dur="1000"/>
                                        <p:tgtEl>
                                          <p:spTgt spid="7"/>
                                        </p:tgtEl>
                                      </p:cBhvr>
                                    </p:animEffect>
                                    <p:anim calcmode="lin" valueType="num">
                                      <p:cBhvr>
                                        <p:cTn id="21" dur="1000"/>
                                        <p:tgtEl>
                                          <p:spTgt spid="7"/>
                                        </p:tgtEl>
                                        <p:attrNameLst>
                                          <p:attrName>ppt_x</p:attrName>
                                        </p:attrNameLst>
                                      </p:cBhvr>
                                      <p:tavLst>
                                        <p:tav tm="0">
                                          <p:val>
                                            <p:strVal val="ppt_x"/>
                                          </p:val>
                                        </p:tav>
                                        <p:tav tm="100000">
                                          <p:val>
                                            <p:strVal val="ppt_x"/>
                                          </p:val>
                                        </p:tav>
                                      </p:tavLst>
                                    </p:anim>
                                    <p:anim calcmode="lin" valueType="num">
                                      <p:cBhvr>
                                        <p:cTn id="22" dur="1000"/>
                                        <p:tgtEl>
                                          <p:spTgt spid="7"/>
                                        </p:tgtEl>
                                        <p:attrNameLst>
                                          <p:attrName>ppt_y</p:attrName>
                                        </p:attrNameLst>
                                      </p:cBhvr>
                                      <p:tavLst>
                                        <p:tav tm="0">
                                          <p:val>
                                            <p:strVal val="ppt_y"/>
                                          </p:val>
                                        </p:tav>
                                        <p:tav tm="100000">
                                          <p:val>
                                            <p:strVal val="ppt_y+.1"/>
                                          </p:val>
                                        </p:tav>
                                      </p:tavLst>
                                    </p:anim>
                                    <p:set>
                                      <p:cBhvr>
                                        <p:cTn id="23" dur="1" fill="hold">
                                          <p:stCondLst>
                                            <p:cond delay="999"/>
                                          </p:stCondLst>
                                        </p:cTn>
                                        <p:tgtEl>
                                          <p:spTgt spid="7"/>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42" presetClass="exit" presetSubtype="0" fill="hold" nodeType="clickEffect">
                                  <p:stCondLst>
                                    <p:cond delay="0"/>
                                  </p:stCondLst>
                                  <p:childTnLst>
                                    <p:animEffect transition="out" filter="fade">
                                      <p:cBhvr>
                                        <p:cTn id="27" dur="1000"/>
                                        <p:tgtEl>
                                          <p:spTgt spid="13"/>
                                        </p:tgtEl>
                                      </p:cBhvr>
                                    </p:animEffect>
                                    <p:anim calcmode="lin" valueType="num">
                                      <p:cBhvr>
                                        <p:cTn id="28" dur="1000"/>
                                        <p:tgtEl>
                                          <p:spTgt spid="13"/>
                                        </p:tgtEl>
                                        <p:attrNameLst>
                                          <p:attrName>ppt_x</p:attrName>
                                        </p:attrNameLst>
                                      </p:cBhvr>
                                      <p:tavLst>
                                        <p:tav tm="0">
                                          <p:val>
                                            <p:strVal val="ppt_x"/>
                                          </p:val>
                                        </p:tav>
                                        <p:tav tm="100000">
                                          <p:val>
                                            <p:strVal val="ppt_x"/>
                                          </p:val>
                                        </p:tav>
                                      </p:tavLst>
                                    </p:anim>
                                    <p:anim calcmode="lin" valueType="num">
                                      <p:cBhvr>
                                        <p:cTn id="29" dur="1000"/>
                                        <p:tgtEl>
                                          <p:spTgt spid="13"/>
                                        </p:tgtEl>
                                        <p:attrNameLst>
                                          <p:attrName>ppt_y</p:attrName>
                                        </p:attrNameLst>
                                      </p:cBhvr>
                                      <p:tavLst>
                                        <p:tav tm="0">
                                          <p:val>
                                            <p:strVal val="ppt_y"/>
                                          </p:val>
                                        </p:tav>
                                        <p:tav tm="100000">
                                          <p:val>
                                            <p:strVal val="ppt_y+.1"/>
                                          </p:val>
                                        </p:tav>
                                      </p:tavLst>
                                    </p:anim>
                                    <p:set>
                                      <p:cBhvr>
                                        <p:cTn id="30" dur="1" fill="hold">
                                          <p:stCondLst>
                                            <p:cond delay="999"/>
                                          </p:stCondLst>
                                        </p:cTn>
                                        <p:tgtEl>
                                          <p:spTgt spid="1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42" presetClass="exit" presetSubtype="0" fill="hold" nodeType="clickEffect">
                                  <p:stCondLst>
                                    <p:cond delay="0"/>
                                  </p:stCondLst>
                                  <p:childTnLst>
                                    <p:animEffect transition="out" filter="fade">
                                      <p:cBhvr>
                                        <p:cTn id="34" dur="1000"/>
                                        <p:tgtEl>
                                          <p:spTgt spid="6"/>
                                        </p:tgtEl>
                                      </p:cBhvr>
                                    </p:animEffect>
                                    <p:anim calcmode="lin" valueType="num">
                                      <p:cBhvr>
                                        <p:cTn id="35" dur="1000"/>
                                        <p:tgtEl>
                                          <p:spTgt spid="6"/>
                                        </p:tgtEl>
                                        <p:attrNameLst>
                                          <p:attrName>ppt_x</p:attrName>
                                        </p:attrNameLst>
                                      </p:cBhvr>
                                      <p:tavLst>
                                        <p:tav tm="0">
                                          <p:val>
                                            <p:strVal val="ppt_x"/>
                                          </p:val>
                                        </p:tav>
                                        <p:tav tm="100000">
                                          <p:val>
                                            <p:strVal val="ppt_x"/>
                                          </p:val>
                                        </p:tav>
                                      </p:tavLst>
                                    </p:anim>
                                    <p:anim calcmode="lin" valueType="num">
                                      <p:cBhvr>
                                        <p:cTn id="36" dur="1000"/>
                                        <p:tgtEl>
                                          <p:spTgt spid="6"/>
                                        </p:tgtEl>
                                        <p:attrNameLst>
                                          <p:attrName>ppt_y</p:attrName>
                                        </p:attrNameLst>
                                      </p:cBhvr>
                                      <p:tavLst>
                                        <p:tav tm="0">
                                          <p:val>
                                            <p:strVal val="ppt_y"/>
                                          </p:val>
                                        </p:tav>
                                        <p:tav tm="100000">
                                          <p:val>
                                            <p:strVal val="ppt_y+.1"/>
                                          </p:val>
                                        </p:tav>
                                      </p:tavLst>
                                    </p:anim>
                                    <p:set>
                                      <p:cBhvr>
                                        <p:cTn id="37" dur="1" fill="hold">
                                          <p:stCondLst>
                                            <p:cond delay="999"/>
                                          </p:stCondLst>
                                        </p:cTn>
                                        <p:tgtEl>
                                          <p:spTgt spid="6"/>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42" presetClass="exit" presetSubtype="0" fill="hold" nodeType="clickEffect">
                                  <p:stCondLst>
                                    <p:cond delay="0"/>
                                  </p:stCondLst>
                                  <p:childTnLst>
                                    <p:animEffect transition="out" filter="fade">
                                      <p:cBhvr>
                                        <p:cTn id="41" dur="1000"/>
                                        <p:tgtEl>
                                          <p:spTgt spid="11"/>
                                        </p:tgtEl>
                                      </p:cBhvr>
                                    </p:animEffect>
                                    <p:anim calcmode="lin" valueType="num">
                                      <p:cBhvr>
                                        <p:cTn id="42" dur="1000"/>
                                        <p:tgtEl>
                                          <p:spTgt spid="11"/>
                                        </p:tgtEl>
                                        <p:attrNameLst>
                                          <p:attrName>ppt_x</p:attrName>
                                        </p:attrNameLst>
                                      </p:cBhvr>
                                      <p:tavLst>
                                        <p:tav tm="0">
                                          <p:val>
                                            <p:strVal val="ppt_x"/>
                                          </p:val>
                                        </p:tav>
                                        <p:tav tm="100000">
                                          <p:val>
                                            <p:strVal val="ppt_x"/>
                                          </p:val>
                                        </p:tav>
                                      </p:tavLst>
                                    </p:anim>
                                    <p:anim calcmode="lin" valueType="num">
                                      <p:cBhvr>
                                        <p:cTn id="43" dur="1000"/>
                                        <p:tgtEl>
                                          <p:spTgt spid="11"/>
                                        </p:tgtEl>
                                        <p:attrNameLst>
                                          <p:attrName>ppt_y</p:attrName>
                                        </p:attrNameLst>
                                      </p:cBhvr>
                                      <p:tavLst>
                                        <p:tav tm="0">
                                          <p:val>
                                            <p:strVal val="ppt_y"/>
                                          </p:val>
                                        </p:tav>
                                        <p:tav tm="100000">
                                          <p:val>
                                            <p:strVal val="ppt_y+.1"/>
                                          </p:val>
                                        </p:tav>
                                      </p:tavLst>
                                    </p:anim>
                                    <p:set>
                                      <p:cBhvr>
                                        <p:cTn id="44" dur="1" fill="hold">
                                          <p:stCondLst>
                                            <p:cond delay="999"/>
                                          </p:stCondLst>
                                        </p:cTn>
                                        <p:tgtEl>
                                          <p:spTgt spid="1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42" presetClass="exit" presetSubtype="0" fill="hold" nodeType="clickEffect">
                                  <p:stCondLst>
                                    <p:cond delay="0"/>
                                  </p:stCondLst>
                                  <p:childTnLst>
                                    <p:animEffect transition="out" filter="fade">
                                      <p:cBhvr>
                                        <p:cTn id="48" dur="1000"/>
                                        <p:tgtEl>
                                          <p:spTgt spid="5"/>
                                        </p:tgtEl>
                                      </p:cBhvr>
                                    </p:animEffect>
                                    <p:anim calcmode="lin" valueType="num">
                                      <p:cBhvr>
                                        <p:cTn id="49" dur="1000"/>
                                        <p:tgtEl>
                                          <p:spTgt spid="5"/>
                                        </p:tgtEl>
                                        <p:attrNameLst>
                                          <p:attrName>ppt_x</p:attrName>
                                        </p:attrNameLst>
                                      </p:cBhvr>
                                      <p:tavLst>
                                        <p:tav tm="0">
                                          <p:val>
                                            <p:strVal val="ppt_x"/>
                                          </p:val>
                                        </p:tav>
                                        <p:tav tm="100000">
                                          <p:val>
                                            <p:strVal val="ppt_x"/>
                                          </p:val>
                                        </p:tav>
                                      </p:tavLst>
                                    </p:anim>
                                    <p:anim calcmode="lin" valueType="num">
                                      <p:cBhvr>
                                        <p:cTn id="50" dur="1000"/>
                                        <p:tgtEl>
                                          <p:spTgt spid="5"/>
                                        </p:tgtEl>
                                        <p:attrNameLst>
                                          <p:attrName>ppt_y</p:attrName>
                                        </p:attrNameLst>
                                      </p:cBhvr>
                                      <p:tavLst>
                                        <p:tav tm="0">
                                          <p:val>
                                            <p:strVal val="ppt_y"/>
                                          </p:val>
                                        </p:tav>
                                        <p:tav tm="100000">
                                          <p:val>
                                            <p:strVal val="ppt_y+.1"/>
                                          </p:val>
                                        </p:tav>
                                      </p:tavLst>
                                    </p:anim>
                                    <p:set>
                                      <p:cBhvr>
                                        <p:cTn id="51" dur="1" fill="hold">
                                          <p:stCondLst>
                                            <p:cond delay="999"/>
                                          </p:stCondLst>
                                        </p:cTn>
                                        <p:tgtEl>
                                          <p:spTgt spid="5"/>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42" presetClass="exit" presetSubtype="0" fill="hold" nodeType="clickEffect">
                                  <p:stCondLst>
                                    <p:cond delay="0"/>
                                  </p:stCondLst>
                                  <p:childTnLst>
                                    <p:animEffect transition="out" filter="fade">
                                      <p:cBhvr>
                                        <p:cTn id="55" dur="1000"/>
                                        <p:tgtEl>
                                          <p:spTgt spid="10"/>
                                        </p:tgtEl>
                                      </p:cBhvr>
                                    </p:animEffect>
                                    <p:anim calcmode="lin" valueType="num">
                                      <p:cBhvr>
                                        <p:cTn id="56" dur="1000"/>
                                        <p:tgtEl>
                                          <p:spTgt spid="10"/>
                                        </p:tgtEl>
                                        <p:attrNameLst>
                                          <p:attrName>ppt_x</p:attrName>
                                        </p:attrNameLst>
                                      </p:cBhvr>
                                      <p:tavLst>
                                        <p:tav tm="0">
                                          <p:val>
                                            <p:strVal val="ppt_x"/>
                                          </p:val>
                                        </p:tav>
                                        <p:tav tm="100000">
                                          <p:val>
                                            <p:strVal val="ppt_x"/>
                                          </p:val>
                                        </p:tav>
                                      </p:tavLst>
                                    </p:anim>
                                    <p:anim calcmode="lin" valueType="num">
                                      <p:cBhvr>
                                        <p:cTn id="57" dur="1000"/>
                                        <p:tgtEl>
                                          <p:spTgt spid="10"/>
                                        </p:tgtEl>
                                        <p:attrNameLst>
                                          <p:attrName>ppt_y</p:attrName>
                                        </p:attrNameLst>
                                      </p:cBhvr>
                                      <p:tavLst>
                                        <p:tav tm="0">
                                          <p:val>
                                            <p:strVal val="ppt_y"/>
                                          </p:val>
                                        </p:tav>
                                        <p:tav tm="100000">
                                          <p:val>
                                            <p:strVal val="ppt_y+.1"/>
                                          </p:val>
                                        </p:tav>
                                      </p:tavLst>
                                    </p:anim>
                                    <p:set>
                                      <p:cBhvr>
                                        <p:cTn id="58" dur="1" fill="hold">
                                          <p:stCondLst>
                                            <p:cond delay="999"/>
                                          </p:stCondLst>
                                        </p:cTn>
                                        <p:tgtEl>
                                          <p:spTgt spid="10"/>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42" presetClass="exit" presetSubtype="0" fill="hold" nodeType="clickEffect">
                                  <p:stCondLst>
                                    <p:cond delay="0"/>
                                  </p:stCondLst>
                                  <p:childTnLst>
                                    <p:animEffect transition="out" filter="fade">
                                      <p:cBhvr>
                                        <p:cTn id="62" dur="1000"/>
                                        <p:tgtEl>
                                          <p:spTgt spid="3"/>
                                        </p:tgtEl>
                                      </p:cBhvr>
                                    </p:animEffect>
                                    <p:anim calcmode="lin" valueType="num">
                                      <p:cBhvr>
                                        <p:cTn id="63" dur="1000"/>
                                        <p:tgtEl>
                                          <p:spTgt spid="3"/>
                                        </p:tgtEl>
                                        <p:attrNameLst>
                                          <p:attrName>ppt_x</p:attrName>
                                        </p:attrNameLst>
                                      </p:cBhvr>
                                      <p:tavLst>
                                        <p:tav tm="0">
                                          <p:val>
                                            <p:strVal val="ppt_x"/>
                                          </p:val>
                                        </p:tav>
                                        <p:tav tm="100000">
                                          <p:val>
                                            <p:strVal val="ppt_x"/>
                                          </p:val>
                                        </p:tav>
                                      </p:tavLst>
                                    </p:anim>
                                    <p:anim calcmode="lin" valueType="num">
                                      <p:cBhvr>
                                        <p:cTn id="64" dur="1000"/>
                                        <p:tgtEl>
                                          <p:spTgt spid="3"/>
                                        </p:tgtEl>
                                        <p:attrNameLst>
                                          <p:attrName>ppt_y</p:attrName>
                                        </p:attrNameLst>
                                      </p:cBhvr>
                                      <p:tavLst>
                                        <p:tav tm="0">
                                          <p:val>
                                            <p:strVal val="ppt_y"/>
                                          </p:val>
                                        </p:tav>
                                        <p:tav tm="100000">
                                          <p:val>
                                            <p:strVal val="ppt_y+.1"/>
                                          </p:val>
                                        </p:tav>
                                      </p:tavLst>
                                    </p:anim>
                                    <p:set>
                                      <p:cBhvr>
                                        <p:cTn id="65" dur="1" fill="hold">
                                          <p:stCondLst>
                                            <p:cond delay="999"/>
                                          </p:stCondLst>
                                        </p:cTn>
                                        <p:tgtEl>
                                          <p:spTgt spid="3"/>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42" presetClass="exit" presetSubtype="0" fill="hold" nodeType="clickEffect">
                                  <p:stCondLst>
                                    <p:cond delay="0"/>
                                  </p:stCondLst>
                                  <p:childTnLst>
                                    <p:animEffect transition="out" filter="fade">
                                      <p:cBhvr>
                                        <p:cTn id="69" dur="1000"/>
                                        <p:tgtEl>
                                          <p:spTgt spid="9"/>
                                        </p:tgtEl>
                                      </p:cBhvr>
                                    </p:animEffect>
                                    <p:anim calcmode="lin" valueType="num">
                                      <p:cBhvr>
                                        <p:cTn id="70" dur="1000"/>
                                        <p:tgtEl>
                                          <p:spTgt spid="9"/>
                                        </p:tgtEl>
                                        <p:attrNameLst>
                                          <p:attrName>ppt_x</p:attrName>
                                        </p:attrNameLst>
                                      </p:cBhvr>
                                      <p:tavLst>
                                        <p:tav tm="0">
                                          <p:val>
                                            <p:strVal val="ppt_x"/>
                                          </p:val>
                                        </p:tav>
                                        <p:tav tm="100000">
                                          <p:val>
                                            <p:strVal val="ppt_x"/>
                                          </p:val>
                                        </p:tav>
                                      </p:tavLst>
                                    </p:anim>
                                    <p:anim calcmode="lin" valueType="num">
                                      <p:cBhvr>
                                        <p:cTn id="71" dur="1000"/>
                                        <p:tgtEl>
                                          <p:spTgt spid="9"/>
                                        </p:tgtEl>
                                        <p:attrNameLst>
                                          <p:attrName>ppt_y</p:attrName>
                                        </p:attrNameLst>
                                      </p:cBhvr>
                                      <p:tavLst>
                                        <p:tav tm="0">
                                          <p:val>
                                            <p:strVal val="ppt_y"/>
                                          </p:val>
                                        </p:tav>
                                        <p:tav tm="100000">
                                          <p:val>
                                            <p:strVal val="ppt_y+.1"/>
                                          </p:val>
                                        </p:tav>
                                      </p:tavLst>
                                    </p:anim>
                                    <p:set>
                                      <p:cBhvr>
                                        <p:cTn id="72" dur="1" fill="hold">
                                          <p:stCondLst>
                                            <p:cond delay="9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A5ED45EE-16DD-41FE-A542-4FD400E90D11}"/>
              </a:ext>
            </a:extLst>
          </p:cNvPr>
          <p:cNvSpPr txBox="1"/>
          <p:nvPr/>
        </p:nvSpPr>
        <p:spPr>
          <a:xfrm>
            <a:off x="193963" y="6546365"/>
            <a:ext cx="1291243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Resource: Garrett, J. J. 2000. The elements of User Experience. [Online]. Available at: https://hci.stanford.edu/dsc </a:t>
            </a:r>
            <a:r>
              <a:rPr kumimoji="0" lang="en-US" sz="1200" b="0" i="0" u="none" strike="noStrike" kern="1200" cap="none" spc="0" normalizeH="0" baseline="0" noProof="0" dirty="0" err="1">
                <a:ln>
                  <a:noFill/>
                </a:ln>
                <a:solidFill>
                  <a:prstClr val="white">
                    <a:lumMod val="50000"/>
                  </a:prstClr>
                </a:solidFill>
                <a:effectLst/>
                <a:uLnTx/>
                <a:uFillTx/>
                <a:latin typeface="Calibri" panose="020F0502020204030204"/>
                <a:ea typeface="+mn-ea"/>
                <a:cs typeface="+mn-cs"/>
              </a:rPr>
              <a:t>hool</a:t>
            </a:r>
            <a:r>
              <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/resources/interaction/ garrett-elements.pdf [Accessed 19 August 2022].</a:t>
            </a:r>
          </a:p>
        </p:txBody>
      </p:sp>
      <p:pic>
        <p:nvPicPr>
          <p:cNvPr id="4" name="Picture 3">
            <a:extLst>
              <a:ext uri="{FF2B5EF4-FFF2-40B4-BE49-F238E27FC236}">
                <a16:creationId xmlns:a16="http://schemas.microsoft.com/office/drawing/2014/main" id="{81AA1796-BBA6-3347-BB2E-9DF28F497E4D}"/>
              </a:ext>
            </a:extLst>
          </p:cNvPr>
          <p:cNvPicPr>
            <a:picLocks noChangeAspect="1"/>
          </p:cNvPicPr>
          <p:nvPr/>
        </p:nvPicPr>
        <p:blipFill>
          <a:blip r:embed="rId2"/>
          <a:stretch>
            <a:fillRect/>
          </a:stretch>
        </p:blipFill>
        <p:spPr>
          <a:xfrm>
            <a:off x="332509" y="914032"/>
            <a:ext cx="11430000" cy="5476290"/>
          </a:xfrm>
          <a:prstGeom prst="rect">
            <a:avLst/>
          </a:prstGeom>
        </p:spPr>
      </p:pic>
      <p:sp>
        <p:nvSpPr>
          <p:cNvPr id="5" name="TextBox 4">
            <a:extLst>
              <a:ext uri="{FF2B5EF4-FFF2-40B4-BE49-F238E27FC236}">
                <a16:creationId xmlns:a16="http://schemas.microsoft.com/office/drawing/2014/main" id="{0EA86157-BDF8-D82A-4DF3-27556E8281CA}"/>
              </a:ext>
            </a:extLst>
          </p:cNvPr>
          <p:cNvSpPr txBox="1"/>
          <p:nvPr/>
        </p:nvSpPr>
        <p:spPr>
          <a:xfrm>
            <a:off x="193963" y="83035"/>
            <a:ext cx="11194473"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model defines the </a:t>
            </a:r>
            <a:r>
              <a:rPr kumimoji="0" lang="en-US" sz="2400" b="0" i="0" u="none" strike="noStrike" kern="1200" cap="none" spc="0" normalizeH="0" baseline="0" noProof="0" dirty="0">
                <a:ln>
                  <a:noFill/>
                </a:ln>
                <a:solidFill>
                  <a:srgbClr val="00B050"/>
                </a:solidFill>
                <a:effectLst/>
                <a:uLnTx/>
                <a:uFillTx/>
                <a:latin typeface="Calibri" panose="020F0502020204030204"/>
                <a:ea typeface="+mn-ea"/>
                <a:cs typeface="+mn-cs"/>
              </a:rPr>
              <a:t>key considerations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that go into the </a:t>
            </a:r>
            <a:r>
              <a:rPr kumimoji="0" lang="en-US" sz="2400" b="0" i="0" u="none" strike="noStrike" kern="1200" cap="none" spc="0" normalizeH="0" baseline="0" noProof="0" dirty="0">
                <a:ln>
                  <a:noFill/>
                </a:ln>
                <a:solidFill>
                  <a:srgbClr val="E23ACE"/>
                </a:solidFill>
                <a:effectLst/>
                <a:uLnTx/>
                <a:uFillTx/>
                <a:latin typeface="Calibri" panose="020F0502020204030204"/>
                <a:ea typeface="+mn-ea"/>
                <a:cs typeface="+mn-cs"/>
              </a:rPr>
              <a:t>development of user experience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on the web today.</a:t>
            </a:r>
            <a:endParaRPr kumimoji="0" lang="en-ZA"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2E95CF5C-6B02-E004-731A-5EC6745656AC}"/>
              </a:ext>
            </a:extLst>
          </p:cNvPr>
          <p:cNvPicPr>
            <a:picLocks noChangeAspect="1"/>
          </p:cNvPicPr>
          <p:nvPr/>
        </p:nvPicPr>
        <p:blipFill>
          <a:blip r:embed="rId3"/>
          <a:stretch>
            <a:fillRect/>
          </a:stretch>
        </p:blipFill>
        <p:spPr>
          <a:xfrm>
            <a:off x="11499272" y="1"/>
            <a:ext cx="691203" cy="602820"/>
          </a:xfrm>
          <a:prstGeom prst="rect">
            <a:avLst/>
          </a:prstGeom>
        </p:spPr>
      </p:pic>
    </p:spTree>
    <p:extLst>
      <p:ext uri="{BB962C8B-B14F-4D97-AF65-F5344CB8AC3E}">
        <p14:creationId xmlns:p14="http://schemas.microsoft.com/office/powerpoint/2010/main" val="25566484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EB63B3-B7DA-7056-C38F-286669523498}"/>
              </a:ext>
            </a:extLst>
          </p:cNvPr>
          <p:cNvPicPr>
            <a:picLocks noChangeAspect="1"/>
          </p:cNvPicPr>
          <p:nvPr/>
        </p:nvPicPr>
        <p:blipFill>
          <a:blip r:embed="rId2"/>
          <a:stretch>
            <a:fillRect/>
          </a:stretch>
        </p:blipFill>
        <p:spPr>
          <a:xfrm>
            <a:off x="6436496" y="166254"/>
            <a:ext cx="4314631" cy="6501993"/>
          </a:xfrm>
          <a:prstGeom prst="rect">
            <a:avLst/>
          </a:prstGeom>
        </p:spPr>
      </p:pic>
      <p:sp>
        <p:nvSpPr>
          <p:cNvPr id="7" name="TextBox 6">
            <a:extLst>
              <a:ext uri="{FF2B5EF4-FFF2-40B4-BE49-F238E27FC236}">
                <a16:creationId xmlns:a16="http://schemas.microsoft.com/office/drawing/2014/main" id="{299508B2-B3EF-AE41-BAF0-5A7754A8EAB1}"/>
              </a:ext>
            </a:extLst>
          </p:cNvPr>
          <p:cNvSpPr txBox="1"/>
          <p:nvPr/>
        </p:nvSpPr>
        <p:spPr>
          <a:xfrm>
            <a:off x="340496" y="307170"/>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B050"/>
                </a:solidFill>
                <a:effectLst/>
                <a:uLnTx/>
                <a:uFillTx/>
                <a:latin typeface="Calibri" panose="020F0502020204030204"/>
                <a:ea typeface="+mn-ea"/>
                <a:cs typeface="+mn-cs"/>
              </a:rPr>
              <a:t>What are the five </a:t>
            </a:r>
            <a:r>
              <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mn-cs"/>
              </a:rPr>
              <a:t>elements</a:t>
            </a:r>
            <a:r>
              <a:rPr kumimoji="0" lang="en-US" sz="2400" b="1" i="0" u="none" strike="noStrike" kern="1200" cap="none" spc="0" normalizeH="0" baseline="0" noProof="0" dirty="0">
                <a:ln>
                  <a:noFill/>
                </a:ln>
                <a:solidFill>
                  <a:srgbClr val="00B050"/>
                </a:solidFill>
                <a:effectLst/>
                <a:uLnTx/>
                <a:uFillTx/>
                <a:latin typeface="Calibri" panose="020F0502020204030204"/>
                <a:ea typeface="+mn-ea"/>
                <a:cs typeface="+mn-cs"/>
              </a:rPr>
              <a:t> of UX design?</a:t>
            </a:r>
          </a:p>
        </p:txBody>
      </p:sp>
      <p:sp>
        <p:nvSpPr>
          <p:cNvPr id="6" name="TextBox 5">
            <a:extLst>
              <a:ext uri="{FF2B5EF4-FFF2-40B4-BE49-F238E27FC236}">
                <a16:creationId xmlns:a16="http://schemas.microsoft.com/office/drawing/2014/main" id="{F9281D07-4667-C585-A708-BF4329F5EFC0}"/>
              </a:ext>
            </a:extLst>
          </p:cNvPr>
          <p:cNvSpPr txBox="1"/>
          <p:nvPr/>
        </p:nvSpPr>
        <p:spPr>
          <a:xfrm>
            <a:off x="340496" y="1155092"/>
            <a:ext cx="6096000" cy="45243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C3399"/>
                </a:solidFill>
                <a:effectLst/>
                <a:uLnTx/>
                <a:uFillTx/>
                <a:latin typeface="Calibri" panose="020F0502020204030204"/>
                <a:ea typeface="+mn-ea"/>
                <a:cs typeface="+mn-cs"/>
              </a:rPr>
              <a:t>4. Skeleton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This is the fourth layer. The designer </a:t>
            </a:r>
            <a:r>
              <a:rPr kumimoji="0" lang="en-US" sz="2400" b="0" i="0" u="none" strike="noStrike" kern="1200" cap="none" spc="0" normalizeH="0" baseline="0" noProof="0" dirty="0">
                <a:ln>
                  <a:noFill/>
                </a:ln>
                <a:solidFill>
                  <a:srgbClr val="0070C0"/>
                </a:solidFill>
                <a:effectLst/>
                <a:uLnTx/>
                <a:uFillTx/>
                <a:latin typeface="Calibri" panose="020F0502020204030204"/>
                <a:ea typeface="+mn-ea"/>
                <a:cs typeface="+mn-cs"/>
              </a:rPr>
              <a:t>puts together the previous pieces to determine the visual form of the design.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Here, the designer </a:t>
            </a:r>
            <a:r>
              <a:rPr kumimoji="0" lang="en-US" sz="2400" b="0" i="0" u="none" strike="noStrike" kern="1200" cap="none" spc="0" normalizeH="0" baseline="0" noProof="0" dirty="0">
                <a:ln>
                  <a:noFill/>
                </a:ln>
                <a:solidFill>
                  <a:srgbClr val="0070C0"/>
                </a:solidFill>
                <a:effectLst/>
                <a:uLnTx/>
                <a:uFillTx/>
                <a:latin typeface="Calibri" panose="020F0502020204030204"/>
                <a:ea typeface="+mn-ea"/>
                <a:cs typeface="+mn-cs"/>
              </a:rPr>
              <a:t>decides the flow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of information and movement from one screen to the next.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designer makes sure that </a:t>
            </a:r>
            <a:r>
              <a:rPr kumimoji="0" lang="en-US" sz="2400" b="0" i="0" u="none" strike="noStrike" kern="1200" cap="none" spc="0" normalizeH="0" baseline="0" noProof="0" dirty="0">
                <a:ln>
                  <a:noFill/>
                </a:ln>
                <a:solidFill>
                  <a:srgbClr val="0070C0"/>
                </a:solidFill>
                <a:effectLst/>
                <a:uLnTx/>
                <a:uFillTx/>
                <a:latin typeface="Calibri" panose="020F0502020204030204"/>
                <a:ea typeface="+mn-ea"/>
                <a:cs typeface="+mn-cs"/>
              </a:rPr>
              <a:t>navigation is smooth</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and the </a:t>
            </a:r>
            <a:r>
              <a:rPr kumimoji="0" lang="en-US" sz="2400" b="0" i="0" u="none" strike="noStrike" kern="1200" cap="none" spc="0" normalizeH="0" baseline="0" noProof="0" dirty="0">
                <a:ln>
                  <a:noFill/>
                </a:ln>
                <a:solidFill>
                  <a:srgbClr val="0070C0"/>
                </a:solidFill>
                <a:effectLst/>
                <a:uLnTx/>
                <a:uFillTx/>
                <a:latin typeface="Calibri" panose="020F0502020204030204"/>
                <a:ea typeface="+mn-ea"/>
                <a:cs typeface="+mn-cs"/>
              </a:rPr>
              <a:t>presentation of information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facilitates user understanding.</a:t>
            </a:r>
          </a:p>
        </p:txBody>
      </p:sp>
      <p:sp>
        <p:nvSpPr>
          <p:cNvPr id="8" name="TextBox 7">
            <a:extLst>
              <a:ext uri="{FF2B5EF4-FFF2-40B4-BE49-F238E27FC236}">
                <a16:creationId xmlns:a16="http://schemas.microsoft.com/office/drawing/2014/main" id="{65746ED0-82A6-869E-A053-547FBFCD0BB1}"/>
              </a:ext>
            </a:extLst>
          </p:cNvPr>
          <p:cNvSpPr txBox="1"/>
          <p:nvPr/>
        </p:nvSpPr>
        <p:spPr>
          <a:xfrm>
            <a:off x="6814151" y="6578284"/>
            <a:ext cx="609600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200" b="0" i="0"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Source: https://www.educative.io/answers/what-are-the-five-elements-of-ux-design</a:t>
            </a:r>
          </a:p>
        </p:txBody>
      </p:sp>
      <p:pic>
        <p:nvPicPr>
          <p:cNvPr id="9" name="Picture 8">
            <a:extLst>
              <a:ext uri="{FF2B5EF4-FFF2-40B4-BE49-F238E27FC236}">
                <a16:creationId xmlns:a16="http://schemas.microsoft.com/office/drawing/2014/main" id="{4D2CF3DC-A777-18DE-5386-CC53FED845B1}"/>
              </a:ext>
            </a:extLst>
          </p:cNvPr>
          <p:cNvPicPr>
            <a:picLocks noChangeAspect="1"/>
          </p:cNvPicPr>
          <p:nvPr/>
        </p:nvPicPr>
        <p:blipFill>
          <a:blip r:embed="rId3"/>
          <a:stretch>
            <a:fillRect/>
          </a:stretch>
        </p:blipFill>
        <p:spPr>
          <a:xfrm>
            <a:off x="11236036" y="0"/>
            <a:ext cx="954440" cy="832397"/>
          </a:xfrm>
          <a:prstGeom prst="rect">
            <a:avLst/>
          </a:prstGeom>
        </p:spPr>
      </p:pic>
    </p:spTree>
    <p:extLst>
      <p:ext uri="{BB962C8B-B14F-4D97-AF65-F5344CB8AC3E}">
        <p14:creationId xmlns:p14="http://schemas.microsoft.com/office/powerpoint/2010/main" val="5946429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D6EE82-1125-1289-E3DF-C4B689049A2F}"/>
              </a:ext>
            </a:extLst>
          </p:cNvPr>
          <p:cNvSpPr txBox="1"/>
          <p:nvPr/>
        </p:nvSpPr>
        <p:spPr>
          <a:xfrm>
            <a:off x="180109" y="78662"/>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mn-cs"/>
              </a:rPr>
              <a:t>What should a wireframe look like?</a:t>
            </a:r>
          </a:p>
        </p:txBody>
      </p:sp>
      <p:sp>
        <p:nvSpPr>
          <p:cNvPr id="5" name="TextBox 4">
            <a:extLst>
              <a:ext uri="{FF2B5EF4-FFF2-40B4-BE49-F238E27FC236}">
                <a16:creationId xmlns:a16="http://schemas.microsoft.com/office/drawing/2014/main" id="{96811378-3593-BC84-9A89-04A719A94BDB}"/>
              </a:ext>
            </a:extLst>
          </p:cNvPr>
          <p:cNvSpPr txBox="1"/>
          <p:nvPr/>
        </p:nvSpPr>
        <p:spPr>
          <a:xfrm>
            <a:off x="180109" y="612108"/>
            <a:ext cx="11610110"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Most wireframes are essentially </a:t>
            </a:r>
            <a:r>
              <a:rPr kumimoji="0" lang="en-GB"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black and white diagrams </a:t>
            </a: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with various UI elements and notes upon them. In most cases they should be </a:t>
            </a:r>
            <a:r>
              <a:rPr kumimoji="0" lang="en-GB"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devoid of imagery, branding and colour </a:t>
            </a: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(aside from links/call outs).</a:t>
            </a:r>
            <a:endParaRPr kumimoji="0" lang="en-ZA"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4" descr="UIUX Design - AppsChopper">
            <a:extLst>
              <a:ext uri="{FF2B5EF4-FFF2-40B4-BE49-F238E27FC236}">
                <a16:creationId xmlns:a16="http://schemas.microsoft.com/office/drawing/2014/main" id="{EE79AD03-25EB-0C24-6669-A3A1E4924BD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8" t="1442" r="69119"/>
          <a:stretch/>
        </p:blipFill>
        <p:spPr bwMode="auto">
          <a:xfrm>
            <a:off x="4655127" y="1456684"/>
            <a:ext cx="2466110" cy="4851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53427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6CCD86-FA01-7DEB-D1D1-C6A869A1D38C}"/>
              </a:ext>
            </a:extLst>
          </p:cNvPr>
          <p:cNvSpPr txBox="1"/>
          <p:nvPr/>
        </p:nvSpPr>
        <p:spPr>
          <a:xfrm>
            <a:off x="4617720" y="6397109"/>
            <a:ext cx="776824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dirty="0">
                <a:ln>
                  <a:noFill/>
                </a:ln>
                <a:solidFill>
                  <a:prstClr val="black"/>
                </a:solidFill>
                <a:effectLst/>
                <a:uLnTx/>
                <a:uFillTx/>
                <a:latin typeface="Calibri" panose="020F0502020204030204"/>
                <a:ea typeface="+mn-ea"/>
                <a:cs typeface="+mn-cs"/>
              </a:rPr>
              <a:t>Source: https://rangle.io/blog/master-ui-wireframes-with-only-three-shapes/</a:t>
            </a:r>
          </a:p>
        </p:txBody>
      </p:sp>
      <p:sp>
        <p:nvSpPr>
          <p:cNvPr id="5" name="TextBox 4">
            <a:extLst>
              <a:ext uri="{FF2B5EF4-FFF2-40B4-BE49-F238E27FC236}">
                <a16:creationId xmlns:a16="http://schemas.microsoft.com/office/drawing/2014/main" id="{6B932F69-E083-4C15-6632-B70FE9536222}"/>
              </a:ext>
            </a:extLst>
          </p:cNvPr>
          <p:cNvSpPr txBox="1"/>
          <p:nvPr/>
        </p:nvSpPr>
        <p:spPr>
          <a:xfrm>
            <a:off x="0" y="230057"/>
            <a:ext cx="4225637"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2400" b="1" i="0" u="none" strike="noStrike" kern="1200" cap="none" spc="0" normalizeH="0" baseline="0" noProof="0" dirty="0">
                <a:ln>
                  <a:noFill/>
                </a:ln>
                <a:solidFill>
                  <a:srgbClr val="000000"/>
                </a:solidFill>
                <a:effectLst/>
                <a:uLnTx/>
                <a:uFillTx/>
                <a:latin typeface="Calibri" panose="020F0502020204030204"/>
                <a:ea typeface="+mn-ea"/>
                <a:cs typeface="+mn-cs"/>
              </a:rPr>
              <a:t>Wireframe Software Symbols</a:t>
            </a:r>
          </a:p>
        </p:txBody>
      </p:sp>
      <p:pic>
        <p:nvPicPr>
          <p:cNvPr id="4" name="Picture 3">
            <a:extLst>
              <a:ext uri="{FF2B5EF4-FFF2-40B4-BE49-F238E27FC236}">
                <a16:creationId xmlns:a16="http://schemas.microsoft.com/office/drawing/2014/main" id="{159A48A2-2A81-B1CD-7A36-C4C7306EABF8}"/>
              </a:ext>
            </a:extLst>
          </p:cNvPr>
          <p:cNvPicPr>
            <a:picLocks noChangeAspect="1"/>
          </p:cNvPicPr>
          <p:nvPr/>
        </p:nvPicPr>
        <p:blipFill>
          <a:blip r:embed="rId2"/>
          <a:stretch>
            <a:fillRect/>
          </a:stretch>
        </p:blipFill>
        <p:spPr>
          <a:xfrm>
            <a:off x="2533576" y="1101891"/>
            <a:ext cx="7124847" cy="4654217"/>
          </a:xfrm>
          <a:prstGeom prst="rect">
            <a:avLst/>
          </a:prstGeom>
        </p:spPr>
      </p:pic>
    </p:spTree>
    <p:extLst>
      <p:ext uri="{BB962C8B-B14F-4D97-AF65-F5344CB8AC3E}">
        <p14:creationId xmlns:p14="http://schemas.microsoft.com/office/powerpoint/2010/main" val="30117480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6CCD86-FA01-7DEB-D1D1-C6A869A1D38C}"/>
              </a:ext>
            </a:extLst>
          </p:cNvPr>
          <p:cNvSpPr txBox="1"/>
          <p:nvPr/>
        </p:nvSpPr>
        <p:spPr>
          <a:xfrm>
            <a:off x="4617720" y="6397109"/>
            <a:ext cx="776824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dirty="0">
                <a:ln>
                  <a:noFill/>
                </a:ln>
                <a:solidFill>
                  <a:prstClr val="black"/>
                </a:solidFill>
                <a:effectLst/>
                <a:uLnTx/>
                <a:uFillTx/>
                <a:latin typeface="Calibri" panose="020F0502020204030204"/>
                <a:ea typeface="+mn-ea"/>
                <a:cs typeface="+mn-cs"/>
              </a:rPr>
              <a:t>Source: https://rangle.io/blog/master-ui-wireframes-with-only-three-shapes/</a:t>
            </a:r>
          </a:p>
        </p:txBody>
      </p:sp>
      <p:sp>
        <p:nvSpPr>
          <p:cNvPr id="5" name="TextBox 4">
            <a:extLst>
              <a:ext uri="{FF2B5EF4-FFF2-40B4-BE49-F238E27FC236}">
                <a16:creationId xmlns:a16="http://schemas.microsoft.com/office/drawing/2014/main" id="{6B932F69-E083-4C15-6632-B70FE9536222}"/>
              </a:ext>
            </a:extLst>
          </p:cNvPr>
          <p:cNvSpPr txBox="1"/>
          <p:nvPr/>
        </p:nvSpPr>
        <p:spPr>
          <a:xfrm>
            <a:off x="0" y="230057"/>
            <a:ext cx="4225637"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2400" b="1" i="0" u="none" strike="noStrike" kern="1200" cap="none" spc="0" normalizeH="0" baseline="0" noProof="0" dirty="0">
                <a:ln>
                  <a:noFill/>
                </a:ln>
                <a:solidFill>
                  <a:srgbClr val="000000"/>
                </a:solidFill>
                <a:effectLst/>
                <a:uLnTx/>
                <a:uFillTx/>
                <a:latin typeface="Calibri" panose="020F0502020204030204"/>
                <a:ea typeface="+mn-ea"/>
                <a:cs typeface="+mn-cs"/>
              </a:rPr>
              <a:t>Wireframe Software Symbols</a:t>
            </a:r>
          </a:p>
        </p:txBody>
      </p:sp>
      <p:pic>
        <p:nvPicPr>
          <p:cNvPr id="2050" name="Picture 2" descr="Sketching UI Cheatsheet">
            <a:extLst>
              <a:ext uri="{FF2B5EF4-FFF2-40B4-BE49-F238E27FC236}">
                <a16:creationId xmlns:a16="http://schemas.microsoft.com/office/drawing/2014/main" id="{55BC2B75-5FE9-26DF-F22A-095332FF44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177" y="691722"/>
            <a:ext cx="5413663" cy="338353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alendar UI Wireframe">
            <a:extLst>
              <a:ext uri="{FF2B5EF4-FFF2-40B4-BE49-F238E27FC236}">
                <a16:creationId xmlns:a16="http://schemas.microsoft.com/office/drawing/2014/main" id="{2C9D22AB-AF9C-9F05-04F6-D0FA187762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067594"/>
            <a:ext cx="5113973" cy="4015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0892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ireframe Software Symbols">
            <a:extLst>
              <a:ext uri="{FF2B5EF4-FFF2-40B4-BE49-F238E27FC236}">
                <a16:creationId xmlns:a16="http://schemas.microsoft.com/office/drawing/2014/main" id="{89D08355-7604-9F1F-2387-F6C2C5E162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66" y="801567"/>
            <a:ext cx="10009267" cy="52548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B6CCD86-FA01-7DEB-D1D1-C6A869A1D38C}"/>
              </a:ext>
            </a:extLst>
          </p:cNvPr>
          <p:cNvSpPr txBox="1"/>
          <p:nvPr/>
        </p:nvSpPr>
        <p:spPr>
          <a:xfrm>
            <a:off x="5415394" y="6397109"/>
            <a:ext cx="697056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dirty="0">
                <a:ln>
                  <a:noFill/>
                </a:ln>
                <a:solidFill>
                  <a:prstClr val="black"/>
                </a:solidFill>
                <a:effectLst/>
                <a:uLnTx/>
                <a:uFillTx/>
                <a:latin typeface="Calibri" panose="020F0502020204030204"/>
                <a:ea typeface="+mn-ea"/>
                <a:cs typeface="+mn-cs"/>
              </a:rPr>
              <a:t>Source: https://www.edrawsoft.com/wireframe-software-symbols.html</a:t>
            </a:r>
          </a:p>
        </p:txBody>
      </p:sp>
      <p:sp>
        <p:nvSpPr>
          <p:cNvPr id="5" name="TextBox 4">
            <a:extLst>
              <a:ext uri="{FF2B5EF4-FFF2-40B4-BE49-F238E27FC236}">
                <a16:creationId xmlns:a16="http://schemas.microsoft.com/office/drawing/2014/main" id="{6B932F69-E083-4C15-6632-B70FE9536222}"/>
              </a:ext>
            </a:extLst>
          </p:cNvPr>
          <p:cNvSpPr txBox="1"/>
          <p:nvPr/>
        </p:nvSpPr>
        <p:spPr>
          <a:xfrm>
            <a:off x="0" y="230057"/>
            <a:ext cx="4225637"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2400" b="1" i="0" u="none" strike="noStrike" kern="1200" cap="none" spc="0" normalizeH="0" baseline="0" noProof="0" dirty="0">
                <a:ln>
                  <a:noFill/>
                </a:ln>
                <a:solidFill>
                  <a:srgbClr val="000000"/>
                </a:solidFill>
                <a:effectLst/>
                <a:uLnTx/>
                <a:uFillTx/>
                <a:latin typeface="Calibri" panose="020F0502020204030204"/>
                <a:ea typeface="+mn-ea"/>
                <a:cs typeface="+mn-cs"/>
              </a:rPr>
              <a:t>Wireframe Software Symbols</a:t>
            </a:r>
          </a:p>
        </p:txBody>
      </p:sp>
    </p:spTree>
    <p:extLst>
      <p:ext uri="{BB962C8B-B14F-4D97-AF65-F5344CB8AC3E}">
        <p14:creationId xmlns:p14="http://schemas.microsoft.com/office/powerpoint/2010/main" val="24613048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6CCD86-FA01-7DEB-D1D1-C6A869A1D38C}"/>
              </a:ext>
            </a:extLst>
          </p:cNvPr>
          <p:cNvSpPr txBox="1"/>
          <p:nvPr/>
        </p:nvSpPr>
        <p:spPr>
          <a:xfrm>
            <a:off x="4336474" y="6443276"/>
            <a:ext cx="91024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dirty="0">
                <a:ln>
                  <a:noFill/>
                </a:ln>
                <a:solidFill>
                  <a:prstClr val="black"/>
                </a:solidFill>
                <a:effectLst/>
                <a:uLnTx/>
                <a:uFillTx/>
                <a:latin typeface="Calibri" panose="020F0502020204030204"/>
                <a:ea typeface="+mn-ea"/>
                <a:cs typeface="+mn-cs"/>
              </a:rPr>
              <a:t>Source: https://careerfoundry.com/en/blog/ux-design/what-is-a-wireframe-guide/</a:t>
            </a:r>
          </a:p>
        </p:txBody>
      </p:sp>
      <p:sp>
        <p:nvSpPr>
          <p:cNvPr id="5" name="TextBox 4">
            <a:extLst>
              <a:ext uri="{FF2B5EF4-FFF2-40B4-BE49-F238E27FC236}">
                <a16:creationId xmlns:a16="http://schemas.microsoft.com/office/drawing/2014/main" id="{6B932F69-E083-4C15-6632-B70FE9536222}"/>
              </a:ext>
            </a:extLst>
          </p:cNvPr>
          <p:cNvSpPr txBox="1"/>
          <p:nvPr/>
        </p:nvSpPr>
        <p:spPr>
          <a:xfrm>
            <a:off x="0" y="230057"/>
            <a:ext cx="4225637"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2400" b="1" i="0" u="none" strike="noStrike" kern="1200" cap="none" spc="0" normalizeH="0" baseline="0" noProof="0" dirty="0">
                <a:ln>
                  <a:noFill/>
                </a:ln>
                <a:solidFill>
                  <a:srgbClr val="000000"/>
                </a:solidFill>
                <a:effectLst/>
                <a:uLnTx/>
                <a:uFillTx/>
                <a:latin typeface="Calibri" panose="020F0502020204030204"/>
                <a:ea typeface="+mn-ea"/>
                <a:cs typeface="+mn-cs"/>
              </a:rPr>
              <a:t>Very basic Wireframe Example:</a:t>
            </a:r>
          </a:p>
        </p:txBody>
      </p:sp>
      <p:pic>
        <p:nvPicPr>
          <p:cNvPr id="6" name="Picture 5">
            <a:extLst>
              <a:ext uri="{FF2B5EF4-FFF2-40B4-BE49-F238E27FC236}">
                <a16:creationId xmlns:a16="http://schemas.microsoft.com/office/drawing/2014/main" id="{BCF093D5-50BE-BB6A-36C0-98E92FE8B651}"/>
              </a:ext>
            </a:extLst>
          </p:cNvPr>
          <p:cNvPicPr>
            <a:picLocks noChangeAspect="1"/>
          </p:cNvPicPr>
          <p:nvPr/>
        </p:nvPicPr>
        <p:blipFill>
          <a:blip r:embed="rId2"/>
          <a:stretch>
            <a:fillRect/>
          </a:stretch>
        </p:blipFill>
        <p:spPr>
          <a:xfrm>
            <a:off x="2175179" y="817279"/>
            <a:ext cx="7841642" cy="5223441"/>
          </a:xfrm>
          <a:prstGeom prst="rect">
            <a:avLst/>
          </a:prstGeom>
        </p:spPr>
      </p:pic>
    </p:spTree>
    <p:extLst>
      <p:ext uri="{BB962C8B-B14F-4D97-AF65-F5344CB8AC3E}">
        <p14:creationId xmlns:p14="http://schemas.microsoft.com/office/powerpoint/2010/main" val="18189281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CB2E99-0EAC-F8EC-A1BF-0BB64007CE9F}"/>
              </a:ext>
            </a:extLst>
          </p:cNvPr>
          <p:cNvSpPr txBox="1"/>
          <p:nvPr/>
        </p:nvSpPr>
        <p:spPr>
          <a:xfrm>
            <a:off x="96982" y="133076"/>
            <a:ext cx="11610110" cy="46166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Wireframe vs Prototype vs </a:t>
            </a:r>
            <a:r>
              <a:rPr kumimoji="0" lang="en-ZA" sz="24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Mockup</a:t>
            </a:r>
            <a:endParaRPr kumimoji="0" lang="en-ZA"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4100" name="Picture 4" descr="UIUX Design - AppsChopper">
            <a:extLst>
              <a:ext uri="{FF2B5EF4-FFF2-40B4-BE49-F238E27FC236}">
                <a16:creationId xmlns:a16="http://schemas.microsoft.com/office/drawing/2014/main" id="{03B344A4-D6F0-CFED-A449-CC8DD27A3F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706" y="704369"/>
            <a:ext cx="10652588" cy="5918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00310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CB2E99-0EAC-F8EC-A1BF-0BB64007CE9F}"/>
              </a:ext>
            </a:extLst>
          </p:cNvPr>
          <p:cNvSpPr txBox="1"/>
          <p:nvPr/>
        </p:nvSpPr>
        <p:spPr>
          <a:xfrm>
            <a:off x="48491" y="40559"/>
            <a:ext cx="11610110" cy="46166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Wireframe vs Prototype vs </a:t>
            </a:r>
            <a:r>
              <a:rPr kumimoji="0" lang="en-ZA" sz="24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Mockup</a:t>
            </a:r>
            <a:endParaRPr kumimoji="0" lang="en-ZA"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875548F5-3069-A81D-17DA-F434276C7BB7}"/>
              </a:ext>
            </a:extLst>
          </p:cNvPr>
          <p:cNvSpPr txBox="1"/>
          <p:nvPr/>
        </p:nvSpPr>
        <p:spPr>
          <a:xfrm>
            <a:off x="48491" y="502224"/>
            <a:ext cx="12095018" cy="5632311"/>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6A82"/>
                </a:solidFill>
                <a:effectLst/>
                <a:uLnTx/>
                <a:uFillTx/>
                <a:latin typeface="Calibri" panose="020F0502020204030204"/>
                <a:ea typeface="+mn-ea"/>
                <a:cs typeface="+mn-cs"/>
              </a:rPr>
              <a:t>Wireframes</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wireframe is the most basic and visual representation of the app design. They are just </a:t>
            </a:r>
            <a:r>
              <a:rPr kumimoji="0" lang="en-US" sz="24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black and white renderings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that focus on what the app or feature will do. Simply put, a wireframe is a </a:t>
            </a:r>
            <a:r>
              <a:rPr kumimoji="0" lang="en-US" sz="24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basic draft or a sketch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by app designers. The purpose of wireframes is to show the structure of an app with basic elements and content placement.</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6A82"/>
                </a:solidFill>
                <a:effectLst/>
                <a:uLnTx/>
                <a:uFillTx/>
                <a:latin typeface="Calibri" panose="020F0502020204030204"/>
                <a:ea typeface="+mn-ea"/>
                <a:cs typeface="+mn-cs"/>
              </a:rPr>
              <a:t>Mockups</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mockup is the next step and also one step ahead of wireframes. Even though </a:t>
            </a:r>
            <a:r>
              <a:rPr kumimoji="0" lang="en-US" sz="24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it’s not interactive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and not clickable, it’s a graphic representation of an app design. With mockups, you can </a:t>
            </a:r>
            <a:r>
              <a:rPr kumimoji="0" lang="en-US" sz="24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see shapes, fonts, and the color palette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srgbClr val="006A82"/>
              </a:solidFill>
              <a:effectLst/>
              <a:uLnTx/>
              <a:uFillTx/>
              <a:latin typeface="Calibri" panose="020F0502020204030204"/>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6A82"/>
                </a:solidFill>
                <a:effectLst/>
                <a:uLnTx/>
                <a:uFillTx/>
                <a:latin typeface="Calibri" panose="020F0502020204030204"/>
                <a:ea typeface="+mn-ea"/>
                <a:cs typeface="+mn-cs"/>
              </a:rPr>
              <a:t>Prototype</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prototype is a </a:t>
            </a:r>
            <a:r>
              <a:rPr kumimoji="0" lang="en-US" sz="24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high-fidelity interactive representation of the final product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It’s basically a working model of an app. It’s like a mockup enriched with UX pieces and interactions, it looks like an actual app. The best thing about prototypes is it </a:t>
            </a:r>
            <a:r>
              <a:rPr kumimoji="0" lang="en-US" sz="24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lets app designers test the user journey</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3530838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1000"/>
                                        <p:tgtEl>
                                          <p:spTgt spid="4">
                                            <p:txEl>
                                              <p:pRg st="3" end="3"/>
                                            </p:txEl>
                                          </p:spTgt>
                                        </p:tgtEl>
                                      </p:cBhvr>
                                    </p:animEffect>
                                    <p:anim calcmode="lin" valueType="num">
                                      <p:cBhvr>
                                        <p:cTn id="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1000"/>
                                        <p:tgtEl>
                                          <p:spTgt spid="4">
                                            <p:txEl>
                                              <p:pRg st="4" end="4"/>
                                            </p:txEl>
                                          </p:spTgt>
                                        </p:tgtEl>
                                      </p:cBhvr>
                                    </p:animEffect>
                                    <p:anim calcmode="lin" valueType="num">
                                      <p:cBhvr>
                                        <p:cTn id="1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animEffect transition="in" filter="fade">
                                      <p:cBhvr>
                                        <p:cTn id="19" dur="1000"/>
                                        <p:tgtEl>
                                          <p:spTgt spid="4">
                                            <p:txEl>
                                              <p:pRg st="6" end="6"/>
                                            </p:txEl>
                                          </p:spTgt>
                                        </p:tgtEl>
                                      </p:cBhvr>
                                    </p:animEffect>
                                    <p:anim calcmode="lin" valueType="num">
                                      <p:cBhvr>
                                        <p:cTn id="2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6" end="6"/>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
                                            <p:txEl>
                                              <p:pRg st="7" end="7"/>
                                            </p:txEl>
                                          </p:spTgt>
                                        </p:tgtEl>
                                        <p:attrNameLst>
                                          <p:attrName>style.visibility</p:attrName>
                                        </p:attrNameLst>
                                      </p:cBhvr>
                                      <p:to>
                                        <p:strVal val="visible"/>
                                      </p:to>
                                    </p:set>
                                    <p:animEffect transition="in" filter="fade">
                                      <p:cBhvr>
                                        <p:cTn id="24" dur="1000"/>
                                        <p:tgtEl>
                                          <p:spTgt spid="4">
                                            <p:txEl>
                                              <p:pRg st="7" end="7"/>
                                            </p:txEl>
                                          </p:spTgt>
                                        </p:tgtEl>
                                      </p:cBhvr>
                                    </p:animEffect>
                                    <p:anim calcmode="lin" valueType="num">
                                      <p:cBhvr>
                                        <p:cTn id="2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6CCD86-FA01-7DEB-D1D1-C6A869A1D38C}"/>
              </a:ext>
            </a:extLst>
          </p:cNvPr>
          <p:cNvSpPr txBox="1"/>
          <p:nvPr/>
        </p:nvSpPr>
        <p:spPr>
          <a:xfrm>
            <a:off x="4336474" y="6443276"/>
            <a:ext cx="91024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dirty="0">
                <a:ln>
                  <a:noFill/>
                </a:ln>
                <a:solidFill>
                  <a:prstClr val="black"/>
                </a:solidFill>
                <a:effectLst/>
                <a:uLnTx/>
                <a:uFillTx/>
                <a:latin typeface="Calibri" panose="020F0502020204030204"/>
                <a:ea typeface="+mn-ea"/>
                <a:cs typeface="+mn-cs"/>
              </a:rPr>
              <a:t>Source: https://careerfoundry.com/en/blog/ux-design/what-is-a-wireframe-guide/</a:t>
            </a:r>
          </a:p>
        </p:txBody>
      </p:sp>
      <p:sp>
        <p:nvSpPr>
          <p:cNvPr id="5" name="TextBox 4">
            <a:extLst>
              <a:ext uri="{FF2B5EF4-FFF2-40B4-BE49-F238E27FC236}">
                <a16:creationId xmlns:a16="http://schemas.microsoft.com/office/drawing/2014/main" id="{6B932F69-E083-4C15-6632-B70FE9536222}"/>
              </a:ext>
            </a:extLst>
          </p:cNvPr>
          <p:cNvSpPr txBox="1"/>
          <p:nvPr/>
        </p:nvSpPr>
        <p:spPr>
          <a:xfrm>
            <a:off x="-374072" y="90658"/>
            <a:ext cx="5638799"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2400" b="1" i="0" u="none" strike="noStrike" kern="1200" cap="none" spc="0" normalizeH="0" baseline="0" noProof="0" dirty="0">
                <a:ln>
                  <a:noFill/>
                </a:ln>
                <a:solidFill>
                  <a:srgbClr val="000000"/>
                </a:solidFill>
                <a:effectLst/>
                <a:uLnTx/>
                <a:uFillTx/>
                <a:latin typeface="Calibri" panose="020F0502020204030204"/>
                <a:ea typeface="+mn-ea"/>
                <a:cs typeface="+mn-cs"/>
              </a:rPr>
              <a:t>Wireframe to Prototype Example:</a:t>
            </a:r>
          </a:p>
        </p:txBody>
      </p:sp>
      <p:pic>
        <p:nvPicPr>
          <p:cNvPr id="2" name="Picture 2" descr="A screenshot of three wireframes, showing the transition from low fidelity wireframe to high fidelity wireframe, right through to the final UI design">
            <a:extLst>
              <a:ext uri="{FF2B5EF4-FFF2-40B4-BE49-F238E27FC236}">
                <a16:creationId xmlns:a16="http://schemas.microsoft.com/office/drawing/2014/main" id="{1876CE43-A700-F23D-0DCF-4880E2F98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1696" y="682575"/>
            <a:ext cx="8038378" cy="5492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9686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6CCD86-FA01-7DEB-D1D1-C6A869A1D38C}"/>
              </a:ext>
            </a:extLst>
          </p:cNvPr>
          <p:cNvSpPr txBox="1"/>
          <p:nvPr/>
        </p:nvSpPr>
        <p:spPr>
          <a:xfrm>
            <a:off x="4336474" y="6443276"/>
            <a:ext cx="91024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dirty="0">
                <a:ln>
                  <a:noFill/>
                </a:ln>
                <a:solidFill>
                  <a:prstClr val="black"/>
                </a:solidFill>
                <a:effectLst/>
                <a:uLnTx/>
                <a:uFillTx/>
                <a:latin typeface="Calibri" panose="020F0502020204030204"/>
                <a:ea typeface="+mn-ea"/>
                <a:cs typeface="+mn-cs"/>
              </a:rPr>
              <a:t>Source: https://careerfoundry.com/en/blog/ux-design/what-is-a-wireframe-guide/</a:t>
            </a:r>
          </a:p>
        </p:txBody>
      </p:sp>
      <p:sp>
        <p:nvSpPr>
          <p:cNvPr id="5" name="TextBox 4">
            <a:extLst>
              <a:ext uri="{FF2B5EF4-FFF2-40B4-BE49-F238E27FC236}">
                <a16:creationId xmlns:a16="http://schemas.microsoft.com/office/drawing/2014/main" id="{6B932F69-E083-4C15-6632-B70FE9536222}"/>
              </a:ext>
            </a:extLst>
          </p:cNvPr>
          <p:cNvSpPr txBox="1"/>
          <p:nvPr/>
        </p:nvSpPr>
        <p:spPr>
          <a:xfrm>
            <a:off x="0" y="230057"/>
            <a:ext cx="5444836"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2400" b="1" i="0" u="none" strike="noStrike" kern="1200" cap="none" spc="0" normalizeH="0" baseline="0" noProof="0" dirty="0">
                <a:ln>
                  <a:noFill/>
                </a:ln>
                <a:solidFill>
                  <a:srgbClr val="000000"/>
                </a:solidFill>
                <a:effectLst/>
                <a:uLnTx/>
                <a:uFillTx/>
                <a:latin typeface="Calibri" panose="020F0502020204030204"/>
                <a:ea typeface="+mn-ea"/>
                <a:cs typeface="+mn-cs"/>
              </a:rPr>
              <a:t>Wireframe to Prototype Example:</a:t>
            </a:r>
          </a:p>
        </p:txBody>
      </p:sp>
      <p:pic>
        <p:nvPicPr>
          <p:cNvPr id="2050" name="Picture 2" descr="A collection of low-fidelity ink-on-paper wireframes taken from a CareerFoundry student's UX design project">
            <a:extLst>
              <a:ext uri="{FF2B5EF4-FFF2-40B4-BE49-F238E27FC236}">
                <a16:creationId xmlns:a16="http://schemas.microsoft.com/office/drawing/2014/main" id="{5890EA18-4803-36DE-0D57-D27944549E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754253"/>
            <a:ext cx="9102436" cy="5689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21317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EEFA60A-DD0B-4493-5C89-3AF0DC260E56}"/>
              </a:ext>
            </a:extLst>
          </p:cNvPr>
          <p:cNvSpPr txBox="1"/>
          <p:nvPr/>
        </p:nvSpPr>
        <p:spPr>
          <a:xfrm>
            <a:off x="235527" y="133076"/>
            <a:ext cx="153785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2400" b="1" i="0" u="none" strike="noStrike" kern="1200" cap="none" spc="0" normalizeH="0" baseline="0" noProof="0" dirty="0">
                <a:ln>
                  <a:noFill/>
                </a:ln>
                <a:solidFill>
                  <a:srgbClr val="00B050"/>
                </a:solidFill>
                <a:effectLst/>
                <a:uLnTx/>
                <a:uFillTx/>
                <a:latin typeface="Calibri" panose="020F0502020204030204"/>
                <a:ea typeface="+mn-ea"/>
                <a:cs typeface="+mn-cs"/>
              </a:rPr>
              <a:t>Activity 1</a:t>
            </a:r>
          </a:p>
        </p:txBody>
      </p:sp>
      <p:sp>
        <p:nvSpPr>
          <p:cNvPr id="2" name="TextBox 1">
            <a:extLst>
              <a:ext uri="{FF2B5EF4-FFF2-40B4-BE49-F238E27FC236}">
                <a16:creationId xmlns:a16="http://schemas.microsoft.com/office/drawing/2014/main" id="{1ECB2E99-0EAC-F8EC-A1BF-0BB64007CE9F}"/>
              </a:ext>
            </a:extLst>
          </p:cNvPr>
          <p:cNvSpPr txBox="1"/>
          <p:nvPr/>
        </p:nvSpPr>
        <p:spPr>
          <a:xfrm>
            <a:off x="235527" y="607591"/>
            <a:ext cx="11610110" cy="46166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Creating a Wireframe for a Login Screen (Phone screen/App)</a:t>
            </a:r>
          </a:p>
        </p:txBody>
      </p:sp>
    </p:spTree>
    <p:extLst>
      <p:ext uri="{BB962C8B-B14F-4D97-AF65-F5344CB8AC3E}">
        <p14:creationId xmlns:p14="http://schemas.microsoft.com/office/powerpoint/2010/main" val="32460177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EEFA60A-DD0B-4493-5C89-3AF0DC260E56}"/>
              </a:ext>
            </a:extLst>
          </p:cNvPr>
          <p:cNvSpPr txBox="1"/>
          <p:nvPr/>
        </p:nvSpPr>
        <p:spPr>
          <a:xfrm>
            <a:off x="235527" y="133076"/>
            <a:ext cx="153785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2400" b="1" i="0" u="none" strike="noStrike" kern="1200" cap="none" spc="0" normalizeH="0" baseline="0" noProof="0" dirty="0">
                <a:ln>
                  <a:noFill/>
                </a:ln>
                <a:solidFill>
                  <a:srgbClr val="00B050"/>
                </a:solidFill>
                <a:effectLst/>
                <a:uLnTx/>
                <a:uFillTx/>
                <a:latin typeface="Calibri" panose="020F0502020204030204"/>
                <a:ea typeface="+mn-ea"/>
                <a:cs typeface="+mn-cs"/>
              </a:rPr>
              <a:t>Activity 1</a:t>
            </a:r>
          </a:p>
        </p:txBody>
      </p:sp>
      <p:sp>
        <p:nvSpPr>
          <p:cNvPr id="2" name="TextBox 1">
            <a:extLst>
              <a:ext uri="{FF2B5EF4-FFF2-40B4-BE49-F238E27FC236}">
                <a16:creationId xmlns:a16="http://schemas.microsoft.com/office/drawing/2014/main" id="{1ECB2E99-0EAC-F8EC-A1BF-0BB64007CE9F}"/>
              </a:ext>
            </a:extLst>
          </p:cNvPr>
          <p:cNvSpPr txBox="1"/>
          <p:nvPr/>
        </p:nvSpPr>
        <p:spPr>
          <a:xfrm>
            <a:off x="235527" y="607591"/>
            <a:ext cx="11610110" cy="46166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Creating a Wireframe for a Login Screen (Phone screen/App)</a:t>
            </a:r>
          </a:p>
        </p:txBody>
      </p:sp>
      <p:pic>
        <p:nvPicPr>
          <p:cNvPr id="4" name="Picture 3">
            <a:extLst>
              <a:ext uri="{FF2B5EF4-FFF2-40B4-BE49-F238E27FC236}">
                <a16:creationId xmlns:a16="http://schemas.microsoft.com/office/drawing/2014/main" id="{B1F5BDC5-7A09-CDF6-AD4B-AF205FEE0963}"/>
              </a:ext>
            </a:extLst>
          </p:cNvPr>
          <p:cNvPicPr>
            <a:picLocks noChangeAspect="1"/>
          </p:cNvPicPr>
          <p:nvPr/>
        </p:nvPicPr>
        <p:blipFill>
          <a:blip r:embed="rId2"/>
          <a:stretch>
            <a:fillRect/>
          </a:stretch>
        </p:blipFill>
        <p:spPr>
          <a:xfrm>
            <a:off x="1004454" y="1069256"/>
            <a:ext cx="2819794" cy="5458587"/>
          </a:xfrm>
          <a:prstGeom prst="rect">
            <a:avLst/>
          </a:prstGeom>
        </p:spPr>
      </p:pic>
      <p:pic>
        <p:nvPicPr>
          <p:cNvPr id="6" name="Picture 5">
            <a:extLst>
              <a:ext uri="{FF2B5EF4-FFF2-40B4-BE49-F238E27FC236}">
                <a16:creationId xmlns:a16="http://schemas.microsoft.com/office/drawing/2014/main" id="{3ADE082A-C15D-2A8B-5871-E3A40B8200F8}"/>
              </a:ext>
            </a:extLst>
          </p:cNvPr>
          <p:cNvPicPr>
            <a:picLocks noChangeAspect="1"/>
          </p:cNvPicPr>
          <p:nvPr/>
        </p:nvPicPr>
        <p:blipFill>
          <a:blip r:embed="rId3"/>
          <a:stretch>
            <a:fillRect/>
          </a:stretch>
        </p:blipFill>
        <p:spPr>
          <a:xfrm>
            <a:off x="4659264" y="1091633"/>
            <a:ext cx="2762636" cy="5449060"/>
          </a:xfrm>
          <a:prstGeom prst="rect">
            <a:avLst/>
          </a:prstGeom>
        </p:spPr>
      </p:pic>
      <p:pic>
        <p:nvPicPr>
          <p:cNvPr id="8" name="Picture 2" descr="Example wireframes for mobile shopping app">
            <a:extLst>
              <a:ext uri="{FF2B5EF4-FFF2-40B4-BE49-F238E27FC236}">
                <a16:creationId xmlns:a16="http://schemas.microsoft.com/office/drawing/2014/main" id="{C8421D0E-3196-135B-C025-241A559CC6B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0032" t="5051" r="2919" b="3636"/>
          <a:stretch/>
        </p:blipFill>
        <p:spPr bwMode="auto">
          <a:xfrm>
            <a:off x="8256916" y="1091633"/>
            <a:ext cx="2819794" cy="5517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549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EEFA60A-DD0B-4493-5C89-3AF0DC260E56}"/>
              </a:ext>
            </a:extLst>
          </p:cNvPr>
          <p:cNvSpPr txBox="1"/>
          <p:nvPr/>
        </p:nvSpPr>
        <p:spPr>
          <a:xfrm>
            <a:off x="235527" y="133076"/>
            <a:ext cx="153785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2400" b="1" i="0" u="none" strike="noStrike" kern="1200" cap="none" spc="0" normalizeH="0" baseline="0" noProof="0" dirty="0">
                <a:ln>
                  <a:noFill/>
                </a:ln>
                <a:solidFill>
                  <a:srgbClr val="00B050"/>
                </a:solidFill>
                <a:effectLst/>
                <a:uLnTx/>
                <a:uFillTx/>
                <a:latin typeface="Calibri" panose="020F0502020204030204"/>
                <a:ea typeface="+mn-ea"/>
                <a:cs typeface="+mn-cs"/>
              </a:rPr>
              <a:t>Activity 1</a:t>
            </a:r>
          </a:p>
        </p:txBody>
      </p:sp>
      <p:sp>
        <p:nvSpPr>
          <p:cNvPr id="2" name="TextBox 1">
            <a:extLst>
              <a:ext uri="{FF2B5EF4-FFF2-40B4-BE49-F238E27FC236}">
                <a16:creationId xmlns:a16="http://schemas.microsoft.com/office/drawing/2014/main" id="{1ECB2E99-0EAC-F8EC-A1BF-0BB64007CE9F}"/>
              </a:ext>
            </a:extLst>
          </p:cNvPr>
          <p:cNvSpPr txBox="1"/>
          <p:nvPr/>
        </p:nvSpPr>
        <p:spPr>
          <a:xfrm>
            <a:off x="235527" y="607591"/>
            <a:ext cx="11610110" cy="46166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Creating a Wireframe for a Login Screen (Phone screen/App)</a:t>
            </a:r>
          </a:p>
        </p:txBody>
      </p:sp>
      <p:pic>
        <p:nvPicPr>
          <p:cNvPr id="2050" name="Picture 2" descr="Prototyping login and sign up forms for web and mobile - Justinmind">
            <a:extLst>
              <a:ext uri="{FF2B5EF4-FFF2-40B4-BE49-F238E27FC236}">
                <a16:creationId xmlns:a16="http://schemas.microsoft.com/office/drawing/2014/main" id="{0FE8216C-EB31-187D-0B0E-56E7D28510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4155" y="1302327"/>
            <a:ext cx="7252854" cy="4835236"/>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04098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EEFA60A-DD0B-4493-5C89-3AF0DC260E56}"/>
              </a:ext>
            </a:extLst>
          </p:cNvPr>
          <p:cNvSpPr txBox="1"/>
          <p:nvPr/>
        </p:nvSpPr>
        <p:spPr>
          <a:xfrm>
            <a:off x="235527" y="133076"/>
            <a:ext cx="153785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2400" b="1" i="0" u="none" strike="noStrike" kern="1200" cap="none" spc="0" normalizeH="0" baseline="0" noProof="0" dirty="0">
                <a:ln>
                  <a:noFill/>
                </a:ln>
                <a:solidFill>
                  <a:srgbClr val="00B050"/>
                </a:solidFill>
                <a:effectLst/>
                <a:uLnTx/>
                <a:uFillTx/>
                <a:latin typeface="Calibri" panose="020F0502020204030204"/>
                <a:ea typeface="+mn-ea"/>
                <a:cs typeface="+mn-cs"/>
              </a:rPr>
              <a:t>Activity 2</a:t>
            </a:r>
          </a:p>
        </p:txBody>
      </p:sp>
      <p:sp>
        <p:nvSpPr>
          <p:cNvPr id="2" name="TextBox 1">
            <a:extLst>
              <a:ext uri="{FF2B5EF4-FFF2-40B4-BE49-F238E27FC236}">
                <a16:creationId xmlns:a16="http://schemas.microsoft.com/office/drawing/2014/main" id="{1ECB2E99-0EAC-F8EC-A1BF-0BB64007CE9F}"/>
              </a:ext>
            </a:extLst>
          </p:cNvPr>
          <p:cNvSpPr txBox="1"/>
          <p:nvPr/>
        </p:nvSpPr>
        <p:spPr>
          <a:xfrm>
            <a:off x="235527" y="607591"/>
            <a:ext cx="1161011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Digitizing your Wireframe (</a:t>
            </a:r>
            <a:r>
              <a:rPr kumimoji="0" lang="en-ZA"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using Figma)</a:t>
            </a:r>
            <a:endParaRPr kumimoji="0" lang="en-ZA"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559971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439944D-3A88-40D1-7DC5-59C0750F80F8}"/>
              </a:ext>
            </a:extLst>
          </p:cNvPr>
          <p:cNvSpPr txBox="1"/>
          <p:nvPr/>
        </p:nvSpPr>
        <p:spPr>
          <a:xfrm>
            <a:off x="138545" y="461665"/>
            <a:ext cx="10861964" cy="3785652"/>
          </a:xfrm>
          <a:prstGeom prst="rect">
            <a:avLst/>
          </a:prstGeom>
          <a:noFill/>
        </p:spPr>
        <p:txBody>
          <a:bodyPr wrap="square">
            <a:spAutoFit/>
          </a:bodyPr>
          <a:lstStyle/>
          <a:p>
            <a:pPr>
              <a:buNone/>
            </a:pPr>
            <a:r>
              <a:rPr lang="en-ZA" sz="2400" b="1" dirty="0">
                <a:solidFill>
                  <a:srgbClr val="E23ACE"/>
                </a:solidFill>
              </a:rPr>
              <a:t>UX Design Challenge: From User Story to Screen</a:t>
            </a:r>
          </a:p>
          <a:p>
            <a:pPr>
              <a:buNone/>
            </a:pPr>
            <a:endParaRPr lang="en-ZA" dirty="0"/>
          </a:p>
          <a:p>
            <a:pPr>
              <a:buNone/>
            </a:pPr>
            <a:r>
              <a:rPr lang="en-ZA" dirty="0"/>
              <a:t>For this part of the portfolio, you will transform the </a:t>
            </a:r>
            <a:r>
              <a:rPr lang="en-ZA" b="1" dirty="0"/>
              <a:t>user task flow you developed in the previous lecture</a:t>
            </a:r>
            <a:r>
              <a:rPr lang="en-ZA" dirty="0"/>
              <a:t> into a set of low-fidelity mobile app screens.</a:t>
            </a:r>
          </a:p>
          <a:p>
            <a:pPr>
              <a:buNone/>
            </a:pPr>
            <a:endParaRPr lang="en-ZA" dirty="0"/>
          </a:p>
          <a:p>
            <a:pPr>
              <a:buNone/>
            </a:pPr>
            <a:r>
              <a:rPr lang="en-ZA" dirty="0"/>
              <a:t>The goal is not simply to draw screens, but to demonstrate how you have </a:t>
            </a:r>
            <a:r>
              <a:rPr lang="en-ZA" b="1" dirty="0"/>
              <a:t>organised information, prioritised content and designed an interface that allows a user to complete a specific task easily.</a:t>
            </a:r>
            <a:endParaRPr lang="en-ZA" dirty="0"/>
          </a:p>
          <a:p>
            <a:pPr>
              <a:buNone/>
            </a:pPr>
            <a:endParaRPr lang="en-ZA" b="1" dirty="0"/>
          </a:p>
          <a:p>
            <a:pPr>
              <a:buNone/>
            </a:pPr>
            <a:r>
              <a:rPr lang="en-ZA" b="1" dirty="0"/>
              <a:t>The Challenge</a:t>
            </a:r>
            <a:endParaRPr lang="en-ZA" dirty="0"/>
          </a:p>
          <a:p>
            <a:pPr>
              <a:buNone/>
            </a:pPr>
            <a:r>
              <a:rPr lang="en-ZA" b="1" dirty="0">
                <a:highlight>
                  <a:srgbClr val="FFFF00"/>
                </a:highlight>
              </a:rPr>
              <a:t>Work with the follow user task</a:t>
            </a:r>
            <a:r>
              <a:rPr lang="en-ZA" dirty="0">
                <a:highlight>
                  <a:srgbClr val="FFFF00"/>
                </a:highlight>
              </a:rPr>
              <a:t>:</a:t>
            </a:r>
          </a:p>
          <a:p>
            <a:pPr marL="342900" lvl="0" indent="-342900">
              <a:buFont typeface="Arial" panose="020B0604020202020204" pitchFamily="34" charset="0"/>
              <a:buChar char="•"/>
            </a:pPr>
            <a:r>
              <a:rPr lang="en-ZA" dirty="0">
                <a:highlight>
                  <a:srgbClr val="FFFF00"/>
                </a:highlight>
              </a:rPr>
              <a:t>Booking a service </a:t>
            </a:r>
          </a:p>
          <a:p>
            <a:pPr lvl="0"/>
            <a:endParaRPr lang="en-ZA" dirty="0"/>
          </a:p>
          <a:p>
            <a:pPr>
              <a:buNone/>
            </a:pPr>
            <a:r>
              <a:rPr lang="en-ZA" dirty="0">
                <a:solidFill>
                  <a:srgbClr val="00B050"/>
                </a:solidFill>
              </a:rPr>
              <a:t>Design the interface that allows your user to successfully complete this task.</a:t>
            </a:r>
          </a:p>
        </p:txBody>
      </p:sp>
      <p:sp>
        <p:nvSpPr>
          <p:cNvPr id="6" name="TextBox 5">
            <a:extLst>
              <a:ext uri="{FF2B5EF4-FFF2-40B4-BE49-F238E27FC236}">
                <a16:creationId xmlns:a16="http://schemas.microsoft.com/office/drawing/2014/main" id="{9DE88AB4-9E20-3A9A-332D-50AA686CBC21}"/>
              </a:ext>
            </a:extLst>
          </p:cNvPr>
          <p:cNvSpPr txBox="1"/>
          <p:nvPr/>
        </p:nvSpPr>
        <p:spPr>
          <a:xfrm>
            <a:off x="138545" y="0"/>
            <a:ext cx="153785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2400" b="1" i="0" u="none" strike="noStrike" kern="1200" cap="none" spc="0" normalizeH="0" baseline="0" noProof="0" dirty="0">
                <a:ln>
                  <a:noFill/>
                </a:ln>
                <a:solidFill>
                  <a:srgbClr val="00B050"/>
                </a:solidFill>
                <a:effectLst/>
                <a:uLnTx/>
                <a:uFillTx/>
                <a:latin typeface="Calibri" panose="020F0502020204030204"/>
                <a:ea typeface="+mn-ea"/>
                <a:cs typeface="+mn-cs"/>
              </a:rPr>
              <a:t>Activity 3</a:t>
            </a:r>
          </a:p>
        </p:txBody>
      </p:sp>
      <p:pic>
        <p:nvPicPr>
          <p:cNvPr id="9" name="Picture 8">
            <a:extLst>
              <a:ext uri="{FF2B5EF4-FFF2-40B4-BE49-F238E27FC236}">
                <a16:creationId xmlns:a16="http://schemas.microsoft.com/office/drawing/2014/main" id="{D77A00EB-8A2D-48C9-9537-943A61150713}"/>
              </a:ext>
            </a:extLst>
          </p:cNvPr>
          <p:cNvPicPr>
            <a:picLocks noChangeAspect="1"/>
          </p:cNvPicPr>
          <p:nvPr/>
        </p:nvPicPr>
        <p:blipFill>
          <a:blip r:embed="rId2"/>
          <a:stretch>
            <a:fillRect/>
          </a:stretch>
        </p:blipFill>
        <p:spPr>
          <a:xfrm>
            <a:off x="8506690" y="2605752"/>
            <a:ext cx="3180967" cy="3989161"/>
          </a:xfrm>
          <a:prstGeom prst="rect">
            <a:avLst/>
          </a:prstGeom>
        </p:spPr>
      </p:pic>
    </p:spTree>
    <p:extLst>
      <p:ext uri="{BB962C8B-B14F-4D97-AF65-F5344CB8AC3E}">
        <p14:creationId xmlns:p14="http://schemas.microsoft.com/office/powerpoint/2010/main" val="1211100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6" end="6"/>
                                            </p:txEl>
                                          </p:spTgt>
                                        </p:tgtEl>
                                        <p:attrNameLst>
                                          <p:attrName>style.visibility</p:attrName>
                                        </p:attrNameLst>
                                      </p:cBhvr>
                                      <p:to>
                                        <p:strVal val="visible"/>
                                      </p:to>
                                    </p:set>
                                    <p:animEffect transition="in" filter="fade">
                                      <p:cBhvr>
                                        <p:cTn id="14" dur="1000"/>
                                        <p:tgtEl>
                                          <p:spTgt spid="4">
                                            <p:txEl>
                                              <p:pRg st="6" end="6"/>
                                            </p:txEl>
                                          </p:spTgt>
                                        </p:tgtEl>
                                      </p:cBhvr>
                                    </p:animEffect>
                                    <p:anim calcmode="lin" valueType="num">
                                      <p:cBhvr>
                                        <p:cTn id="15"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6" end="6"/>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animEffect transition="in" filter="fade">
                                      <p:cBhvr>
                                        <p:cTn id="19" dur="1000"/>
                                        <p:tgtEl>
                                          <p:spTgt spid="4">
                                            <p:txEl>
                                              <p:pRg st="7" end="7"/>
                                            </p:txEl>
                                          </p:spTgt>
                                        </p:tgtEl>
                                      </p:cBhvr>
                                    </p:animEffect>
                                    <p:anim calcmode="lin" valueType="num">
                                      <p:cBhvr>
                                        <p:cTn id="20"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7" end="7"/>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
                                            <p:txEl>
                                              <p:pRg st="8" end="8"/>
                                            </p:txEl>
                                          </p:spTgt>
                                        </p:tgtEl>
                                        <p:attrNameLst>
                                          <p:attrName>style.visibility</p:attrName>
                                        </p:attrNameLst>
                                      </p:cBhvr>
                                      <p:to>
                                        <p:strVal val="visible"/>
                                      </p:to>
                                    </p:set>
                                    <p:animEffect transition="in" filter="fade">
                                      <p:cBhvr>
                                        <p:cTn id="24" dur="1000"/>
                                        <p:tgtEl>
                                          <p:spTgt spid="4">
                                            <p:txEl>
                                              <p:pRg st="8" end="8"/>
                                            </p:txEl>
                                          </p:spTgt>
                                        </p:tgtEl>
                                      </p:cBhvr>
                                    </p:animEffect>
                                    <p:anim calcmode="lin" valueType="num">
                                      <p:cBhvr>
                                        <p:cTn id="25"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animEffect transition="in" filter="fade">
                                      <p:cBhvr>
                                        <p:cTn id="31" dur="1000"/>
                                        <p:tgtEl>
                                          <p:spTgt spid="4">
                                            <p:txEl>
                                              <p:pRg st="10" end="10"/>
                                            </p:txEl>
                                          </p:spTgt>
                                        </p:tgtEl>
                                      </p:cBhvr>
                                    </p:animEffect>
                                    <p:anim calcmode="lin" valueType="num">
                                      <p:cBhvr>
                                        <p:cTn id="3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299654-4A7F-5335-6905-98E3F1D6B1C7}"/>
              </a:ext>
            </a:extLst>
          </p:cNvPr>
          <p:cNvSpPr txBox="1"/>
          <p:nvPr/>
        </p:nvSpPr>
        <p:spPr>
          <a:xfrm>
            <a:off x="304799" y="169454"/>
            <a:ext cx="10196946" cy="5078313"/>
          </a:xfrm>
          <a:prstGeom prst="rect">
            <a:avLst/>
          </a:prstGeom>
          <a:noFill/>
        </p:spPr>
        <p:txBody>
          <a:bodyPr wrap="square">
            <a:spAutoFit/>
          </a:bodyPr>
          <a:lstStyle/>
          <a:p>
            <a:pPr>
              <a:buNone/>
            </a:pPr>
            <a:r>
              <a:rPr lang="en-ZA" b="1" dirty="0">
                <a:solidFill>
                  <a:srgbClr val="E23ACE"/>
                </a:solidFill>
              </a:rPr>
              <a:t>Specific Instructions</a:t>
            </a:r>
          </a:p>
          <a:p>
            <a:pPr>
              <a:buNone/>
            </a:pPr>
            <a:r>
              <a:rPr lang="en-ZA" b="1" dirty="0">
                <a:solidFill>
                  <a:srgbClr val="E23ACE"/>
                </a:solidFill>
              </a:rPr>
              <a:t>Step 1: Design on Paper</a:t>
            </a:r>
          </a:p>
          <a:p>
            <a:pPr>
              <a:buNone/>
            </a:pPr>
            <a:endParaRPr lang="en-ZA" dirty="0"/>
          </a:p>
          <a:p>
            <a:pPr>
              <a:buNone/>
            </a:pPr>
            <a:r>
              <a:rPr lang="en-ZA" dirty="0"/>
              <a:t>Before opening Figma, create </a:t>
            </a:r>
            <a:r>
              <a:rPr lang="en-ZA" b="1" dirty="0"/>
              <a:t>three hand-drawn screen sketches</a:t>
            </a:r>
            <a:r>
              <a:rPr lang="en-ZA" dirty="0"/>
              <a:t> showing the user's journey through the selected task.</a:t>
            </a:r>
          </a:p>
          <a:p>
            <a:pPr>
              <a:buNone/>
            </a:pPr>
            <a:endParaRPr lang="en-ZA" dirty="0"/>
          </a:p>
          <a:p>
            <a:pPr>
              <a:buNone/>
            </a:pPr>
            <a:r>
              <a:rPr lang="en-ZA" dirty="0"/>
              <a:t>Your three screens must show:</a:t>
            </a:r>
          </a:p>
          <a:p>
            <a:pPr>
              <a:buNone/>
            </a:pPr>
            <a:r>
              <a:rPr lang="en-ZA" b="1" dirty="0">
                <a:solidFill>
                  <a:srgbClr val="7030A0"/>
                </a:solidFill>
              </a:rPr>
              <a:t>Screen 1 – Start</a:t>
            </a:r>
            <a:br>
              <a:rPr lang="en-ZA" dirty="0"/>
            </a:br>
            <a:r>
              <a:rPr lang="en-ZA" dirty="0"/>
              <a:t>Where does the user begin the task?</a:t>
            </a:r>
          </a:p>
          <a:p>
            <a:pPr>
              <a:buNone/>
            </a:pPr>
            <a:r>
              <a:rPr lang="en-ZA" b="1" dirty="0">
                <a:solidFill>
                  <a:srgbClr val="7030A0"/>
                </a:solidFill>
              </a:rPr>
              <a:t>Screen 2 – Action</a:t>
            </a:r>
            <a:br>
              <a:rPr lang="en-ZA" dirty="0"/>
            </a:br>
            <a:r>
              <a:rPr lang="en-ZA" dirty="0"/>
              <a:t>What does the user need to do or decide?</a:t>
            </a:r>
          </a:p>
          <a:p>
            <a:pPr>
              <a:buNone/>
            </a:pPr>
            <a:r>
              <a:rPr lang="en-ZA" b="1" dirty="0">
                <a:solidFill>
                  <a:srgbClr val="7030A0"/>
                </a:solidFill>
              </a:rPr>
              <a:t>Screen 3 – Outcome</a:t>
            </a:r>
            <a:br>
              <a:rPr lang="en-ZA" dirty="0"/>
            </a:br>
            <a:r>
              <a:rPr lang="en-ZA" dirty="0"/>
              <a:t>What happens when the task has been completed?</a:t>
            </a:r>
          </a:p>
          <a:p>
            <a:pPr>
              <a:buNone/>
            </a:pPr>
            <a:endParaRPr lang="en-ZA" dirty="0"/>
          </a:p>
          <a:p>
            <a:pPr>
              <a:buNone/>
            </a:pPr>
            <a:r>
              <a:rPr lang="en-ZA" dirty="0">
                <a:solidFill>
                  <a:srgbClr val="0070C0"/>
                </a:solidFill>
              </a:rPr>
              <a:t>For example:</a:t>
            </a:r>
          </a:p>
          <a:p>
            <a:pPr>
              <a:buNone/>
            </a:pPr>
            <a:r>
              <a:rPr lang="en-ZA" b="1" dirty="0"/>
              <a:t>Pet-sitting app:</a:t>
            </a:r>
            <a:br>
              <a:rPr lang="en-ZA" dirty="0"/>
            </a:br>
            <a:r>
              <a:rPr lang="en-ZA" dirty="0"/>
              <a:t>Find a pet sitter → Select a sitter → Confirm booking</a:t>
            </a:r>
          </a:p>
          <a:p>
            <a:pPr>
              <a:buNone/>
            </a:pPr>
            <a:r>
              <a:rPr lang="en-ZA" dirty="0"/>
              <a:t>Your sketches should focus on </a:t>
            </a:r>
            <a:r>
              <a:rPr lang="en-ZA" b="1" dirty="0"/>
              <a:t>layout and functionality</a:t>
            </a:r>
            <a:r>
              <a:rPr lang="en-ZA" dirty="0"/>
              <a:t>, rather than artistic quality.</a:t>
            </a:r>
          </a:p>
        </p:txBody>
      </p:sp>
    </p:spTree>
    <p:extLst>
      <p:ext uri="{BB962C8B-B14F-4D97-AF65-F5344CB8AC3E}">
        <p14:creationId xmlns:p14="http://schemas.microsoft.com/office/powerpoint/2010/main" val="3237352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1000"/>
                                        <p:tgtEl>
                                          <p:spTgt spid="4">
                                            <p:txEl>
                                              <p:pRg st="3" end="3"/>
                                            </p:txEl>
                                          </p:spTgt>
                                        </p:tgtEl>
                                      </p:cBhvr>
                                    </p:animEffect>
                                    <p:anim calcmode="lin" valueType="num">
                                      <p:cBhvr>
                                        <p:cTn id="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5" end="5"/>
                                            </p:txEl>
                                          </p:spTgt>
                                        </p:tgtEl>
                                        <p:attrNameLst>
                                          <p:attrName>style.visibility</p:attrName>
                                        </p:attrNameLst>
                                      </p:cBhvr>
                                      <p:to>
                                        <p:strVal val="visible"/>
                                      </p:to>
                                    </p:set>
                                    <p:animEffect transition="in" filter="fade">
                                      <p:cBhvr>
                                        <p:cTn id="14" dur="1000"/>
                                        <p:tgtEl>
                                          <p:spTgt spid="4">
                                            <p:txEl>
                                              <p:pRg st="5" end="5"/>
                                            </p:txEl>
                                          </p:spTgt>
                                        </p:tgtEl>
                                      </p:cBhvr>
                                    </p:animEffect>
                                    <p:anim calcmode="lin" valueType="num">
                                      <p:cBhvr>
                                        <p:cTn id="1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5" end="5"/>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animEffect transition="in" filter="fade">
                                      <p:cBhvr>
                                        <p:cTn id="19" dur="1000"/>
                                        <p:tgtEl>
                                          <p:spTgt spid="4">
                                            <p:txEl>
                                              <p:pRg st="6" end="6"/>
                                            </p:txEl>
                                          </p:spTgt>
                                        </p:tgtEl>
                                      </p:cBhvr>
                                    </p:animEffect>
                                    <p:anim calcmode="lin" valueType="num">
                                      <p:cBhvr>
                                        <p:cTn id="2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7" end="7"/>
                                            </p:txEl>
                                          </p:spTgt>
                                        </p:tgtEl>
                                        <p:attrNameLst>
                                          <p:attrName>style.visibility</p:attrName>
                                        </p:attrNameLst>
                                      </p:cBhvr>
                                      <p:to>
                                        <p:strVal val="visible"/>
                                      </p:to>
                                    </p:set>
                                    <p:animEffect transition="in" filter="fade">
                                      <p:cBhvr>
                                        <p:cTn id="26" dur="1000"/>
                                        <p:tgtEl>
                                          <p:spTgt spid="4">
                                            <p:txEl>
                                              <p:pRg st="7" end="7"/>
                                            </p:txEl>
                                          </p:spTgt>
                                        </p:tgtEl>
                                      </p:cBhvr>
                                    </p:animEffect>
                                    <p:anim calcmode="lin" valueType="num">
                                      <p:cBhvr>
                                        <p:cTn id="2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animEffect transition="in" filter="fade">
                                      <p:cBhvr>
                                        <p:cTn id="33" dur="1000"/>
                                        <p:tgtEl>
                                          <p:spTgt spid="4">
                                            <p:txEl>
                                              <p:pRg st="8" end="8"/>
                                            </p:txEl>
                                          </p:spTgt>
                                        </p:tgtEl>
                                      </p:cBhvr>
                                    </p:animEffect>
                                    <p:anim calcmode="lin" valueType="num">
                                      <p:cBhvr>
                                        <p:cTn id="34"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4">
                                            <p:txEl>
                                              <p:pRg st="10" end="10"/>
                                            </p:txEl>
                                          </p:spTgt>
                                        </p:tgtEl>
                                        <p:attrNameLst>
                                          <p:attrName>style.visibility</p:attrName>
                                        </p:attrNameLst>
                                      </p:cBhvr>
                                      <p:to>
                                        <p:strVal val="visible"/>
                                      </p:to>
                                    </p:set>
                                    <p:animEffect transition="in" filter="fade">
                                      <p:cBhvr>
                                        <p:cTn id="40" dur="1000"/>
                                        <p:tgtEl>
                                          <p:spTgt spid="4">
                                            <p:txEl>
                                              <p:pRg st="10" end="10"/>
                                            </p:txEl>
                                          </p:spTgt>
                                        </p:tgtEl>
                                      </p:cBhvr>
                                    </p:animEffect>
                                    <p:anim calcmode="lin" valueType="num">
                                      <p:cBhvr>
                                        <p:cTn id="41"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42"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4">
                                            <p:txEl>
                                              <p:pRg st="11" end="11"/>
                                            </p:txEl>
                                          </p:spTgt>
                                        </p:tgtEl>
                                        <p:attrNameLst>
                                          <p:attrName>style.visibility</p:attrName>
                                        </p:attrNameLst>
                                      </p:cBhvr>
                                      <p:to>
                                        <p:strVal val="visible"/>
                                      </p:to>
                                    </p:set>
                                    <p:animEffect transition="in" filter="fade">
                                      <p:cBhvr>
                                        <p:cTn id="45" dur="1000"/>
                                        <p:tgtEl>
                                          <p:spTgt spid="4">
                                            <p:txEl>
                                              <p:pRg st="11" end="11"/>
                                            </p:txEl>
                                          </p:spTgt>
                                        </p:tgtEl>
                                      </p:cBhvr>
                                    </p:animEffect>
                                    <p:anim calcmode="lin" valueType="num">
                                      <p:cBhvr>
                                        <p:cTn id="46"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47"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4">
                                            <p:txEl>
                                              <p:pRg st="12" end="12"/>
                                            </p:txEl>
                                          </p:spTgt>
                                        </p:tgtEl>
                                        <p:attrNameLst>
                                          <p:attrName>style.visibility</p:attrName>
                                        </p:attrNameLst>
                                      </p:cBhvr>
                                      <p:to>
                                        <p:strVal val="visible"/>
                                      </p:to>
                                    </p:set>
                                    <p:animEffect transition="in" filter="fade">
                                      <p:cBhvr>
                                        <p:cTn id="50" dur="1000"/>
                                        <p:tgtEl>
                                          <p:spTgt spid="4">
                                            <p:txEl>
                                              <p:pRg st="12" end="12"/>
                                            </p:txEl>
                                          </p:spTgt>
                                        </p:tgtEl>
                                      </p:cBhvr>
                                    </p:animEffect>
                                    <p:anim calcmode="lin" valueType="num">
                                      <p:cBhvr>
                                        <p:cTn id="51"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52"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E00DE7-E4A5-D889-3961-20BC20600518}"/>
              </a:ext>
            </a:extLst>
          </p:cNvPr>
          <p:cNvSpPr txBox="1"/>
          <p:nvPr/>
        </p:nvSpPr>
        <p:spPr>
          <a:xfrm>
            <a:off x="249382" y="183860"/>
            <a:ext cx="11236036" cy="5909310"/>
          </a:xfrm>
          <a:prstGeom prst="rect">
            <a:avLst/>
          </a:prstGeom>
          <a:noFill/>
        </p:spPr>
        <p:txBody>
          <a:bodyPr wrap="square">
            <a:spAutoFit/>
          </a:bodyPr>
          <a:lstStyle/>
          <a:p>
            <a:pPr>
              <a:buNone/>
            </a:pPr>
            <a:r>
              <a:rPr lang="en-ZA" b="1" dirty="0">
                <a:solidFill>
                  <a:srgbClr val="E23ACE"/>
                </a:solidFill>
              </a:rPr>
              <a:t>Step 2: Build Your Wireframes in Figma</a:t>
            </a:r>
          </a:p>
          <a:p>
            <a:pPr>
              <a:buNone/>
            </a:pPr>
            <a:endParaRPr lang="en-ZA" dirty="0"/>
          </a:p>
          <a:p>
            <a:pPr>
              <a:buNone/>
            </a:pPr>
            <a:r>
              <a:rPr lang="en-ZA" dirty="0"/>
              <a:t>Use your sketches as a starting point to create </a:t>
            </a:r>
            <a:r>
              <a:rPr lang="en-ZA" b="1" dirty="0">
                <a:solidFill>
                  <a:srgbClr val="0070C0"/>
                </a:solidFill>
              </a:rPr>
              <a:t>three low-fidelity wireframes in Figma</a:t>
            </a:r>
            <a:r>
              <a:rPr lang="en-ZA" dirty="0"/>
              <a:t>.</a:t>
            </a:r>
          </a:p>
          <a:p>
            <a:pPr>
              <a:buNone/>
            </a:pPr>
            <a:endParaRPr lang="en-ZA" dirty="0"/>
          </a:p>
          <a:p>
            <a:pPr>
              <a:buNone/>
            </a:pPr>
            <a:r>
              <a:rPr lang="en-ZA" dirty="0"/>
              <a:t>Your wireframes must demonstrate:</a:t>
            </a:r>
            <a:endParaRPr lang="en-ZA" b="1" dirty="0"/>
          </a:p>
          <a:p>
            <a:pPr>
              <a:buNone/>
            </a:pPr>
            <a:r>
              <a:rPr lang="en-ZA" b="1" dirty="0">
                <a:solidFill>
                  <a:srgbClr val="7030A0"/>
                </a:solidFill>
              </a:rPr>
              <a:t>a. Content hierarchy</a:t>
            </a:r>
            <a:br>
              <a:rPr lang="en-ZA" dirty="0"/>
            </a:br>
            <a:r>
              <a:rPr lang="en-ZA" dirty="0"/>
              <a:t>Show which information is most important and how the user should naturally move through the screen.</a:t>
            </a:r>
          </a:p>
          <a:p>
            <a:pPr>
              <a:buNone/>
            </a:pPr>
            <a:r>
              <a:rPr lang="en-ZA" b="1" dirty="0">
                <a:solidFill>
                  <a:srgbClr val="7030A0"/>
                </a:solidFill>
              </a:rPr>
              <a:t>b. Navigation</a:t>
            </a:r>
            <a:br>
              <a:rPr lang="en-ZA" dirty="0"/>
            </a:br>
            <a:r>
              <a:rPr lang="en-ZA" dirty="0"/>
              <a:t>Include buttons, menus, links, back buttons or other navigation elements required to move through the task.</a:t>
            </a:r>
          </a:p>
          <a:p>
            <a:pPr>
              <a:buNone/>
            </a:pPr>
            <a:r>
              <a:rPr lang="en-ZA" b="1" dirty="0">
                <a:solidFill>
                  <a:srgbClr val="7030A0"/>
                </a:solidFill>
              </a:rPr>
              <a:t>c. Functionality</a:t>
            </a:r>
            <a:br>
              <a:rPr lang="en-ZA" dirty="0"/>
            </a:br>
            <a:r>
              <a:rPr lang="en-ZA" dirty="0"/>
              <a:t>Represent interactive elements such as:</a:t>
            </a:r>
          </a:p>
          <a:p>
            <a:pPr marL="342900" lvl="0" indent="-342900">
              <a:buFont typeface="Arial" panose="020B0604020202020204" pitchFamily="34" charset="0"/>
              <a:buChar char="•"/>
            </a:pPr>
            <a:r>
              <a:rPr lang="en-ZA" dirty="0"/>
              <a:t>Search </a:t>
            </a:r>
          </a:p>
          <a:p>
            <a:pPr marL="342900" lvl="0" indent="-342900">
              <a:buFont typeface="Arial" panose="020B0604020202020204" pitchFamily="34" charset="0"/>
              <a:buChar char="•"/>
            </a:pPr>
            <a:r>
              <a:rPr lang="en-ZA" dirty="0"/>
              <a:t>Buttons </a:t>
            </a:r>
          </a:p>
          <a:p>
            <a:pPr marL="342900" lvl="0" indent="-342900">
              <a:buFont typeface="Arial" panose="020B0604020202020204" pitchFamily="34" charset="0"/>
              <a:buChar char="•"/>
            </a:pPr>
            <a:r>
              <a:rPr lang="en-ZA" dirty="0"/>
              <a:t>Forms </a:t>
            </a:r>
          </a:p>
          <a:p>
            <a:pPr marL="342900" lvl="0" indent="-342900">
              <a:buFont typeface="Arial" panose="020B0604020202020204" pitchFamily="34" charset="0"/>
              <a:buChar char="•"/>
            </a:pPr>
            <a:r>
              <a:rPr lang="en-ZA" dirty="0"/>
              <a:t>Filters </a:t>
            </a:r>
          </a:p>
          <a:p>
            <a:pPr marL="342900" lvl="0" indent="-342900">
              <a:buFont typeface="Arial" panose="020B0604020202020204" pitchFamily="34" charset="0"/>
              <a:buChar char="•"/>
            </a:pPr>
            <a:r>
              <a:rPr lang="en-ZA" dirty="0"/>
              <a:t>Dropdowns </a:t>
            </a:r>
          </a:p>
          <a:p>
            <a:pPr marL="342900" lvl="0" indent="-342900">
              <a:buFont typeface="Arial" panose="020B0604020202020204" pitchFamily="34" charset="0"/>
              <a:buChar char="•"/>
            </a:pPr>
            <a:r>
              <a:rPr lang="en-ZA" dirty="0"/>
              <a:t>Checkboxes </a:t>
            </a:r>
          </a:p>
          <a:p>
            <a:pPr marL="342900" lvl="0" indent="-342900">
              <a:buFont typeface="Arial" panose="020B0604020202020204" pitchFamily="34" charset="0"/>
              <a:buChar char="•"/>
            </a:pPr>
            <a:r>
              <a:rPr lang="en-ZA" dirty="0"/>
              <a:t>Images/placeholders </a:t>
            </a:r>
          </a:p>
          <a:p>
            <a:pPr marL="342900" lvl="0" indent="-342900">
              <a:buFont typeface="Arial" panose="020B0604020202020204" pitchFamily="34" charset="0"/>
              <a:buChar char="•"/>
            </a:pPr>
            <a:r>
              <a:rPr lang="en-ZA" dirty="0"/>
              <a:t>Cards </a:t>
            </a:r>
          </a:p>
          <a:p>
            <a:pPr marL="342900" lvl="0" indent="-342900">
              <a:buFont typeface="Arial" panose="020B0604020202020204" pitchFamily="34" charset="0"/>
              <a:buChar char="•"/>
            </a:pPr>
            <a:r>
              <a:rPr lang="en-ZA" dirty="0"/>
              <a:t>Notifications </a:t>
            </a:r>
          </a:p>
          <a:p>
            <a:pPr marL="342900" lvl="0" indent="-342900">
              <a:buFont typeface="Arial" panose="020B0604020202020204" pitchFamily="34" charset="0"/>
              <a:buChar char="•"/>
            </a:pPr>
            <a:r>
              <a:rPr lang="en-ZA" dirty="0"/>
              <a:t>Confirmation messages </a:t>
            </a:r>
          </a:p>
        </p:txBody>
      </p:sp>
      <p:sp>
        <p:nvSpPr>
          <p:cNvPr id="6" name="TextBox 5">
            <a:extLst>
              <a:ext uri="{FF2B5EF4-FFF2-40B4-BE49-F238E27FC236}">
                <a16:creationId xmlns:a16="http://schemas.microsoft.com/office/drawing/2014/main" id="{8BD136FB-0D50-8905-E698-C9D68DA42791}"/>
              </a:ext>
            </a:extLst>
          </p:cNvPr>
          <p:cNvSpPr txBox="1"/>
          <p:nvPr/>
        </p:nvSpPr>
        <p:spPr>
          <a:xfrm>
            <a:off x="4350327" y="3429000"/>
            <a:ext cx="7342909" cy="2585323"/>
          </a:xfrm>
          <a:prstGeom prst="rect">
            <a:avLst/>
          </a:prstGeom>
          <a:noFill/>
        </p:spPr>
        <p:txBody>
          <a:bodyPr wrap="square">
            <a:spAutoFit/>
          </a:bodyPr>
          <a:lstStyle/>
          <a:p>
            <a:pPr>
              <a:buNone/>
            </a:pPr>
            <a:r>
              <a:rPr lang="en-ZA" sz="1800" b="1" dirty="0">
                <a:solidFill>
                  <a:srgbClr val="7030A0"/>
                </a:solidFill>
              </a:rPr>
              <a:t>d. Branding</a:t>
            </a:r>
            <a:br>
              <a:rPr lang="en-ZA" sz="1800" dirty="0"/>
            </a:br>
            <a:r>
              <a:rPr lang="en-ZA" sz="1800" dirty="0"/>
              <a:t>Include the app's name/logo or an appropriate placeholder representing the brand identity.</a:t>
            </a:r>
          </a:p>
          <a:p>
            <a:pPr>
              <a:buNone/>
            </a:pPr>
            <a:r>
              <a:rPr lang="en-ZA" sz="1800" b="1" dirty="0">
                <a:solidFill>
                  <a:srgbClr val="7030A0"/>
                </a:solidFill>
              </a:rPr>
              <a:t>e. User feedback</a:t>
            </a:r>
            <a:br>
              <a:rPr lang="en-ZA" sz="1800" dirty="0"/>
            </a:br>
            <a:r>
              <a:rPr lang="en-ZA" sz="1800" dirty="0"/>
              <a:t>Show how the interface communicates what has happened after an action.</a:t>
            </a:r>
          </a:p>
          <a:p>
            <a:pPr>
              <a:buNone/>
            </a:pPr>
            <a:endParaRPr lang="en-ZA" sz="1800" dirty="0"/>
          </a:p>
          <a:p>
            <a:pPr>
              <a:buNone/>
            </a:pPr>
            <a:r>
              <a:rPr lang="en-ZA" sz="1800" dirty="0"/>
              <a:t>For example:</a:t>
            </a:r>
          </a:p>
          <a:p>
            <a:pPr>
              <a:buNone/>
            </a:pPr>
            <a:r>
              <a:rPr lang="en-ZA" sz="1800" b="1" dirty="0"/>
              <a:t>“Booking Confirmed”</a:t>
            </a:r>
            <a:br>
              <a:rPr lang="en-ZA" sz="1800" dirty="0"/>
            </a:br>
            <a:r>
              <a:rPr lang="en-ZA" sz="1800" dirty="0"/>
              <a:t>✓ Your booking has been successfully submitted.</a:t>
            </a:r>
          </a:p>
        </p:txBody>
      </p:sp>
    </p:spTree>
    <p:extLst>
      <p:ext uri="{BB962C8B-B14F-4D97-AF65-F5344CB8AC3E}">
        <p14:creationId xmlns:p14="http://schemas.microsoft.com/office/powerpoint/2010/main" val="286185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1000"/>
                                        <p:tgtEl>
                                          <p:spTgt spid="3">
                                            <p:txEl>
                                              <p:pRg st="5" end="5"/>
                                            </p:txEl>
                                          </p:spTgt>
                                        </p:tgtEl>
                                      </p:cBhvr>
                                    </p:animEffect>
                                    <p:anim calcmode="lin" valueType="num">
                                      <p:cBhvr>
                                        <p:cTn id="1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1000"/>
                                        <p:tgtEl>
                                          <p:spTgt spid="3">
                                            <p:txEl>
                                              <p:pRg st="6" end="6"/>
                                            </p:txEl>
                                          </p:spTgt>
                                        </p:tgtEl>
                                      </p:cBhvr>
                                    </p:animEffect>
                                    <p:anim calcmode="lin" valueType="num">
                                      <p:cBhvr>
                                        <p:cTn id="2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1000"/>
                                        <p:tgtEl>
                                          <p:spTgt spid="3">
                                            <p:txEl>
                                              <p:pRg st="7" end="7"/>
                                            </p:txEl>
                                          </p:spTgt>
                                        </p:tgtEl>
                                      </p:cBhvr>
                                    </p:animEffect>
                                    <p:anim calcmode="lin" valueType="num">
                                      <p:cBhvr>
                                        <p:cTn id="2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7" end="7"/>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1000"/>
                                        <p:tgtEl>
                                          <p:spTgt spid="3">
                                            <p:txEl>
                                              <p:pRg st="8" end="8"/>
                                            </p:txEl>
                                          </p:spTgt>
                                        </p:tgtEl>
                                      </p:cBhvr>
                                    </p:animEffect>
                                    <p:anim calcmode="lin" valueType="num">
                                      <p:cBhvr>
                                        <p:cTn id="3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1000"/>
                                        <p:tgtEl>
                                          <p:spTgt spid="3">
                                            <p:txEl>
                                              <p:pRg st="9" end="9"/>
                                            </p:txEl>
                                          </p:spTgt>
                                        </p:tgtEl>
                                      </p:cBhvr>
                                    </p:animEffect>
                                    <p:anim calcmode="lin" valueType="num">
                                      <p:cBhvr>
                                        <p:cTn id="37"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9" end="9"/>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1000"/>
                                        <p:tgtEl>
                                          <p:spTgt spid="3">
                                            <p:txEl>
                                              <p:pRg st="10" end="10"/>
                                            </p:txEl>
                                          </p:spTgt>
                                        </p:tgtEl>
                                      </p:cBhvr>
                                    </p:animEffect>
                                    <p:anim calcmode="lin" valueType="num">
                                      <p:cBhvr>
                                        <p:cTn id="42"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1000"/>
                                        <p:tgtEl>
                                          <p:spTgt spid="3">
                                            <p:txEl>
                                              <p:pRg st="11" end="11"/>
                                            </p:txEl>
                                          </p:spTgt>
                                        </p:tgtEl>
                                      </p:cBhvr>
                                    </p:animEffect>
                                    <p:anim calcmode="lin" valueType="num">
                                      <p:cBhvr>
                                        <p:cTn id="4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animEffect transition="in" filter="fade">
                                      <p:cBhvr>
                                        <p:cTn id="51" dur="1000"/>
                                        <p:tgtEl>
                                          <p:spTgt spid="3">
                                            <p:txEl>
                                              <p:pRg st="12" end="12"/>
                                            </p:txEl>
                                          </p:spTgt>
                                        </p:tgtEl>
                                      </p:cBhvr>
                                    </p:animEffect>
                                    <p:anim calcmode="lin" valueType="num">
                                      <p:cBhvr>
                                        <p:cTn id="5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3">
                                            <p:txEl>
                                              <p:pRg st="13" end="13"/>
                                            </p:txEl>
                                          </p:spTgt>
                                        </p:tgtEl>
                                        <p:attrNameLst>
                                          <p:attrName>style.visibility</p:attrName>
                                        </p:attrNameLst>
                                      </p:cBhvr>
                                      <p:to>
                                        <p:strVal val="visible"/>
                                      </p:to>
                                    </p:set>
                                    <p:animEffect transition="in" filter="fade">
                                      <p:cBhvr>
                                        <p:cTn id="56" dur="1000"/>
                                        <p:tgtEl>
                                          <p:spTgt spid="3">
                                            <p:txEl>
                                              <p:pRg st="13" end="13"/>
                                            </p:txEl>
                                          </p:spTgt>
                                        </p:tgtEl>
                                      </p:cBhvr>
                                    </p:animEffect>
                                    <p:anim calcmode="lin" valueType="num">
                                      <p:cBhvr>
                                        <p:cTn id="57"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3">
                                            <p:txEl>
                                              <p:pRg st="14" end="14"/>
                                            </p:txEl>
                                          </p:spTgt>
                                        </p:tgtEl>
                                        <p:attrNameLst>
                                          <p:attrName>style.visibility</p:attrName>
                                        </p:attrNameLst>
                                      </p:cBhvr>
                                      <p:to>
                                        <p:strVal val="visible"/>
                                      </p:to>
                                    </p:set>
                                    <p:animEffect transition="in" filter="fade">
                                      <p:cBhvr>
                                        <p:cTn id="61" dur="1000"/>
                                        <p:tgtEl>
                                          <p:spTgt spid="3">
                                            <p:txEl>
                                              <p:pRg st="14" end="14"/>
                                            </p:txEl>
                                          </p:spTgt>
                                        </p:tgtEl>
                                      </p:cBhvr>
                                    </p:animEffect>
                                    <p:anim calcmode="lin" valueType="num">
                                      <p:cBhvr>
                                        <p:cTn id="62"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4" end="14"/>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3">
                                            <p:txEl>
                                              <p:pRg st="15" end="15"/>
                                            </p:txEl>
                                          </p:spTgt>
                                        </p:tgtEl>
                                        <p:attrNameLst>
                                          <p:attrName>style.visibility</p:attrName>
                                        </p:attrNameLst>
                                      </p:cBhvr>
                                      <p:to>
                                        <p:strVal val="visible"/>
                                      </p:to>
                                    </p:set>
                                    <p:animEffect transition="in" filter="fade">
                                      <p:cBhvr>
                                        <p:cTn id="66" dur="1000"/>
                                        <p:tgtEl>
                                          <p:spTgt spid="3">
                                            <p:txEl>
                                              <p:pRg st="15" end="15"/>
                                            </p:txEl>
                                          </p:spTgt>
                                        </p:tgtEl>
                                      </p:cBhvr>
                                    </p:animEffect>
                                    <p:anim calcmode="lin" valueType="num">
                                      <p:cBhvr>
                                        <p:cTn id="67" dur="1000" fill="hold"/>
                                        <p:tgtEl>
                                          <p:spTgt spid="3">
                                            <p:txEl>
                                              <p:pRg st="15" end="15"/>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5" end="15"/>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animEffect transition="in" filter="fade">
                                      <p:cBhvr>
                                        <p:cTn id="71" dur="1000"/>
                                        <p:tgtEl>
                                          <p:spTgt spid="3">
                                            <p:txEl>
                                              <p:pRg st="16" end="16"/>
                                            </p:txEl>
                                          </p:spTgt>
                                        </p:tgtEl>
                                      </p:cBhvr>
                                    </p:animEffect>
                                    <p:anim calcmode="lin" valueType="num">
                                      <p:cBhvr>
                                        <p:cTn id="72" dur="1000" fill="hold"/>
                                        <p:tgtEl>
                                          <p:spTgt spid="3">
                                            <p:txEl>
                                              <p:pRg st="16" end="16"/>
                                            </p:txEl>
                                          </p:spTgt>
                                        </p:tgtEl>
                                        <p:attrNameLst>
                                          <p:attrName>ppt_x</p:attrName>
                                        </p:attrNameLst>
                                      </p:cBhvr>
                                      <p:tavLst>
                                        <p:tav tm="0">
                                          <p:val>
                                            <p:strVal val="#ppt_x"/>
                                          </p:val>
                                        </p:tav>
                                        <p:tav tm="100000">
                                          <p:val>
                                            <p:strVal val="#ppt_x"/>
                                          </p:val>
                                        </p:tav>
                                      </p:tavLst>
                                    </p:anim>
                                    <p:anim calcmode="lin" valueType="num">
                                      <p:cBhvr>
                                        <p:cTn id="73" dur="1000" fill="hold"/>
                                        <p:tgtEl>
                                          <p:spTgt spid="3">
                                            <p:txEl>
                                              <p:pRg st="16" end="16"/>
                                            </p:txEl>
                                          </p:spTgt>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3">
                                            <p:txEl>
                                              <p:pRg st="17" end="17"/>
                                            </p:txEl>
                                          </p:spTgt>
                                        </p:tgtEl>
                                        <p:attrNameLst>
                                          <p:attrName>style.visibility</p:attrName>
                                        </p:attrNameLst>
                                      </p:cBhvr>
                                      <p:to>
                                        <p:strVal val="visible"/>
                                      </p:to>
                                    </p:set>
                                    <p:animEffect transition="in" filter="fade">
                                      <p:cBhvr>
                                        <p:cTn id="76" dur="1000"/>
                                        <p:tgtEl>
                                          <p:spTgt spid="3">
                                            <p:txEl>
                                              <p:pRg st="17" end="17"/>
                                            </p:txEl>
                                          </p:spTgt>
                                        </p:tgtEl>
                                      </p:cBhvr>
                                    </p:animEffect>
                                    <p:anim calcmode="lin" valueType="num">
                                      <p:cBhvr>
                                        <p:cTn id="77" dur="1000" fill="hold"/>
                                        <p:tgtEl>
                                          <p:spTgt spid="3">
                                            <p:txEl>
                                              <p:pRg st="17" end="17"/>
                                            </p:txEl>
                                          </p:spTgt>
                                        </p:tgtEl>
                                        <p:attrNameLst>
                                          <p:attrName>ppt_x</p:attrName>
                                        </p:attrNameLst>
                                      </p:cBhvr>
                                      <p:tavLst>
                                        <p:tav tm="0">
                                          <p:val>
                                            <p:strVal val="#ppt_x"/>
                                          </p:val>
                                        </p:tav>
                                        <p:tav tm="100000">
                                          <p:val>
                                            <p:strVal val="#ppt_x"/>
                                          </p:val>
                                        </p:tav>
                                      </p:tavLst>
                                    </p:anim>
                                    <p:anim calcmode="lin" valueType="num">
                                      <p:cBhvr>
                                        <p:cTn id="78" dur="1000" fill="hold"/>
                                        <p:tgtEl>
                                          <p:spTgt spid="3">
                                            <p:txEl>
                                              <p:pRg st="17" end="17"/>
                                            </p:txEl>
                                          </p:spTgt>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nodeType="clickEffect">
                                  <p:stCondLst>
                                    <p:cond delay="0"/>
                                  </p:stCondLst>
                                  <p:childTnLst>
                                    <p:set>
                                      <p:cBhvr>
                                        <p:cTn id="82" dur="1" fill="hold">
                                          <p:stCondLst>
                                            <p:cond delay="0"/>
                                          </p:stCondLst>
                                        </p:cTn>
                                        <p:tgtEl>
                                          <p:spTgt spid="6">
                                            <p:txEl>
                                              <p:pRg st="0" end="0"/>
                                            </p:txEl>
                                          </p:spTgt>
                                        </p:tgtEl>
                                        <p:attrNameLst>
                                          <p:attrName>style.visibility</p:attrName>
                                        </p:attrNameLst>
                                      </p:cBhvr>
                                      <p:to>
                                        <p:strVal val="visible"/>
                                      </p:to>
                                    </p:set>
                                    <p:animEffect transition="in" filter="fade">
                                      <p:cBhvr>
                                        <p:cTn id="83" dur="1000"/>
                                        <p:tgtEl>
                                          <p:spTgt spid="6">
                                            <p:txEl>
                                              <p:pRg st="0" end="0"/>
                                            </p:txEl>
                                          </p:spTgt>
                                        </p:tgtEl>
                                      </p:cBhvr>
                                    </p:animEffect>
                                    <p:anim calcmode="lin" valueType="num">
                                      <p:cBhvr>
                                        <p:cTn id="84"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85"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nodeType="clickEffect">
                                  <p:stCondLst>
                                    <p:cond delay="0"/>
                                  </p:stCondLst>
                                  <p:childTnLst>
                                    <p:set>
                                      <p:cBhvr>
                                        <p:cTn id="89" dur="1" fill="hold">
                                          <p:stCondLst>
                                            <p:cond delay="0"/>
                                          </p:stCondLst>
                                        </p:cTn>
                                        <p:tgtEl>
                                          <p:spTgt spid="6">
                                            <p:txEl>
                                              <p:pRg st="1" end="1"/>
                                            </p:txEl>
                                          </p:spTgt>
                                        </p:tgtEl>
                                        <p:attrNameLst>
                                          <p:attrName>style.visibility</p:attrName>
                                        </p:attrNameLst>
                                      </p:cBhvr>
                                      <p:to>
                                        <p:strVal val="visible"/>
                                      </p:to>
                                    </p:set>
                                    <p:animEffect transition="in" filter="fade">
                                      <p:cBhvr>
                                        <p:cTn id="90" dur="1000"/>
                                        <p:tgtEl>
                                          <p:spTgt spid="6">
                                            <p:txEl>
                                              <p:pRg st="1" end="1"/>
                                            </p:txEl>
                                          </p:spTgt>
                                        </p:tgtEl>
                                      </p:cBhvr>
                                    </p:animEffect>
                                    <p:anim calcmode="lin" valueType="num">
                                      <p:cBhvr>
                                        <p:cTn id="91"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2" dur="1000" fill="hold"/>
                                        <p:tgtEl>
                                          <p:spTgt spid="6">
                                            <p:txEl>
                                              <p:pRg st="1" end="1"/>
                                            </p:txEl>
                                          </p:spTgt>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94" dur="1" fill="hold">
                                          <p:stCondLst>
                                            <p:cond delay="0"/>
                                          </p:stCondLst>
                                        </p:cTn>
                                        <p:tgtEl>
                                          <p:spTgt spid="6">
                                            <p:txEl>
                                              <p:pRg st="3" end="3"/>
                                            </p:txEl>
                                          </p:spTgt>
                                        </p:tgtEl>
                                        <p:attrNameLst>
                                          <p:attrName>style.visibility</p:attrName>
                                        </p:attrNameLst>
                                      </p:cBhvr>
                                      <p:to>
                                        <p:strVal val="visible"/>
                                      </p:to>
                                    </p:set>
                                    <p:animEffect transition="in" filter="fade">
                                      <p:cBhvr>
                                        <p:cTn id="95" dur="1000"/>
                                        <p:tgtEl>
                                          <p:spTgt spid="6">
                                            <p:txEl>
                                              <p:pRg st="3" end="3"/>
                                            </p:txEl>
                                          </p:spTgt>
                                        </p:tgtEl>
                                      </p:cBhvr>
                                    </p:animEffect>
                                    <p:anim calcmode="lin" valueType="num">
                                      <p:cBhvr>
                                        <p:cTn id="96"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97" dur="1000" fill="hold"/>
                                        <p:tgtEl>
                                          <p:spTgt spid="6">
                                            <p:txEl>
                                              <p:pRg st="3" end="3"/>
                                            </p:txEl>
                                          </p:spTgt>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9" dur="1" fill="hold">
                                          <p:stCondLst>
                                            <p:cond delay="0"/>
                                          </p:stCondLst>
                                        </p:cTn>
                                        <p:tgtEl>
                                          <p:spTgt spid="6">
                                            <p:txEl>
                                              <p:pRg st="4" end="4"/>
                                            </p:txEl>
                                          </p:spTgt>
                                        </p:tgtEl>
                                        <p:attrNameLst>
                                          <p:attrName>style.visibility</p:attrName>
                                        </p:attrNameLst>
                                      </p:cBhvr>
                                      <p:to>
                                        <p:strVal val="visible"/>
                                      </p:to>
                                    </p:set>
                                    <p:animEffect transition="in" filter="fade">
                                      <p:cBhvr>
                                        <p:cTn id="100" dur="1000"/>
                                        <p:tgtEl>
                                          <p:spTgt spid="6">
                                            <p:txEl>
                                              <p:pRg st="4" end="4"/>
                                            </p:txEl>
                                          </p:spTgt>
                                        </p:tgtEl>
                                      </p:cBhvr>
                                    </p:animEffect>
                                    <p:anim calcmode="lin" valueType="num">
                                      <p:cBhvr>
                                        <p:cTn id="101"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02"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75263F6-2E9E-5B81-7902-451B5F730E72}"/>
              </a:ext>
            </a:extLst>
          </p:cNvPr>
          <p:cNvSpPr txBox="1"/>
          <p:nvPr/>
        </p:nvSpPr>
        <p:spPr>
          <a:xfrm>
            <a:off x="180109" y="210695"/>
            <a:ext cx="10515600" cy="3693319"/>
          </a:xfrm>
          <a:prstGeom prst="rect">
            <a:avLst/>
          </a:prstGeom>
          <a:noFill/>
        </p:spPr>
        <p:txBody>
          <a:bodyPr wrap="square">
            <a:spAutoFit/>
          </a:bodyPr>
          <a:lstStyle/>
          <a:p>
            <a:pPr>
              <a:buNone/>
            </a:pPr>
            <a:r>
              <a:rPr lang="en-ZA" b="1" dirty="0">
                <a:solidFill>
                  <a:srgbClr val="E23ACE"/>
                </a:solidFill>
              </a:rPr>
              <a:t>Step 3: Make Your Design Decisions</a:t>
            </a:r>
          </a:p>
          <a:p>
            <a:pPr>
              <a:buNone/>
            </a:pPr>
            <a:endParaRPr lang="en-ZA" dirty="0"/>
          </a:p>
          <a:p>
            <a:pPr>
              <a:buNone/>
            </a:pPr>
            <a:r>
              <a:rPr lang="en-ZA" dirty="0"/>
              <a:t>Under your three Figma wireframes, briefly explain </a:t>
            </a:r>
            <a:r>
              <a:rPr lang="en-ZA" b="1" dirty="0">
                <a:solidFill>
                  <a:srgbClr val="00B050"/>
                </a:solidFill>
              </a:rPr>
              <a:t>three important design decisions</a:t>
            </a:r>
            <a:r>
              <a:rPr lang="en-ZA" dirty="0">
                <a:solidFill>
                  <a:srgbClr val="00B050"/>
                </a:solidFill>
              </a:rPr>
              <a:t> </a:t>
            </a:r>
            <a:r>
              <a:rPr lang="en-ZA" dirty="0"/>
              <a:t>you made.</a:t>
            </a:r>
          </a:p>
          <a:p>
            <a:pPr>
              <a:buNone/>
            </a:pPr>
            <a:endParaRPr lang="en-ZA" dirty="0"/>
          </a:p>
          <a:p>
            <a:pPr>
              <a:buNone/>
            </a:pPr>
            <a:r>
              <a:rPr lang="en-ZA" dirty="0"/>
              <a:t>For each decision, explain:</a:t>
            </a:r>
          </a:p>
          <a:p>
            <a:pPr marL="342900" lvl="0" indent="-342900">
              <a:buFont typeface="+mj-lt"/>
              <a:buAutoNum type="arabicPeriod"/>
            </a:pPr>
            <a:r>
              <a:rPr lang="en-ZA" b="1" dirty="0">
                <a:solidFill>
                  <a:srgbClr val="7030A0"/>
                </a:solidFill>
              </a:rPr>
              <a:t>What</a:t>
            </a:r>
            <a:r>
              <a:rPr lang="en-ZA" dirty="0"/>
              <a:t> you changed or included. </a:t>
            </a:r>
          </a:p>
          <a:p>
            <a:pPr marL="342900" lvl="0" indent="-342900">
              <a:buFont typeface="+mj-lt"/>
              <a:buAutoNum type="arabicPeriod"/>
            </a:pPr>
            <a:r>
              <a:rPr lang="en-ZA" b="1" dirty="0">
                <a:solidFill>
                  <a:srgbClr val="7030A0"/>
                </a:solidFill>
              </a:rPr>
              <a:t>Why</a:t>
            </a:r>
            <a:r>
              <a:rPr lang="en-ZA" dirty="0"/>
              <a:t> you made the decision. </a:t>
            </a:r>
          </a:p>
          <a:p>
            <a:pPr marL="342900" lvl="0" indent="-342900">
              <a:buFont typeface="+mj-lt"/>
              <a:buAutoNum type="arabicPeriod"/>
            </a:pPr>
            <a:r>
              <a:rPr lang="en-ZA" b="1" dirty="0">
                <a:solidFill>
                  <a:srgbClr val="7030A0"/>
                </a:solidFill>
              </a:rPr>
              <a:t>How</a:t>
            </a:r>
            <a:r>
              <a:rPr lang="en-ZA" dirty="0"/>
              <a:t> it helps the user complete the task. </a:t>
            </a:r>
          </a:p>
          <a:p>
            <a:pPr>
              <a:buNone/>
            </a:pPr>
            <a:endParaRPr lang="en-ZA" dirty="0"/>
          </a:p>
          <a:p>
            <a:pPr>
              <a:buNone/>
            </a:pPr>
            <a:r>
              <a:rPr lang="en-ZA" dirty="0"/>
              <a:t>For example:</a:t>
            </a:r>
          </a:p>
          <a:p>
            <a:pPr>
              <a:buNone/>
            </a:pPr>
            <a:r>
              <a:rPr lang="en-ZA" b="1" dirty="0">
                <a:solidFill>
                  <a:schemeClr val="accent1"/>
                </a:solidFill>
              </a:rPr>
              <a:t>Decision 1: Confirmation button</a:t>
            </a:r>
            <a:br>
              <a:rPr lang="en-ZA" dirty="0"/>
            </a:br>
            <a:r>
              <a:rPr lang="en-ZA" dirty="0"/>
              <a:t>I placed the “Confirm Booking” button at the bottom of the screen because it is the final action the user needs to take. This makes the next step clear and reduces confusion.</a:t>
            </a:r>
          </a:p>
        </p:txBody>
      </p:sp>
    </p:spTree>
    <p:extLst>
      <p:ext uri="{BB962C8B-B14F-4D97-AF65-F5344CB8AC3E}">
        <p14:creationId xmlns:p14="http://schemas.microsoft.com/office/powerpoint/2010/main" val="2484366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4" end="4"/>
                                            </p:txEl>
                                          </p:spTgt>
                                        </p:tgtEl>
                                        <p:attrNameLst>
                                          <p:attrName>style.visibility</p:attrName>
                                        </p:attrNameLst>
                                      </p:cBhvr>
                                      <p:to>
                                        <p:strVal val="visible"/>
                                      </p:to>
                                    </p:set>
                                    <p:animEffect transition="in" filter="fade">
                                      <p:cBhvr>
                                        <p:cTn id="14" dur="1000"/>
                                        <p:tgtEl>
                                          <p:spTgt spid="4">
                                            <p:txEl>
                                              <p:pRg st="4" end="4"/>
                                            </p:txEl>
                                          </p:spTgt>
                                        </p:tgtEl>
                                      </p:cBhvr>
                                    </p:animEffect>
                                    <p:anim calcmode="lin" valueType="num">
                                      <p:cBhvr>
                                        <p:cTn id="1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fade">
                                      <p:cBhvr>
                                        <p:cTn id="19" dur="1000"/>
                                        <p:tgtEl>
                                          <p:spTgt spid="4">
                                            <p:txEl>
                                              <p:pRg st="5" end="5"/>
                                            </p:txEl>
                                          </p:spTgt>
                                        </p:tgtEl>
                                      </p:cBhvr>
                                    </p:animEffect>
                                    <p:anim calcmode="lin" valueType="num">
                                      <p:cBhvr>
                                        <p:cTn id="20"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6" end="6"/>
                                            </p:txEl>
                                          </p:spTgt>
                                        </p:tgtEl>
                                        <p:attrNameLst>
                                          <p:attrName>style.visibility</p:attrName>
                                        </p:attrNameLst>
                                      </p:cBhvr>
                                      <p:to>
                                        <p:strVal val="visible"/>
                                      </p:to>
                                    </p:set>
                                    <p:animEffect transition="in" filter="fade">
                                      <p:cBhvr>
                                        <p:cTn id="26" dur="1000"/>
                                        <p:tgtEl>
                                          <p:spTgt spid="4">
                                            <p:txEl>
                                              <p:pRg st="6" end="6"/>
                                            </p:txEl>
                                          </p:spTgt>
                                        </p:tgtEl>
                                      </p:cBhvr>
                                    </p:animEffect>
                                    <p:anim calcmode="lin" valueType="num">
                                      <p:cBhvr>
                                        <p:cTn id="27"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animEffect transition="in" filter="fade">
                                      <p:cBhvr>
                                        <p:cTn id="33" dur="1000"/>
                                        <p:tgtEl>
                                          <p:spTgt spid="4">
                                            <p:txEl>
                                              <p:pRg st="7" end="7"/>
                                            </p:txEl>
                                          </p:spTgt>
                                        </p:tgtEl>
                                      </p:cBhvr>
                                    </p:animEffect>
                                    <p:anim calcmode="lin" valueType="num">
                                      <p:cBhvr>
                                        <p:cTn id="34"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4">
                                            <p:txEl>
                                              <p:pRg st="9" end="9"/>
                                            </p:txEl>
                                          </p:spTgt>
                                        </p:tgtEl>
                                        <p:attrNameLst>
                                          <p:attrName>style.visibility</p:attrName>
                                        </p:attrNameLst>
                                      </p:cBhvr>
                                      <p:to>
                                        <p:strVal val="visible"/>
                                      </p:to>
                                    </p:set>
                                    <p:animEffect transition="in" filter="fade">
                                      <p:cBhvr>
                                        <p:cTn id="40" dur="1000"/>
                                        <p:tgtEl>
                                          <p:spTgt spid="4">
                                            <p:txEl>
                                              <p:pRg st="9" end="9"/>
                                            </p:txEl>
                                          </p:spTgt>
                                        </p:tgtEl>
                                      </p:cBhvr>
                                    </p:animEffect>
                                    <p:anim calcmode="lin" valueType="num">
                                      <p:cBhvr>
                                        <p:cTn id="41"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4">
                                            <p:txEl>
                                              <p:pRg st="9" end="9"/>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4">
                                            <p:txEl>
                                              <p:pRg st="10" end="10"/>
                                            </p:txEl>
                                          </p:spTgt>
                                        </p:tgtEl>
                                        <p:attrNameLst>
                                          <p:attrName>style.visibility</p:attrName>
                                        </p:attrNameLst>
                                      </p:cBhvr>
                                      <p:to>
                                        <p:strVal val="visible"/>
                                      </p:to>
                                    </p:set>
                                    <p:animEffect transition="in" filter="fade">
                                      <p:cBhvr>
                                        <p:cTn id="45" dur="1000"/>
                                        <p:tgtEl>
                                          <p:spTgt spid="4">
                                            <p:txEl>
                                              <p:pRg st="10" end="10"/>
                                            </p:txEl>
                                          </p:spTgt>
                                        </p:tgtEl>
                                      </p:cBhvr>
                                    </p:animEffect>
                                    <p:anim calcmode="lin" valueType="num">
                                      <p:cBhvr>
                                        <p:cTn id="46"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37794D-041B-9EBD-F038-3A2C7B59D832}"/>
              </a:ext>
            </a:extLst>
          </p:cNvPr>
          <p:cNvSpPr txBox="1"/>
          <p:nvPr/>
        </p:nvSpPr>
        <p:spPr>
          <a:xfrm>
            <a:off x="277091" y="141468"/>
            <a:ext cx="10058400" cy="4247317"/>
          </a:xfrm>
          <a:prstGeom prst="rect">
            <a:avLst/>
          </a:prstGeom>
          <a:noFill/>
        </p:spPr>
        <p:txBody>
          <a:bodyPr wrap="square">
            <a:spAutoFit/>
          </a:bodyPr>
          <a:lstStyle/>
          <a:p>
            <a:pPr>
              <a:buNone/>
            </a:pPr>
            <a:r>
              <a:rPr lang="en-ZA" b="1" dirty="0">
                <a:solidFill>
                  <a:srgbClr val="E23ACE"/>
                </a:solidFill>
              </a:rPr>
              <a:t>Step 4: Test Your Wireframe</a:t>
            </a:r>
          </a:p>
          <a:p>
            <a:pPr>
              <a:buNone/>
            </a:pPr>
            <a:endParaRPr lang="en-ZA" dirty="0"/>
          </a:p>
          <a:p>
            <a:pPr>
              <a:buNone/>
            </a:pPr>
            <a:r>
              <a:rPr lang="en-ZA" dirty="0"/>
              <a:t>Ask </a:t>
            </a:r>
            <a:r>
              <a:rPr lang="en-ZA" b="1" dirty="0"/>
              <a:t>one other person</a:t>
            </a:r>
            <a:r>
              <a:rPr lang="en-ZA" dirty="0"/>
              <a:t> to look at your three wireframes.</a:t>
            </a:r>
          </a:p>
          <a:p>
            <a:pPr>
              <a:buNone/>
            </a:pPr>
            <a:endParaRPr lang="en-ZA" dirty="0"/>
          </a:p>
          <a:p>
            <a:pPr>
              <a:buNone/>
            </a:pPr>
            <a:r>
              <a:rPr lang="en-ZA" dirty="0"/>
              <a:t>Without explaining the design to them, give them the following instruction:</a:t>
            </a:r>
          </a:p>
          <a:p>
            <a:pPr>
              <a:buNone/>
            </a:pPr>
            <a:r>
              <a:rPr lang="en-ZA" b="1" dirty="0">
                <a:solidFill>
                  <a:srgbClr val="00B050"/>
                </a:solidFill>
              </a:rPr>
              <a:t>“Using these screens, show me how you would complete this task.”</a:t>
            </a:r>
            <a:endParaRPr lang="en-ZA" dirty="0">
              <a:solidFill>
                <a:srgbClr val="00B050"/>
              </a:solidFill>
            </a:endParaRPr>
          </a:p>
          <a:p>
            <a:pPr>
              <a:buNone/>
            </a:pPr>
            <a:endParaRPr lang="en-ZA" dirty="0"/>
          </a:p>
          <a:p>
            <a:pPr>
              <a:buNone/>
            </a:pPr>
            <a:r>
              <a:rPr lang="en-ZA" dirty="0"/>
              <a:t>Observe where they hesitate or become confused.</a:t>
            </a:r>
          </a:p>
          <a:p>
            <a:pPr>
              <a:buNone/>
            </a:pPr>
            <a:endParaRPr lang="en-ZA" dirty="0"/>
          </a:p>
          <a:p>
            <a:pPr>
              <a:buNone/>
            </a:pPr>
            <a:r>
              <a:rPr lang="en-ZA" dirty="0"/>
              <a:t>Briefly record:</a:t>
            </a:r>
          </a:p>
          <a:p>
            <a:pPr marL="342900" lvl="0" indent="-342900">
              <a:buFont typeface="Arial" panose="020B0604020202020204" pitchFamily="34" charset="0"/>
              <a:buChar char="•"/>
            </a:pPr>
            <a:r>
              <a:rPr lang="en-ZA" b="1" dirty="0">
                <a:solidFill>
                  <a:srgbClr val="0070C0"/>
                </a:solidFill>
              </a:rPr>
              <a:t>What they struggled with</a:t>
            </a:r>
            <a:r>
              <a:rPr lang="en-ZA" dirty="0">
                <a:solidFill>
                  <a:srgbClr val="0070C0"/>
                </a:solidFill>
              </a:rPr>
              <a:t> </a:t>
            </a:r>
          </a:p>
          <a:p>
            <a:pPr marL="342900" lvl="0" indent="-342900">
              <a:buFont typeface="Arial" panose="020B0604020202020204" pitchFamily="34" charset="0"/>
              <a:buChar char="•"/>
            </a:pPr>
            <a:r>
              <a:rPr lang="en-ZA" b="1" dirty="0">
                <a:solidFill>
                  <a:srgbClr val="0070C0"/>
                </a:solidFill>
              </a:rPr>
              <a:t>What you changed</a:t>
            </a:r>
            <a:r>
              <a:rPr lang="en-ZA" dirty="0">
                <a:solidFill>
                  <a:srgbClr val="0070C0"/>
                </a:solidFill>
              </a:rPr>
              <a:t> </a:t>
            </a:r>
          </a:p>
          <a:p>
            <a:pPr marL="342900" lvl="0" indent="-342900">
              <a:buFont typeface="Arial" panose="020B0604020202020204" pitchFamily="34" charset="0"/>
              <a:buChar char="•"/>
            </a:pPr>
            <a:r>
              <a:rPr lang="en-ZA" b="1" dirty="0">
                <a:solidFill>
                  <a:srgbClr val="0070C0"/>
                </a:solidFill>
              </a:rPr>
              <a:t>Why you made the change</a:t>
            </a:r>
            <a:r>
              <a:rPr lang="en-ZA" dirty="0">
                <a:solidFill>
                  <a:srgbClr val="0070C0"/>
                </a:solidFill>
              </a:rPr>
              <a:t> </a:t>
            </a:r>
          </a:p>
          <a:p>
            <a:pPr>
              <a:buNone/>
            </a:pPr>
            <a:endParaRPr lang="en-ZA" dirty="0"/>
          </a:p>
          <a:p>
            <a:pPr>
              <a:buNone/>
            </a:pPr>
            <a:r>
              <a:rPr lang="en-ZA" dirty="0"/>
              <a:t>This demonstrates that your design is based on </a:t>
            </a:r>
            <a:r>
              <a:rPr lang="en-ZA" b="1" dirty="0"/>
              <a:t>usability rather than simply what looks good.</a:t>
            </a:r>
            <a:endParaRPr lang="en-ZA" dirty="0"/>
          </a:p>
        </p:txBody>
      </p:sp>
    </p:spTree>
    <p:extLst>
      <p:ext uri="{BB962C8B-B14F-4D97-AF65-F5344CB8AC3E}">
        <p14:creationId xmlns:p14="http://schemas.microsoft.com/office/powerpoint/2010/main" val="2159422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1000"/>
                                        <p:tgtEl>
                                          <p:spTgt spid="3">
                                            <p:txEl>
                                              <p:pRg st="5" end="5"/>
                                            </p:txEl>
                                          </p:spTgt>
                                        </p:tgtEl>
                                      </p:cBhvr>
                                    </p:animEffect>
                                    <p:anim calcmode="lin" valueType="num">
                                      <p:cBhvr>
                                        <p:cTn id="2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1000"/>
                                        <p:tgtEl>
                                          <p:spTgt spid="3">
                                            <p:txEl>
                                              <p:pRg st="7" end="7"/>
                                            </p:txEl>
                                          </p:spTgt>
                                        </p:tgtEl>
                                      </p:cBhvr>
                                    </p:animEffect>
                                    <p:anim calcmode="lin" valueType="num">
                                      <p:cBhvr>
                                        <p:cTn id="2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fade">
                                      <p:cBhvr>
                                        <p:cTn id="33" dur="1000"/>
                                        <p:tgtEl>
                                          <p:spTgt spid="3">
                                            <p:txEl>
                                              <p:pRg st="9" end="9"/>
                                            </p:txEl>
                                          </p:spTgt>
                                        </p:tgtEl>
                                      </p:cBhvr>
                                    </p:animEffect>
                                    <p:anim calcmode="lin" valueType="num">
                                      <p:cBhvr>
                                        <p:cTn id="3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9" end="9"/>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animEffect transition="in" filter="fade">
                                      <p:cBhvr>
                                        <p:cTn id="38" dur="1000"/>
                                        <p:tgtEl>
                                          <p:spTgt spid="3">
                                            <p:txEl>
                                              <p:pRg st="10" end="10"/>
                                            </p:txEl>
                                          </p:spTgt>
                                        </p:tgtEl>
                                      </p:cBhvr>
                                    </p:animEffect>
                                    <p:anim calcmode="lin" valueType="num">
                                      <p:cBhvr>
                                        <p:cTn id="39"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Effect transition="in" filter="fade">
                                      <p:cBhvr>
                                        <p:cTn id="43" dur="1000"/>
                                        <p:tgtEl>
                                          <p:spTgt spid="3">
                                            <p:txEl>
                                              <p:pRg st="11" end="11"/>
                                            </p:txEl>
                                          </p:spTgt>
                                        </p:tgtEl>
                                      </p:cBhvr>
                                    </p:animEffect>
                                    <p:anim calcmode="lin" valueType="num">
                                      <p:cBhvr>
                                        <p:cTn id="44"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3">
                                            <p:txEl>
                                              <p:pRg st="12" end="12"/>
                                            </p:txEl>
                                          </p:spTgt>
                                        </p:tgtEl>
                                        <p:attrNameLst>
                                          <p:attrName>style.visibility</p:attrName>
                                        </p:attrNameLst>
                                      </p:cBhvr>
                                      <p:to>
                                        <p:strVal val="visible"/>
                                      </p:to>
                                    </p:set>
                                    <p:animEffect transition="in" filter="fade">
                                      <p:cBhvr>
                                        <p:cTn id="48" dur="1000"/>
                                        <p:tgtEl>
                                          <p:spTgt spid="3">
                                            <p:txEl>
                                              <p:pRg st="12" end="12"/>
                                            </p:txEl>
                                          </p:spTgt>
                                        </p:tgtEl>
                                      </p:cBhvr>
                                    </p:animEffect>
                                    <p:anim calcmode="lin" valueType="num">
                                      <p:cBhvr>
                                        <p:cTn id="49"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animEffect transition="in" filter="fade">
                                      <p:cBhvr>
                                        <p:cTn id="55" dur="1000"/>
                                        <p:tgtEl>
                                          <p:spTgt spid="3">
                                            <p:txEl>
                                              <p:pRg st="14" end="14"/>
                                            </p:txEl>
                                          </p:spTgt>
                                        </p:tgtEl>
                                      </p:cBhvr>
                                    </p:animEffect>
                                    <p:anim calcmode="lin" valueType="num">
                                      <p:cBhvr>
                                        <p:cTn id="56"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B4E7D-F4A0-1157-3AF6-3614632AAD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97DD87-BA88-2D0A-BA25-B15F4C31FF9B}"/>
              </a:ext>
            </a:extLst>
          </p:cNvPr>
          <p:cNvSpPr txBox="1"/>
          <p:nvPr/>
        </p:nvSpPr>
        <p:spPr>
          <a:xfrm>
            <a:off x="180109" y="210695"/>
            <a:ext cx="10515600" cy="1292662"/>
          </a:xfrm>
          <a:prstGeom prst="rect">
            <a:avLst/>
          </a:prstGeom>
          <a:noFill/>
        </p:spPr>
        <p:txBody>
          <a:bodyPr wrap="square">
            <a:spAutoFit/>
          </a:bodyPr>
          <a:lstStyle/>
          <a:p>
            <a:pPr>
              <a:buNone/>
            </a:pPr>
            <a:r>
              <a:rPr lang="en-ZA" sz="2400" b="1" dirty="0">
                <a:solidFill>
                  <a:srgbClr val="E23ACE"/>
                </a:solidFill>
              </a:rPr>
              <a:t>Low Fidelity VS Medium Fidelity VS High Fidelity</a:t>
            </a:r>
          </a:p>
          <a:p>
            <a:pPr>
              <a:buNone/>
            </a:pPr>
            <a:r>
              <a:rPr lang="en-ZA" b="1" dirty="0">
                <a:solidFill>
                  <a:srgbClr val="E23ACE"/>
                </a:solidFill>
              </a:rPr>
              <a:t>Source: </a:t>
            </a:r>
            <a:r>
              <a:rPr lang="en-ZA" b="1" dirty="0">
                <a:solidFill>
                  <a:srgbClr val="E23ACE"/>
                </a:solidFill>
                <a:hlinkClick r:id="rId2"/>
              </a:rPr>
              <a:t>https://www.sketch.com/blog/wireframe-examples/</a:t>
            </a:r>
            <a:endParaRPr lang="en-ZA" b="1" dirty="0">
              <a:solidFill>
                <a:srgbClr val="E23ACE"/>
              </a:solidFill>
            </a:endParaRPr>
          </a:p>
          <a:p>
            <a:pPr>
              <a:buNone/>
            </a:pPr>
            <a:endParaRPr lang="en-ZA" b="1" dirty="0">
              <a:solidFill>
                <a:srgbClr val="E23ACE"/>
              </a:solidFill>
            </a:endParaRPr>
          </a:p>
          <a:p>
            <a:pPr>
              <a:buNone/>
            </a:pPr>
            <a:endParaRPr lang="en-ZA" dirty="0"/>
          </a:p>
        </p:txBody>
      </p:sp>
      <p:pic>
        <p:nvPicPr>
          <p:cNvPr id="5" name="Picture 4">
            <a:extLst>
              <a:ext uri="{FF2B5EF4-FFF2-40B4-BE49-F238E27FC236}">
                <a16:creationId xmlns:a16="http://schemas.microsoft.com/office/drawing/2014/main" id="{DFB28EEC-B2F0-ADD2-7254-91C35EE80D18}"/>
              </a:ext>
            </a:extLst>
          </p:cNvPr>
          <p:cNvPicPr>
            <a:picLocks noChangeAspect="1"/>
          </p:cNvPicPr>
          <p:nvPr/>
        </p:nvPicPr>
        <p:blipFill>
          <a:blip r:embed="rId3"/>
          <a:stretch>
            <a:fillRect/>
          </a:stretch>
        </p:blipFill>
        <p:spPr>
          <a:xfrm>
            <a:off x="7883236" y="1763909"/>
            <a:ext cx="4308764" cy="2586418"/>
          </a:xfrm>
          <a:prstGeom prst="rect">
            <a:avLst/>
          </a:prstGeom>
        </p:spPr>
      </p:pic>
      <p:pic>
        <p:nvPicPr>
          <p:cNvPr id="7" name="Picture 6">
            <a:extLst>
              <a:ext uri="{FF2B5EF4-FFF2-40B4-BE49-F238E27FC236}">
                <a16:creationId xmlns:a16="http://schemas.microsoft.com/office/drawing/2014/main" id="{E183CD2F-C569-302C-C27E-90EC45C32395}"/>
              </a:ext>
            </a:extLst>
          </p:cNvPr>
          <p:cNvPicPr>
            <a:picLocks noChangeAspect="1"/>
          </p:cNvPicPr>
          <p:nvPr/>
        </p:nvPicPr>
        <p:blipFill>
          <a:blip r:embed="rId4"/>
          <a:stretch>
            <a:fillRect/>
          </a:stretch>
        </p:blipFill>
        <p:spPr>
          <a:xfrm>
            <a:off x="3433310" y="1763909"/>
            <a:ext cx="4308764" cy="2661295"/>
          </a:xfrm>
          <a:prstGeom prst="rect">
            <a:avLst/>
          </a:prstGeom>
        </p:spPr>
      </p:pic>
      <p:pic>
        <p:nvPicPr>
          <p:cNvPr id="9" name="Picture 8">
            <a:extLst>
              <a:ext uri="{FF2B5EF4-FFF2-40B4-BE49-F238E27FC236}">
                <a16:creationId xmlns:a16="http://schemas.microsoft.com/office/drawing/2014/main" id="{3A7CA791-7F45-C1F0-ACA6-7558BEBB04D7}"/>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Lst>
          </a:blip>
          <a:stretch>
            <a:fillRect/>
          </a:stretch>
        </p:blipFill>
        <p:spPr>
          <a:xfrm>
            <a:off x="207487" y="1300188"/>
            <a:ext cx="3155242" cy="2301994"/>
          </a:xfrm>
          <a:prstGeom prst="rect">
            <a:avLst/>
          </a:prstGeom>
        </p:spPr>
      </p:pic>
      <p:pic>
        <p:nvPicPr>
          <p:cNvPr id="11" name="Picture 10">
            <a:extLst>
              <a:ext uri="{FF2B5EF4-FFF2-40B4-BE49-F238E27FC236}">
                <a16:creationId xmlns:a16="http://schemas.microsoft.com/office/drawing/2014/main" id="{54769BE8-0EC9-19BC-7F08-A5BE80254B9B}"/>
              </a:ext>
            </a:extLst>
          </p:cNvPr>
          <p:cNvPicPr>
            <a:picLocks noChangeAspect="1"/>
          </p:cNvPicPr>
          <p:nvPr/>
        </p:nvPicPr>
        <p:blipFill>
          <a:blip r:embed="rId7"/>
          <a:stretch>
            <a:fillRect/>
          </a:stretch>
        </p:blipFill>
        <p:spPr>
          <a:xfrm>
            <a:off x="207487" y="3602182"/>
            <a:ext cx="3177030" cy="2276792"/>
          </a:xfrm>
          <a:prstGeom prst="rect">
            <a:avLst/>
          </a:prstGeom>
        </p:spPr>
      </p:pic>
      <p:sp>
        <p:nvSpPr>
          <p:cNvPr id="13" name="TextBox 12">
            <a:extLst>
              <a:ext uri="{FF2B5EF4-FFF2-40B4-BE49-F238E27FC236}">
                <a16:creationId xmlns:a16="http://schemas.microsoft.com/office/drawing/2014/main" id="{EB59AC10-B8A7-D701-4FD1-D5F7CC2444DE}"/>
              </a:ext>
            </a:extLst>
          </p:cNvPr>
          <p:cNvSpPr txBox="1"/>
          <p:nvPr/>
        </p:nvSpPr>
        <p:spPr>
          <a:xfrm>
            <a:off x="7536873" y="5555673"/>
            <a:ext cx="184731" cy="369332"/>
          </a:xfrm>
          <a:prstGeom prst="rect">
            <a:avLst/>
          </a:prstGeom>
          <a:noFill/>
        </p:spPr>
        <p:txBody>
          <a:bodyPr wrap="none" rtlCol="0">
            <a:spAutoFit/>
          </a:bodyPr>
          <a:lstStyle/>
          <a:p>
            <a:endParaRPr lang="en-ZA"/>
          </a:p>
        </p:txBody>
      </p:sp>
    </p:spTree>
    <p:extLst>
      <p:ext uri="{BB962C8B-B14F-4D97-AF65-F5344CB8AC3E}">
        <p14:creationId xmlns:p14="http://schemas.microsoft.com/office/powerpoint/2010/main" val="385792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4ED59-6706-5F45-A925-5593FFF4EB0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721A71C-9336-D1FE-9F6D-D16C8B82C052}"/>
              </a:ext>
            </a:extLst>
          </p:cNvPr>
          <p:cNvSpPr txBox="1"/>
          <p:nvPr/>
        </p:nvSpPr>
        <p:spPr>
          <a:xfrm>
            <a:off x="180108" y="64959"/>
            <a:ext cx="10515600" cy="738664"/>
          </a:xfrm>
          <a:prstGeom prst="rect">
            <a:avLst/>
          </a:prstGeom>
          <a:noFill/>
        </p:spPr>
        <p:txBody>
          <a:bodyPr wrap="square">
            <a:spAutoFit/>
          </a:bodyPr>
          <a:lstStyle/>
          <a:p>
            <a:pPr>
              <a:buNone/>
            </a:pPr>
            <a:r>
              <a:rPr lang="en-ZA" sz="2400" b="1" dirty="0">
                <a:solidFill>
                  <a:srgbClr val="E23ACE"/>
                </a:solidFill>
              </a:rPr>
              <a:t>Wireframe Design Challenge</a:t>
            </a:r>
            <a:endParaRPr lang="en-ZA" b="1" dirty="0">
              <a:solidFill>
                <a:srgbClr val="E23ACE"/>
              </a:solidFill>
            </a:endParaRPr>
          </a:p>
          <a:p>
            <a:pPr>
              <a:buNone/>
            </a:pPr>
            <a:endParaRPr lang="en-ZA" dirty="0"/>
          </a:p>
        </p:txBody>
      </p:sp>
      <p:sp>
        <p:nvSpPr>
          <p:cNvPr id="13" name="TextBox 12">
            <a:extLst>
              <a:ext uri="{FF2B5EF4-FFF2-40B4-BE49-F238E27FC236}">
                <a16:creationId xmlns:a16="http://schemas.microsoft.com/office/drawing/2014/main" id="{51A60ECB-9034-A045-53EE-BC2A52ACC291}"/>
              </a:ext>
            </a:extLst>
          </p:cNvPr>
          <p:cNvSpPr txBox="1"/>
          <p:nvPr/>
        </p:nvSpPr>
        <p:spPr>
          <a:xfrm>
            <a:off x="7536873" y="5555673"/>
            <a:ext cx="184731" cy="369332"/>
          </a:xfrm>
          <a:prstGeom prst="rect">
            <a:avLst/>
          </a:prstGeom>
          <a:noFill/>
        </p:spPr>
        <p:txBody>
          <a:bodyPr wrap="none" rtlCol="0">
            <a:spAutoFit/>
          </a:bodyPr>
          <a:lstStyle/>
          <a:p>
            <a:endParaRPr lang="en-ZA"/>
          </a:p>
        </p:txBody>
      </p:sp>
      <p:sp>
        <p:nvSpPr>
          <p:cNvPr id="3" name="TextBox 2">
            <a:extLst>
              <a:ext uri="{FF2B5EF4-FFF2-40B4-BE49-F238E27FC236}">
                <a16:creationId xmlns:a16="http://schemas.microsoft.com/office/drawing/2014/main" id="{81B04402-42A9-4D5B-010E-85FD2B50B8A4}"/>
              </a:ext>
            </a:extLst>
          </p:cNvPr>
          <p:cNvSpPr txBox="1"/>
          <p:nvPr/>
        </p:nvSpPr>
        <p:spPr>
          <a:xfrm>
            <a:off x="180108" y="618957"/>
            <a:ext cx="11249891" cy="369333"/>
          </a:xfrm>
          <a:prstGeom prst="rect">
            <a:avLst/>
          </a:prstGeom>
          <a:noFill/>
        </p:spPr>
        <p:txBody>
          <a:bodyPr wrap="square">
            <a:spAutoFit/>
          </a:bodyPr>
          <a:lstStyle/>
          <a:p>
            <a:r>
              <a:rPr lang="en-ZA" sz="1800" b="1" i="0" dirty="0">
                <a:solidFill>
                  <a:srgbClr val="00B050"/>
                </a:solidFill>
                <a:effectLst/>
                <a:latin typeface="+mn-lt"/>
              </a:rPr>
              <a:t>Goal:</a:t>
            </a:r>
            <a:r>
              <a:rPr lang="en-ZA" sz="1800" b="0" i="0" dirty="0">
                <a:solidFill>
                  <a:srgbClr val="00B050"/>
                </a:solidFill>
                <a:effectLst/>
                <a:latin typeface="+mn-lt"/>
              </a:rPr>
              <a:t> </a:t>
            </a:r>
            <a:r>
              <a:rPr lang="en-ZA" sz="1800" b="0" i="0" dirty="0">
                <a:solidFill>
                  <a:schemeClr val="tx1"/>
                </a:solidFill>
                <a:effectLst/>
                <a:latin typeface="+mn-lt"/>
              </a:rPr>
              <a:t>Design 4 types of wireframes for an app or website of your choice - something you're passionate about.</a:t>
            </a:r>
            <a:endParaRPr lang="en-ZA" dirty="0"/>
          </a:p>
        </p:txBody>
      </p:sp>
      <p:sp>
        <p:nvSpPr>
          <p:cNvPr id="8" name="TextBox 7">
            <a:extLst>
              <a:ext uri="{FF2B5EF4-FFF2-40B4-BE49-F238E27FC236}">
                <a16:creationId xmlns:a16="http://schemas.microsoft.com/office/drawing/2014/main" id="{14FA68C7-F52D-D70F-CDFD-959A53271685}"/>
              </a:ext>
            </a:extLst>
          </p:cNvPr>
          <p:cNvSpPr txBox="1"/>
          <p:nvPr/>
        </p:nvSpPr>
        <p:spPr>
          <a:xfrm>
            <a:off x="180108" y="1170370"/>
            <a:ext cx="10769832" cy="923330"/>
          </a:xfrm>
          <a:prstGeom prst="rect">
            <a:avLst/>
          </a:prstGeom>
          <a:noFill/>
        </p:spPr>
        <p:txBody>
          <a:bodyPr wrap="square">
            <a:spAutoFit/>
          </a:bodyPr>
          <a:lstStyle/>
          <a:p>
            <a:r>
              <a:rPr lang="en-ZA" sz="1800" b="1" i="0" dirty="0">
                <a:solidFill>
                  <a:srgbClr val="7030A0"/>
                </a:solidFill>
                <a:effectLst/>
                <a:latin typeface="+mn-lt"/>
              </a:rPr>
              <a:t>Your Task:</a:t>
            </a:r>
            <a:br>
              <a:rPr lang="en-ZA" dirty="0"/>
            </a:br>
            <a:r>
              <a:rPr lang="en-ZA" sz="1800" b="0" i="0" dirty="0">
                <a:solidFill>
                  <a:schemeClr val="tx1"/>
                </a:solidFill>
                <a:effectLst/>
                <a:latin typeface="+mn-lt"/>
              </a:rPr>
              <a:t>Choose a concept you love (e.g., sneakers, gaming, food, travel, music). </a:t>
            </a:r>
          </a:p>
          <a:p>
            <a:r>
              <a:rPr lang="en-ZA" sz="1800" b="0" i="0" dirty="0">
                <a:solidFill>
                  <a:schemeClr val="tx1"/>
                </a:solidFill>
                <a:effectLst/>
                <a:latin typeface="+mn-lt"/>
              </a:rPr>
              <a:t>Create a purchase or booking flow with at least </a:t>
            </a:r>
            <a:r>
              <a:rPr lang="en-ZA" sz="1800" b="1" i="0" dirty="0">
                <a:solidFill>
                  <a:schemeClr val="tx1"/>
                </a:solidFill>
                <a:effectLst/>
                <a:latin typeface="+mn-lt"/>
              </a:rPr>
              <a:t>3 pages</a:t>
            </a:r>
            <a:r>
              <a:rPr lang="en-ZA" sz="1800" b="0" i="0" dirty="0">
                <a:solidFill>
                  <a:schemeClr val="tx1"/>
                </a:solidFill>
                <a:effectLst/>
                <a:latin typeface="+mn-lt"/>
              </a:rPr>
              <a:t> (e.g., Home → Product/Service → Checkout/Booking).</a:t>
            </a:r>
            <a:endParaRPr lang="en-ZA" dirty="0"/>
          </a:p>
        </p:txBody>
      </p:sp>
      <p:sp>
        <p:nvSpPr>
          <p:cNvPr id="12" name="TextBox 11">
            <a:extLst>
              <a:ext uri="{FF2B5EF4-FFF2-40B4-BE49-F238E27FC236}">
                <a16:creationId xmlns:a16="http://schemas.microsoft.com/office/drawing/2014/main" id="{BE1E09C0-77F0-BBD7-3ED1-228C2DDA1BB0}"/>
              </a:ext>
            </a:extLst>
          </p:cNvPr>
          <p:cNvSpPr txBox="1"/>
          <p:nvPr/>
        </p:nvSpPr>
        <p:spPr>
          <a:xfrm>
            <a:off x="50915" y="2275780"/>
            <a:ext cx="5915892" cy="35471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indent="0" algn="l">
              <a:spcBef>
                <a:spcPts val="1200"/>
              </a:spcBef>
              <a:spcAft>
                <a:spcPts val="1200"/>
              </a:spcAft>
              <a:buNone/>
            </a:pPr>
            <a:r>
              <a:rPr lang="en-ZA" sz="1800" b="1" i="0" dirty="0">
                <a:solidFill>
                  <a:schemeClr val="tx1"/>
                </a:solidFill>
                <a:effectLst/>
                <a:latin typeface="+mn-lt"/>
              </a:rPr>
              <a:t>4 Stages:</a:t>
            </a:r>
            <a:endParaRPr lang="en-ZA" sz="1800" b="0" i="0" dirty="0">
              <a:solidFill>
                <a:schemeClr val="tx1"/>
              </a:solidFill>
              <a:effectLst/>
              <a:latin typeface="+mn-lt"/>
            </a:endParaRPr>
          </a:p>
          <a:p>
            <a:pPr marL="0" marR="0" lvl="0" indent="-342900" algn="l">
              <a:spcBef>
                <a:spcPts val="1200"/>
              </a:spcBef>
              <a:spcAft>
                <a:spcPts val="1200"/>
              </a:spcAft>
              <a:buFont typeface="+mj-lt"/>
              <a:buAutoNum type="arabicPeriod"/>
            </a:pPr>
            <a:r>
              <a:rPr lang="en-ZA" sz="1800" b="1" i="0" dirty="0">
                <a:solidFill>
                  <a:schemeClr val="tx1"/>
                </a:solidFill>
                <a:effectLst/>
                <a:latin typeface="+mn-lt"/>
              </a:rPr>
              <a:t>Paper Wireframes</a:t>
            </a:r>
            <a:r>
              <a:rPr lang="en-ZA" sz="1800" b="0" i="0" dirty="0">
                <a:solidFill>
                  <a:schemeClr val="tx1"/>
                </a:solidFill>
                <a:effectLst/>
                <a:latin typeface="+mn-lt"/>
              </a:rPr>
              <a:t> – Sketch rough layouts by hand. Focus on structure, not details.</a:t>
            </a:r>
          </a:p>
          <a:p>
            <a:pPr marL="0" marR="0" lvl="0" indent="-342900" algn="l">
              <a:spcBef>
                <a:spcPts val="450"/>
              </a:spcBef>
              <a:spcAft>
                <a:spcPts val="1200"/>
              </a:spcAft>
              <a:buFont typeface="+mj-lt"/>
              <a:buAutoNum type="arabicPeriod"/>
            </a:pPr>
            <a:r>
              <a:rPr lang="en-ZA" sz="1800" b="1" i="0" dirty="0">
                <a:solidFill>
                  <a:schemeClr val="tx1"/>
                </a:solidFill>
                <a:effectLst/>
                <a:latin typeface="+mn-lt"/>
              </a:rPr>
              <a:t>Low-Fidelity</a:t>
            </a:r>
            <a:r>
              <a:rPr lang="en-ZA" sz="1800" b="0" i="0" dirty="0">
                <a:solidFill>
                  <a:schemeClr val="tx1"/>
                </a:solidFill>
                <a:effectLst/>
                <a:latin typeface="+mn-lt"/>
              </a:rPr>
              <a:t> – Digital, grayscale boxes and placeholders. Basic layout only.</a:t>
            </a:r>
          </a:p>
          <a:p>
            <a:pPr marL="0" marR="0" lvl="0" indent="-342900" algn="l">
              <a:spcBef>
                <a:spcPts val="450"/>
              </a:spcBef>
              <a:spcAft>
                <a:spcPts val="1200"/>
              </a:spcAft>
              <a:buFont typeface="+mj-lt"/>
              <a:buAutoNum type="arabicPeriod"/>
            </a:pPr>
            <a:r>
              <a:rPr lang="en-ZA" sz="1800" b="1" i="0" dirty="0">
                <a:solidFill>
                  <a:schemeClr val="tx1"/>
                </a:solidFill>
                <a:effectLst/>
                <a:latin typeface="+mn-lt"/>
              </a:rPr>
              <a:t>Medium-Fidelity</a:t>
            </a:r>
            <a:r>
              <a:rPr lang="en-ZA" sz="1800" b="0" i="0" dirty="0">
                <a:solidFill>
                  <a:schemeClr val="tx1"/>
                </a:solidFill>
                <a:effectLst/>
                <a:latin typeface="+mn-lt"/>
              </a:rPr>
              <a:t> – Add real text, images, buttons, and navigation. Refine spacing.</a:t>
            </a:r>
          </a:p>
          <a:p>
            <a:pPr marL="0" marR="0" lvl="0" indent="-342900" algn="l">
              <a:spcBef>
                <a:spcPts val="450"/>
              </a:spcBef>
              <a:spcAft>
                <a:spcPts val="1200"/>
              </a:spcAft>
              <a:buFont typeface="+mj-lt"/>
              <a:buAutoNum type="arabicPeriod"/>
            </a:pPr>
            <a:r>
              <a:rPr lang="en-ZA" sz="1800" b="1" i="0" dirty="0">
                <a:solidFill>
                  <a:schemeClr val="tx1"/>
                </a:solidFill>
                <a:effectLst/>
                <a:latin typeface="+mn-lt"/>
              </a:rPr>
              <a:t>High-Fidelity</a:t>
            </a:r>
            <a:r>
              <a:rPr lang="en-ZA" sz="1800" b="0" i="0" dirty="0">
                <a:solidFill>
                  <a:schemeClr val="tx1"/>
                </a:solidFill>
                <a:effectLst/>
                <a:latin typeface="+mn-lt"/>
              </a:rPr>
              <a:t> – Full </a:t>
            </a:r>
            <a:r>
              <a:rPr lang="en-ZA" sz="1800" b="0" i="0" dirty="0" err="1">
                <a:solidFill>
                  <a:schemeClr val="tx1"/>
                </a:solidFill>
                <a:effectLst/>
                <a:latin typeface="+mn-lt"/>
              </a:rPr>
              <a:t>color</a:t>
            </a:r>
            <a:r>
              <a:rPr lang="en-ZA" sz="1800" b="0" i="0" dirty="0">
                <a:solidFill>
                  <a:schemeClr val="tx1"/>
                </a:solidFill>
                <a:effectLst/>
                <a:latin typeface="+mn-lt"/>
              </a:rPr>
              <a:t>, branding, typography, and interactive elements. Polished and clickable.</a:t>
            </a:r>
            <a:endParaRPr lang="en-ZA" sz="1200" b="0" i="0" dirty="0">
              <a:solidFill>
                <a:srgbClr val="0F1115"/>
              </a:solidFill>
              <a:effectLst/>
              <a:latin typeface="quote-cjk-patch"/>
            </a:endParaRPr>
          </a:p>
        </p:txBody>
      </p:sp>
      <p:sp>
        <p:nvSpPr>
          <p:cNvPr id="15" name="TextBox 14">
            <a:extLst>
              <a:ext uri="{FF2B5EF4-FFF2-40B4-BE49-F238E27FC236}">
                <a16:creationId xmlns:a16="http://schemas.microsoft.com/office/drawing/2014/main" id="{5BDB3E2D-98FE-CFBF-0795-0383312E5A0C}"/>
              </a:ext>
            </a:extLst>
          </p:cNvPr>
          <p:cNvSpPr txBox="1"/>
          <p:nvPr/>
        </p:nvSpPr>
        <p:spPr>
          <a:xfrm>
            <a:off x="6225195" y="2275780"/>
            <a:ext cx="4909184" cy="92333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ZA" sz="1800" b="1" i="0" dirty="0">
                <a:solidFill>
                  <a:schemeClr val="tx1"/>
                </a:solidFill>
                <a:effectLst/>
                <a:latin typeface="+mn-lt"/>
              </a:rPr>
              <a:t>Deliverable:</a:t>
            </a:r>
            <a:br>
              <a:rPr lang="en-ZA" dirty="0"/>
            </a:br>
            <a:r>
              <a:rPr lang="en-ZA" sz="1800" b="0" i="0" dirty="0">
                <a:solidFill>
                  <a:schemeClr val="tx1"/>
                </a:solidFill>
                <a:effectLst/>
                <a:latin typeface="+mn-lt"/>
              </a:rPr>
              <a:t>All 4 stages showing your 3+ page flow from landing page to completed purchase/booking.</a:t>
            </a:r>
            <a:endParaRPr lang="en-ZA" dirty="0"/>
          </a:p>
        </p:txBody>
      </p:sp>
      <p:sp>
        <p:nvSpPr>
          <p:cNvPr id="17" name="TextBox 16">
            <a:extLst>
              <a:ext uri="{FF2B5EF4-FFF2-40B4-BE49-F238E27FC236}">
                <a16:creationId xmlns:a16="http://schemas.microsoft.com/office/drawing/2014/main" id="{9D539592-C7DC-CD1E-95EF-70F6DB80821D}"/>
              </a:ext>
            </a:extLst>
          </p:cNvPr>
          <p:cNvSpPr txBox="1"/>
          <p:nvPr/>
        </p:nvSpPr>
        <p:spPr>
          <a:xfrm>
            <a:off x="6225195" y="3312997"/>
            <a:ext cx="4909184" cy="194412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indent="0" algn="l">
              <a:spcBef>
                <a:spcPts val="1200"/>
              </a:spcBef>
              <a:spcAft>
                <a:spcPts val="1200"/>
              </a:spcAft>
              <a:buNone/>
            </a:pPr>
            <a:r>
              <a:rPr lang="en-ZA" sz="1800" b="1" i="0" dirty="0">
                <a:solidFill>
                  <a:schemeClr val="tx1"/>
                </a:solidFill>
                <a:effectLst/>
                <a:latin typeface="+mn-lt"/>
              </a:rPr>
              <a:t>Tips:</a:t>
            </a:r>
            <a:endParaRPr lang="en-ZA" sz="1800" b="0" i="0" dirty="0">
              <a:solidFill>
                <a:schemeClr val="tx1"/>
              </a:solidFill>
              <a:effectLst/>
              <a:latin typeface="+mn-lt"/>
            </a:endParaRPr>
          </a:p>
          <a:p>
            <a:pPr marL="0" marR="0" lvl="0" indent="-342900" algn="l">
              <a:spcBef>
                <a:spcPts val="1200"/>
              </a:spcBef>
              <a:spcAft>
                <a:spcPts val="1200"/>
              </a:spcAft>
              <a:buFont typeface="Arial" panose="020B0604020202020204" pitchFamily="34" charset="0"/>
              <a:buChar char="•"/>
            </a:pPr>
            <a:r>
              <a:rPr lang="en-ZA" sz="1800" b="0" i="0" dirty="0">
                <a:solidFill>
                  <a:schemeClr val="tx1"/>
                </a:solidFill>
                <a:effectLst/>
                <a:latin typeface="+mn-lt"/>
              </a:rPr>
              <a:t>Decide early: app or website?</a:t>
            </a:r>
          </a:p>
          <a:p>
            <a:pPr marL="0" marR="0" lvl="0" indent="-342900" algn="l">
              <a:spcBef>
                <a:spcPts val="450"/>
              </a:spcBef>
              <a:spcAft>
                <a:spcPts val="1200"/>
              </a:spcAft>
              <a:buFont typeface="Arial" panose="020B0604020202020204" pitchFamily="34" charset="0"/>
              <a:buChar char="•"/>
            </a:pPr>
            <a:r>
              <a:rPr lang="en-ZA" sz="1800" b="0" i="0" dirty="0">
                <a:solidFill>
                  <a:schemeClr val="tx1"/>
                </a:solidFill>
                <a:effectLst/>
                <a:latin typeface="+mn-lt"/>
              </a:rPr>
              <a:t>Keep the user journey clear at every stage.</a:t>
            </a:r>
          </a:p>
          <a:p>
            <a:pPr marL="0" marR="0" lvl="0" indent="-342900" algn="l">
              <a:spcBef>
                <a:spcPts val="450"/>
              </a:spcBef>
              <a:spcAft>
                <a:spcPts val="1200"/>
              </a:spcAft>
              <a:buFont typeface="Arial" panose="020B0604020202020204" pitchFamily="34" charset="0"/>
              <a:buChar char="•"/>
            </a:pPr>
            <a:r>
              <a:rPr lang="en-ZA" sz="1800" b="0" i="0" dirty="0">
                <a:solidFill>
                  <a:schemeClr val="tx1"/>
                </a:solidFill>
                <a:effectLst/>
                <a:latin typeface="+mn-lt"/>
              </a:rPr>
              <a:t>Show how each stage improves on the last.</a:t>
            </a:r>
            <a:endParaRPr lang="en-ZA" sz="1200" b="0" i="0" dirty="0">
              <a:solidFill>
                <a:srgbClr val="0F1115"/>
              </a:solidFill>
              <a:effectLst/>
              <a:latin typeface="quote-cjk-patch"/>
            </a:endParaRPr>
          </a:p>
        </p:txBody>
      </p:sp>
      <p:sp>
        <p:nvSpPr>
          <p:cNvPr id="19" name="TextBox 18">
            <a:extLst>
              <a:ext uri="{FF2B5EF4-FFF2-40B4-BE49-F238E27FC236}">
                <a16:creationId xmlns:a16="http://schemas.microsoft.com/office/drawing/2014/main" id="{1DB4BED1-8069-7418-7299-56DE425540CA}"/>
              </a:ext>
            </a:extLst>
          </p:cNvPr>
          <p:cNvSpPr txBox="1"/>
          <p:nvPr/>
        </p:nvSpPr>
        <p:spPr>
          <a:xfrm>
            <a:off x="5966807" y="5371007"/>
            <a:ext cx="6300008" cy="369332"/>
          </a:xfrm>
          <a:prstGeom prst="rect">
            <a:avLst/>
          </a:prstGeom>
          <a:noFill/>
        </p:spPr>
        <p:txBody>
          <a:bodyPr wrap="square">
            <a:spAutoFit/>
          </a:bodyPr>
          <a:lstStyle/>
          <a:p>
            <a:pPr marL="0" marR="0" indent="0" algn="l">
              <a:lnSpc>
                <a:spcPct val="100000"/>
              </a:lnSpc>
              <a:spcBef>
                <a:spcPts val="1200"/>
              </a:spcBef>
              <a:buNone/>
            </a:pPr>
            <a:r>
              <a:rPr lang="en-ZA" sz="1800" b="1" i="1" dirty="0">
                <a:solidFill>
                  <a:schemeClr val="tx1"/>
                </a:solidFill>
                <a:effectLst/>
                <a:latin typeface="+mn-lt"/>
              </a:rPr>
              <a:t>Passion drives better design. Pick something you'd actually use.</a:t>
            </a:r>
          </a:p>
        </p:txBody>
      </p:sp>
    </p:spTree>
    <p:extLst>
      <p:ext uri="{BB962C8B-B14F-4D97-AF65-F5344CB8AC3E}">
        <p14:creationId xmlns:p14="http://schemas.microsoft.com/office/powerpoint/2010/main" val="1182182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anim calcmode="lin" valueType="num">
                                      <p:cBhvr>
                                        <p:cTn id="29" dur="1000" fill="hold"/>
                                        <p:tgtEl>
                                          <p:spTgt spid="15"/>
                                        </p:tgtEl>
                                        <p:attrNameLst>
                                          <p:attrName>ppt_x</p:attrName>
                                        </p:attrNameLst>
                                      </p:cBhvr>
                                      <p:tavLst>
                                        <p:tav tm="0">
                                          <p:val>
                                            <p:strVal val="#ppt_x"/>
                                          </p:val>
                                        </p:tav>
                                        <p:tav tm="100000">
                                          <p:val>
                                            <p:strVal val="#ppt_x"/>
                                          </p:val>
                                        </p:tav>
                                      </p:tavLst>
                                    </p:anim>
                                    <p:anim calcmode="lin" valueType="num">
                                      <p:cBhvr>
                                        <p:cTn id="3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1000"/>
                                        <p:tgtEl>
                                          <p:spTgt spid="17"/>
                                        </p:tgtEl>
                                      </p:cBhvr>
                                    </p:animEffect>
                                    <p:anim calcmode="lin" valueType="num">
                                      <p:cBhvr>
                                        <p:cTn id="36" dur="1000" fill="hold"/>
                                        <p:tgtEl>
                                          <p:spTgt spid="17"/>
                                        </p:tgtEl>
                                        <p:attrNameLst>
                                          <p:attrName>ppt_x</p:attrName>
                                        </p:attrNameLst>
                                      </p:cBhvr>
                                      <p:tavLst>
                                        <p:tav tm="0">
                                          <p:val>
                                            <p:strVal val="#ppt_x"/>
                                          </p:val>
                                        </p:tav>
                                        <p:tav tm="100000">
                                          <p:val>
                                            <p:strVal val="#ppt_x"/>
                                          </p:val>
                                        </p:tav>
                                      </p:tavLst>
                                    </p:anim>
                                    <p:anim calcmode="lin" valueType="num">
                                      <p:cBhvr>
                                        <p:cTn id="3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1000"/>
                                        <p:tgtEl>
                                          <p:spTgt spid="19"/>
                                        </p:tgtEl>
                                      </p:cBhvr>
                                    </p:animEffect>
                                    <p:anim calcmode="lin" valueType="num">
                                      <p:cBhvr>
                                        <p:cTn id="43" dur="1000" fill="hold"/>
                                        <p:tgtEl>
                                          <p:spTgt spid="19"/>
                                        </p:tgtEl>
                                        <p:attrNameLst>
                                          <p:attrName>ppt_x</p:attrName>
                                        </p:attrNameLst>
                                      </p:cBhvr>
                                      <p:tavLst>
                                        <p:tav tm="0">
                                          <p:val>
                                            <p:strVal val="#ppt_x"/>
                                          </p:val>
                                        </p:tav>
                                        <p:tav tm="100000">
                                          <p:val>
                                            <p:strVal val="#ppt_x"/>
                                          </p:val>
                                        </p:tav>
                                      </p:tavLst>
                                    </p:anim>
                                    <p:anim calcmode="lin" valueType="num">
                                      <p:cBhvr>
                                        <p:cTn id="4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2" grpId="0" animBg="1"/>
      <p:bldP spid="15" grpId="0" animBg="1"/>
      <p:bldP spid="17" grpId="0" animBg="1"/>
      <p:bldP spid="1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2E51F-57A4-EB58-597B-C40EA81E097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2447CBB-4DD3-7302-F6AE-E7EF074711AE}"/>
              </a:ext>
            </a:extLst>
          </p:cNvPr>
          <p:cNvSpPr txBox="1"/>
          <p:nvPr/>
        </p:nvSpPr>
        <p:spPr>
          <a:xfrm>
            <a:off x="0" y="236682"/>
            <a:ext cx="11830259" cy="230832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4800" b="0" i="1" u="none" strike="noStrike" kern="1200" cap="none" spc="0" normalizeH="0" baseline="0" noProof="0" dirty="0">
                <a:ln>
                  <a:noFill/>
                </a:ln>
                <a:solidFill>
                  <a:srgbClr val="002060"/>
                </a:solidFill>
                <a:effectLst/>
                <a:uLnTx/>
                <a:uFillTx/>
                <a:latin typeface="Calibri" panose="020F0502020204030204"/>
                <a:ea typeface="+mn-ea"/>
                <a:cs typeface="+mn-cs"/>
              </a:rPr>
              <a:t>Previous ICE TASKS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4800" b="0" i="1" u="none"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4800" b="0" i="1" u="none" strike="noStrike" kern="1200" cap="none" spc="0" normalizeH="0" baseline="0" noProof="0" dirty="0">
                <a:ln>
                  <a:noFill/>
                </a:ln>
                <a:solidFill>
                  <a:srgbClr val="E23ACE"/>
                </a:solidFill>
                <a:effectLst/>
                <a:uLnTx/>
                <a:uFillTx/>
                <a:latin typeface="Calibri" panose="020F0502020204030204"/>
                <a:ea typeface="+mn-ea"/>
                <a:cs typeface="+mn-cs"/>
              </a:rPr>
              <a:t>ICE TASK 1, 2 and 3</a:t>
            </a:r>
          </a:p>
        </p:txBody>
      </p:sp>
    </p:spTree>
    <p:extLst>
      <p:ext uri="{BB962C8B-B14F-4D97-AF65-F5344CB8AC3E}">
        <p14:creationId xmlns:p14="http://schemas.microsoft.com/office/powerpoint/2010/main" val="8231970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ACEC0-A287-9614-6993-CE5EFC7F9A0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0D9F85F-A789-E756-4A22-C1D191784455}"/>
              </a:ext>
            </a:extLst>
          </p:cNvPr>
          <p:cNvSpPr txBox="1"/>
          <p:nvPr/>
        </p:nvSpPr>
        <p:spPr>
          <a:xfrm>
            <a:off x="180110" y="83008"/>
            <a:ext cx="10654145" cy="1200329"/>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033CC"/>
                </a:solidFill>
                <a:effectLst/>
                <a:uLnTx/>
                <a:uFillTx/>
                <a:latin typeface="Calibri"/>
                <a:ea typeface="+mn-ea"/>
                <a:cs typeface="Arial" charset="0"/>
              </a:rPr>
              <a:t>ICE TASK </a:t>
            </a:r>
            <a:r>
              <a:rPr kumimoji="0" lang="en-US" sz="2400" b="1" i="0" u="none" strike="noStrike" kern="1200" cap="none" spc="0" normalizeH="0" baseline="0" noProof="0" dirty="0">
                <a:ln>
                  <a:noFill/>
                </a:ln>
                <a:solidFill>
                  <a:srgbClr val="FF0000"/>
                </a:solidFill>
                <a:effectLst/>
                <a:uLnTx/>
                <a:uFillTx/>
                <a:latin typeface="Calibri"/>
                <a:ea typeface="+mn-ea"/>
                <a:cs typeface="Arial" charset="0"/>
              </a:rPr>
              <a:t>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033CC"/>
                </a:solidFill>
                <a:effectLst/>
                <a:uLnTx/>
                <a:uFillTx/>
                <a:latin typeface="Calibri"/>
                <a:ea typeface="+mn-ea"/>
                <a:cs typeface="Arial" charset="0"/>
              </a:rPr>
              <a:t>Due Date: </a:t>
            </a:r>
            <a:r>
              <a:rPr kumimoji="0" lang="en-US" sz="2400" b="1" i="0" u="none" strike="noStrike" kern="1200" cap="none" spc="0" normalizeH="0" baseline="0" noProof="0" dirty="0">
                <a:ln>
                  <a:noFill/>
                </a:ln>
                <a:solidFill>
                  <a:srgbClr val="FF0000"/>
                </a:solidFill>
                <a:effectLst/>
                <a:uLnTx/>
                <a:uFillTx/>
                <a:latin typeface="Calibri"/>
                <a:ea typeface="+mn-ea"/>
                <a:cs typeface="Arial" charset="0"/>
              </a:rPr>
              <a:t>29</a:t>
            </a:r>
            <a:r>
              <a:rPr kumimoji="0" lang="en-US" sz="2400" b="1" i="0" u="none" strike="noStrike" kern="1200" cap="none" spc="0" normalizeH="0" baseline="0" noProof="0" dirty="0">
                <a:ln>
                  <a:noFill/>
                </a:ln>
                <a:solidFill>
                  <a:srgbClr val="0033CC"/>
                </a:solidFill>
                <a:effectLst/>
                <a:uLnTx/>
                <a:uFillTx/>
                <a:latin typeface="Calibri"/>
                <a:ea typeface="+mn-ea"/>
                <a:cs typeface="Arial" charset="0"/>
              </a:rPr>
              <a:t>/07/2026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alibri"/>
                <a:ea typeface="+mn-ea"/>
                <a:cs typeface="Arial" charset="0"/>
              </a:rPr>
              <a:t>On Brightspace complete the Quiz</a:t>
            </a:r>
          </a:p>
        </p:txBody>
      </p:sp>
      <p:pic>
        <p:nvPicPr>
          <p:cNvPr id="4" name="Picture 3">
            <a:extLst>
              <a:ext uri="{FF2B5EF4-FFF2-40B4-BE49-F238E27FC236}">
                <a16:creationId xmlns:a16="http://schemas.microsoft.com/office/drawing/2014/main" id="{F923A5BB-6306-6F0A-621C-96D3F5473345}"/>
              </a:ext>
            </a:extLst>
          </p:cNvPr>
          <p:cNvPicPr>
            <a:picLocks noChangeAspect="1"/>
          </p:cNvPicPr>
          <p:nvPr/>
        </p:nvPicPr>
        <p:blipFill>
          <a:blip r:embed="rId3"/>
          <a:stretch>
            <a:fillRect/>
          </a:stretch>
        </p:blipFill>
        <p:spPr>
          <a:xfrm>
            <a:off x="2012437" y="1485629"/>
            <a:ext cx="6535062" cy="1943371"/>
          </a:xfrm>
          <a:prstGeom prst="rect">
            <a:avLst/>
          </a:prstGeom>
        </p:spPr>
      </p:pic>
      <p:sp>
        <p:nvSpPr>
          <p:cNvPr id="9" name="TextBox 8">
            <a:extLst>
              <a:ext uri="{FF2B5EF4-FFF2-40B4-BE49-F238E27FC236}">
                <a16:creationId xmlns:a16="http://schemas.microsoft.com/office/drawing/2014/main" id="{594A34DB-B7E7-3A07-8B3D-806D5024196F}"/>
              </a:ext>
            </a:extLst>
          </p:cNvPr>
          <p:cNvSpPr txBox="1"/>
          <p:nvPr/>
        </p:nvSpPr>
        <p:spPr>
          <a:xfrm>
            <a:off x="3484836" y="1764817"/>
            <a:ext cx="1128438" cy="46166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alibri"/>
                <a:ea typeface="+mn-ea"/>
                <a:cs typeface="Arial" charset="0"/>
              </a:rPr>
              <a:t>Go to:</a:t>
            </a:r>
          </a:p>
        </p:txBody>
      </p:sp>
      <p:pic>
        <p:nvPicPr>
          <p:cNvPr id="7" name="Picture 6">
            <a:extLst>
              <a:ext uri="{FF2B5EF4-FFF2-40B4-BE49-F238E27FC236}">
                <a16:creationId xmlns:a16="http://schemas.microsoft.com/office/drawing/2014/main" id="{BEAC6D58-6E74-52AD-F73B-5C9ABEDBFC85}"/>
              </a:ext>
            </a:extLst>
          </p:cNvPr>
          <p:cNvPicPr>
            <a:picLocks noChangeAspect="1"/>
          </p:cNvPicPr>
          <p:nvPr/>
        </p:nvPicPr>
        <p:blipFill>
          <a:blip r:embed="rId4"/>
          <a:stretch>
            <a:fillRect/>
          </a:stretch>
        </p:blipFill>
        <p:spPr>
          <a:xfrm>
            <a:off x="2119746" y="3429000"/>
            <a:ext cx="9097645" cy="2753109"/>
          </a:xfrm>
          <a:prstGeom prst="rect">
            <a:avLst/>
          </a:prstGeom>
        </p:spPr>
      </p:pic>
      <p:sp>
        <p:nvSpPr>
          <p:cNvPr id="8" name="Arrow: Right 7">
            <a:extLst>
              <a:ext uri="{FF2B5EF4-FFF2-40B4-BE49-F238E27FC236}">
                <a16:creationId xmlns:a16="http://schemas.microsoft.com/office/drawing/2014/main" id="{5536BD20-AA26-D0B4-601D-7DCA89C3C54D}"/>
              </a:ext>
            </a:extLst>
          </p:cNvPr>
          <p:cNvSpPr/>
          <p:nvPr/>
        </p:nvSpPr>
        <p:spPr>
          <a:xfrm rot="2923945">
            <a:off x="1449731" y="4500755"/>
            <a:ext cx="990600" cy="609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ZA" sz="20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a:extLst>
              <a:ext uri="{FF2B5EF4-FFF2-40B4-BE49-F238E27FC236}">
                <a16:creationId xmlns:a16="http://schemas.microsoft.com/office/drawing/2014/main" id="{BF84AE4E-BE50-042F-0C99-8799DD4E323C}"/>
              </a:ext>
            </a:extLst>
          </p:cNvPr>
          <p:cNvSpPr txBox="1"/>
          <p:nvPr/>
        </p:nvSpPr>
        <p:spPr>
          <a:xfrm rot="19809571">
            <a:off x="955454" y="5442874"/>
            <a:ext cx="1532069" cy="46166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alibri"/>
                <a:ea typeface="+mn-ea"/>
                <a:cs typeface="Arial" charset="0"/>
              </a:rPr>
              <a:t>Complete:</a:t>
            </a:r>
          </a:p>
        </p:txBody>
      </p:sp>
    </p:spTree>
    <p:extLst>
      <p:ext uri="{BB962C8B-B14F-4D97-AF65-F5344CB8AC3E}">
        <p14:creationId xmlns:p14="http://schemas.microsoft.com/office/powerpoint/2010/main" val="12713586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ACEC0-A287-9614-6993-CE5EFC7F9A0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0D9F85F-A789-E756-4A22-C1D191784455}"/>
              </a:ext>
            </a:extLst>
          </p:cNvPr>
          <p:cNvSpPr txBox="1"/>
          <p:nvPr/>
        </p:nvSpPr>
        <p:spPr>
          <a:xfrm>
            <a:off x="180110" y="83008"/>
            <a:ext cx="10654145" cy="1200329"/>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033CC"/>
                </a:solidFill>
                <a:effectLst/>
                <a:uLnTx/>
                <a:uFillTx/>
                <a:latin typeface="Calibri"/>
                <a:ea typeface="+mn-ea"/>
                <a:cs typeface="Arial" charset="0"/>
              </a:rPr>
              <a:t>ICE TASK </a:t>
            </a:r>
            <a:r>
              <a:rPr kumimoji="0" lang="en-US" sz="2400" b="1" i="0" u="none" strike="noStrike" kern="1200" cap="none" spc="0" normalizeH="0" baseline="0" noProof="0" dirty="0">
                <a:ln>
                  <a:noFill/>
                </a:ln>
                <a:solidFill>
                  <a:srgbClr val="FF0000"/>
                </a:solidFill>
                <a:effectLst/>
                <a:uLnTx/>
                <a:uFillTx/>
                <a:latin typeface="Calibri"/>
                <a:ea typeface="+mn-ea"/>
                <a:cs typeface="Arial" charset="0"/>
              </a:rPr>
              <a:t>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033CC"/>
                </a:solidFill>
                <a:effectLst/>
                <a:uLnTx/>
                <a:uFillTx/>
                <a:latin typeface="Calibri"/>
                <a:ea typeface="+mn-ea"/>
                <a:cs typeface="Arial" charset="0"/>
              </a:rPr>
              <a:t>Due Date: </a:t>
            </a:r>
            <a:r>
              <a:rPr kumimoji="0" lang="en-US" sz="2400" b="1" i="0" u="none" strike="noStrike" kern="1200" cap="none" spc="0" normalizeH="0" baseline="0" noProof="0" dirty="0">
                <a:ln>
                  <a:noFill/>
                </a:ln>
                <a:solidFill>
                  <a:srgbClr val="FF0000"/>
                </a:solidFill>
                <a:effectLst/>
                <a:uLnTx/>
                <a:uFillTx/>
                <a:latin typeface="Calibri"/>
                <a:ea typeface="+mn-ea"/>
                <a:cs typeface="Arial" charset="0"/>
              </a:rPr>
              <a:t>14</a:t>
            </a:r>
            <a:r>
              <a:rPr kumimoji="0" lang="en-US" sz="2400" b="1" i="0" u="none" strike="noStrike" kern="1200" cap="none" spc="0" normalizeH="0" baseline="0" noProof="0" dirty="0">
                <a:ln>
                  <a:noFill/>
                </a:ln>
                <a:solidFill>
                  <a:srgbClr val="0033CC"/>
                </a:solidFill>
                <a:effectLst/>
                <a:uLnTx/>
                <a:uFillTx/>
                <a:latin typeface="Calibri"/>
                <a:ea typeface="+mn-ea"/>
                <a:cs typeface="Arial" charset="0"/>
              </a:rPr>
              <a:t>/08/2026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alibri"/>
                <a:ea typeface="+mn-ea"/>
                <a:cs typeface="Arial" charset="0"/>
              </a:rPr>
              <a:t>On ARC complete the following Activity:</a:t>
            </a:r>
          </a:p>
        </p:txBody>
      </p:sp>
      <p:sp>
        <p:nvSpPr>
          <p:cNvPr id="9" name="TextBox 8">
            <a:extLst>
              <a:ext uri="{FF2B5EF4-FFF2-40B4-BE49-F238E27FC236}">
                <a16:creationId xmlns:a16="http://schemas.microsoft.com/office/drawing/2014/main" id="{594A34DB-B7E7-3A07-8B3D-806D5024196F}"/>
              </a:ext>
            </a:extLst>
          </p:cNvPr>
          <p:cNvSpPr txBox="1"/>
          <p:nvPr/>
        </p:nvSpPr>
        <p:spPr>
          <a:xfrm>
            <a:off x="1389243" y="1624902"/>
            <a:ext cx="1128438" cy="46166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alibri"/>
                <a:ea typeface="+mn-ea"/>
                <a:cs typeface="Arial" charset="0"/>
              </a:rPr>
              <a:t>Go to:</a:t>
            </a:r>
          </a:p>
        </p:txBody>
      </p:sp>
      <p:sp>
        <p:nvSpPr>
          <p:cNvPr id="8" name="Arrow: Right 7">
            <a:extLst>
              <a:ext uri="{FF2B5EF4-FFF2-40B4-BE49-F238E27FC236}">
                <a16:creationId xmlns:a16="http://schemas.microsoft.com/office/drawing/2014/main" id="{5536BD20-AA26-D0B4-601D-7DCA89C3C54D}"/>
              </a:ext>
            </a:extLst>
          </p:cNvPr>
          <p:cNvSpPr/>
          <p:nvPr/>
        </p:nvSpPr>
        <p:spPr>
          <a:xfrm>
            <a:off x="1578024" y="3529564"/>
            <a:ext cx="990600" cy="347347"/>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ZA" sz="20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a:extLst>
              <a:ext uri="{FF2B5EF4-FFF2-40B4-BE49-F238E27FC236}">
                <a16:creationId xmlns:a16="http://schemas.microsoft.com/office/drawing/2014/main" id="{BF84AE4E-BE50-042F-0C99-8799DD4E323C}"/>
              </a:ext>
            </a:extLst>
          </p:cNvPr>
          <p:cNvSpPr txBox="1"/>
          <p:nvPr/>
        </p:nvSpPr>
        <p:spPr>
          <a:xfrm rot="19809571">
            <a:off x="193404" y="3779564"/>
            <a:ext cx="1532069" cy="46166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alibri"/>
                <a:ea typeface="+mn-ea"/>
                <a:cs typeface="Arial" charset="0"/>
              </a:rPr>
              <a:t>Complete:</a:t>
            </a:r>
          </a:p>
        </p:txBody>
      </p:sp>
      <p:pic>
        <p:nvPicPr>
          <p:cNvPr id="3" name="Picture 2">
            <a:extLst>
              <a:ext uri="{FF2B5EF4-FFF2-40B4-BE49-F238E27FC236}">
                <a16:creationId xmlns:a16="http://schemas.microsoft.com/office/drawing/2014/main" id="{66A276C2-7A5E-76AA-5298-C0DF0BEAF5C2}"/>
              </a:ext>
            </a:extLst>
          </p:cNvPr>
          <p:cNvPicPr>
            <a:picLocks noChangeAspect="1"/>
          </p:cNvPicPr>
          <p:nvPr/>
        </p:nvPicPr>
        <p:blipFill>
          <a:blip r:embed="rId3"/>
          <a:stretch>
            <a:fillRect/>
          </a:stretch>
        </p:blipFill>
        <p:spPr>
          <a:xfrm>
            <a:off x="2493890" y="1488845"/>
            <a:ext cx="6744641" cy="1867161"/>
          </a:xfrm>
          <a:prstGeom prst="rect">
            <a:avLst/>
          </a:prstGeom>
        </p:spPr>
      </p:pic>
      <p:pic>
        <p:nvPicPr>
          <p:cNvPr id="6" name="Picture 5">
            <a:extLst>
              <a:ext uri="{FF2B5EF4-FFF2-40B4-BE49-F238E27FC236}">
                <a16:creationId xmlns:a16="http://schemas.microsoft.com/office/drawing/2014/main" id="{8DB1043C-598C-6515-C5CB-903DB8F4087A}"/>
              </a:ext>
            </a:extLst>
          </p:cNvPr>
          <p:cNvPicPr>
            <a:picLocks noChangeAspect="1"/>
          </p:cNvPicPr>
          <p:nvPr/>
        </p:nvPicPr>
        <p:blipFill>
          <a:blip r:embed="rId4"/>
          <a:stretch>
            <a:fillRect/>
          </a:stretch>
        </p:blipFill>
        <p:spPr>
          <a:xfrm>
            <a:off x="2636401" y="3633358"/>
            <a:ext cx="4591691" cy="2638793"/>
          </a:xfrm>
          <a:prstGeom prst="rect">
            <a:avLst/>
          </a:prstGeom>
        </p:spPr>
      </p:pic>
    </p:spTree>
    <p:extLst>
      <p:ext uri="{BB962C8B-B14F-4D97-AF65-F5344CB8AC3E}">
        <p14:creationId xmlns:p14="http://schemas.microsoft.com/office/powerpoint/2010/main" val="8156328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921BA-2F68-F2EE-3FC3-2EBAC5A01B5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B21DD78-4133-960F-BD7A-4A34F67A7973}"/>
              </a:ext>
            </a:extLst>
          </p:cNvPr>
          <p:cNvSpPr txBox="1"/>
          <p:nvPr/>
        </p:nvSpPr>
        <p:spPr>
          <a:xfrm>
            <a:off x="180110" y="83008"/>
            <a:ext cx="10654145" cy="1200329"/>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033CC"/>
                </a:solidFill>
                <a:effectLst/>
                <a:uLnTx/>
                <a:uFillTx/>
                <a:latin typeface="Calibri"/>
                <a:ea typeface="+mn-ea"/>
                <a:cs typeface="Arial" charset="0"/>
              </a:rPr>
              <a:t>ICE TASK </a:t>
            </a:r>
            <a:r>
              <a:rPr kumimoji="0" lang="en-US" sz="2400" b="1" i="0" u="none" strike="noStrike" kern="1200" cap="none" spc="0" normalizeH="0" baseline="0" noProof="0" dirty="0">
                <a:ln>
                  <a:noFill/>
                </a:ln>
                <a:solidFill>
                  <a:srgbClr val="FF0000"/>
                </a:solidFill>
                <a:effectLst/>
                <a:uLnTx/>
                <a:uFillTx/>
                <a:latin typeface="Calibri"/>
                <a:ea typeface="+mn-ea"/>
                <a:cs typeface="Arial" charset="0"/>
              </a:rPr>
              <a:t>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033CC"/>
                </a:solidFill>
                <a:effectLst/>
                <a:uLnTx/>
                <a:uFillTx/>
                <a:latin typeface="Calibri"/>
                <a:ea typeface="+mn-ea"/>
                <a:cs typeface="Arial" charset="0"/>
              </a:rPr>
              <a:t>Due Date: </a:t>
            </a:r>
            <a:r>
              <a:rPr kumimoji="0" lang="en-US" sz="2400" b="1" i="0" u="none" strike="noStrike" kern="1200" cap="none" spc="0" normalizeH="0" baseline="0" noProof="0" dirty="0">
                <a:ln>
                  <a:noFill/>
                </a:ln>
                <a:solidFill>
                  <a:srgbClr val="FF0000"/>
                </a:solidFill>
                <a:effectLst/>
                <a:uLnTx/>
                <a:uFillTx/>
                <a:latin typeface="Calibri"/>
                <a:ea typeface="+mn-ea"/>
                <a:cs typeface="Arial" charset="0"/>
              </a:rPr>
              <a:t>14</a:t>
            </a:r>
            <a:r>
              <a:rPr kumimoji="0" lang="en-US" sz="2400" b="1" i="0" u="none" strike="noStrike" kern="1200" cap="none" spc="0" normalizeH="0" baseline="0" noProof="0" dirty="0">
                <a:ln>
                  <a:noFill/>
                </a:ln>
                <a:solidFill>
                  <a:srgbClr val="0033CC"/>
                </a:solidFill>
                <a:effectLst/>
                <a:uLnTx/>
                <a:uFillTx/>
                <a:latin typeface="Calibri"/>
                <a:ea typeface="+mn-ea"/>
                <a:cs typeface="Arial" charset="0"/>
              </a:rPr>
              <a:t>/08/2026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alibri"/>
                <a:ea typeface="+mn-ea"/>
                <a:cs typeface="Arial" charset="0"/>
              </a:rPr>
              <a:t>On ARC complete the following Activity:</a:t>
            </a:r>
          </a:p>
        </p:txBody>
      </p:sp>
      <p:pic>
        <p:nvPicPr>
          <p:cNvPr id="4" name="Picture 3">
            <a:extLst>
              <a:ext uri="{FF2B5EF4-FFF2-40B4-BE49-F238E27FC236}">
                <a16:creationId xmlns:a16="http://schemas.microsoft.com/office/drawing/2014/main" id="{93B5D935-4E88-2E89-FC77-463F79A7084A}"/>
              </a:ext>
            </a:extLst>
          </p:cNvPr>
          <p:cNvPicPr>
            <a:picLocks noChangeAspect="1"/>
          </p:cNvPicPr>
          <p:nvPr/>
        </p:nvPicPr>
        <p:blipFill>
          <a:blip r:embed="rId3"/>
          <a:stretch>
            <a:fillRect/>
          </a:stretch>
        </p:blipFill>
        <p:spPr>
          <a:xfrm>
            <a:off x="180109" y="1398216"/>
            <a:ext cx="5597235" cy="3591472"/>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E18BADFF-219E-8798-4593-4562260FE2C1}"/>
              </a:ext>
            </a:extLst>
          </p:cNvPr>
          <p:cNvPicPr>
            <a:picLocks noChangeAspect="1"/>
          </p:cNvPicPr>
          <p:nvPr/>
        </p:nvPicPr>
        <p:blipFill>
          <a:blip r:embed="rId4"/>
          <a:stretch>
            <a:fillRect/>
          </a:stretch>
        </p:blipFill>
        <p:spPr>
          <a:xfrm>
            <a:off x="6286758" y="83008"/>
            <a:ext cx="4547497" cy="5393311"/>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3EAF8721-05FA-4A59-32B7-3B1B7DDFF628}"/>
              </a:ext>
            </a:extLst>
          </p:cNvPr>
          <p:cNvPicPr>
            <a:picLocks noChangeAspect="1"/>
          </p:cNvPicPr>
          <p:nvPr/>
        </p:nvPicPr>
        <p:blipFill>
          <a:blip r:embed="rId5"/>
          <a:stretch>
            <a:fillRect/>
          </a:stretch>
        </p:blipFill>
        <p:spPr>
          <a:xfrm>
            <a:off x="6286758" y="5538664"/>
            <a:ext cx="4010585" cy="1028844"/>
          </a:xfrm>
          <a:prstGeom prst="rect">
            <a:avLst/>
          </a:prstGeom>
        </p:spPr>
      </p:pic>
    </p:spTree>
    <p:extLst>
      <p:ext uri="{BB962C8B-B14F-4D97-AF65-F5344CB8AC3E}">
        <p14:creationId xmlns:p14="http://schemas.microsoft.com/office/powerpoint/2010/main" val="12240848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710CE939-BAAB-E80D-B5FE-35C18F35169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62DAE26C-377F-CDDE-982F-0F1289830648}"/>
              </a:ext>
            </a:extLst>
          </p:cNvPr>
          <p:cNvSpPr txBox="1"/>
          <p:nvPr/>
        </p:nvSpPr>
        <p:spPr>
          <a:xfrm>
            <a:off x="173181" y="118914"/>
            <a:ext cx="11596256" cy="66171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C3399"/>
                </a:solidFill>
                <a:effectLst/>
                <a:uLnTx/>
                <a:uFillTx/>
                <a:latin typeface="Calibri" panose="020F0502020204030204"/>
                <a:ea typeface="+mn-ea"/>
                <a:cs typeface="+mn-cs"/>
              </a:rPr>
              <a:t>ICE Task 3 - Designing a Site Map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C3399"/>
                </a:solidFill>
                <a:effectLst/>
                <a:uLnTx/>
                <a:uFillTx/>
                <a:latin typeface="Calibri" panose="020F0502020204030204"/>
                <a:ea typeface="+mn-ea"/>
                <a:cs typeface="+mn-cs"/>
              </a:rPr>
              <a:t>Due Date: 01/09/2026</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pple-system"/>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srgbClr val="7030A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7030A0"/>
                </a:solidFill>
                <a:effectLst/>
                <a:uLnTx/>
                <a:uFillTx/>
                <a:latin typeface="Calibri" panose="020F0502020204030204"/>
                <a:ea typeface="+mn-ea"/>
                <a:cs typeface="+mn-cs"/>
              </a:rPr>
              <a:t>Instructions: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rPr>
              <a:t>Select a website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(based on an interest) that you wish to analyze in terms of designing and developing a site map.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Carefully </a:t>
            </a:r>
            <a:r>
              <a:rPr kumimoji="0" lang="en-US" sz="2000" b="1" i="0" u="none" strike="noStrike" kern="1200" cap="none" spc="0" normalizeH="0" baseline="0" noProof="0" dirty="0">
                <a:ln>
                  <a:noFill/>
                </a:ln>
                <a:solidFill>
                  <a:srgbClr val="0070C0"/>
                </a:solidFill>
                <a:effectLst/>
                <a:uLnTx/>
                <a:uFillTx/>
                <a:latin typeface="Calibri" panose="020F0502020204030204"/>
                <a:ea typeface="+mn-ea"/>
                <a:cs typeface="+mn-cs"/>
              </a:rPr>
              <a:t>examine</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the website </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in terms of names of the different categories and content items.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srgbClr val="00B050"/>
                </a:solidFill>
                <a:effectLst/>
                <a:uLnTx/>
                <a:uFillTx/>
                <a:latin typeface="Calibri" panose="020F0502020204030204"/>
                <a:ea typeface="+mn-ea"/>
                <a:cs typeface="+mn-cs"/>
              </a:rPr>
              <a:t>Create a site map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in the form of a tree diagram to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organise</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and structure different groups of information topics. You may create your sitemap using the drawing or </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smart art tools in your word processing software</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any other available online diagram tools. </a:t>
            </a:r>
            <a:r>
              <a:rPr kumimoji="0" lang="en-US" sz="2000" b="0" i="0" u="none" strike="noStrike" kern="1200" cap="none" spc="0" normalizeH="0" baseline="0" noProof="0" dirty="0">
                <a:ln>
                  <a:noFill/>
                </a:ln>
                <a:solidFill>
                  <a:srgbClr val="CC3399"/>
                </a:solidFill>
                <a:effectLst/>
                <a:uLnTx/>
                <a:uFillTx/>
                <a:latin typeface="Calibri" panose="020F0502020204030204"/>
                <a:ea typeface="+mn-ea"/>
                <a:cs typeface="+mn-cs"/>
              </a:rPr>
              <a:t>Your site map must indicate the names of the different categories and content items.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Do NOT just use generic headings as in the example in this article (As indicated on the previous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Paste the image of your sitemap when submitting your ICE task on </a:t>
            </a:r>
            <a:r>
              <a:rPr kumimoji="0" lang="en-US" sz="2000" b="0" i="0" u="none" strike="noStrike" kern="1200" cap="none" spc="0" normalizeH="0" baseline="0" noProof="0" dirty="0">
                <a:ln>
                  <a:noFill/>
                </a:ln>
                <a:solidFill>
                  <a:prstClr val="black"/>
                </a:solidFill>
                <a:effectLst/>
                <a:highlight>
                  <a:srgbClr val="00FF00"/>
                </a:highlight>
                <a:uLnTx/>
                <a:uFillTx/>
                <a:latin typeface="Calibri" panose="020F0502020204030204"/>
                <a:ea typeface="+mn-ea"/>
                <a:cs typeface="+mn-cs"/>
              </a:rPr>
              <a:t>ARC.</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Click on Assessment, then ICE Task 3 to submit</a:t>
            </a:r>
            <a:endParaRPr kumimoji="0" lang="en-ZA" sz="2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6BCA3674-C5E0-0CCB-D6DC-B8ADBE280340}"/>
              </a:ext>
            </a:extLst>
          </p:cNvPr>
          <p:cNvSpPr txBox="1"/>
          <p:nvPr/>
        </p:nvSpPr>
        <p:spPr>
          <a:xfrm>
            <a:off x="173181" y="1023809"/>
            <a:ext cx="11596256" cy="101566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Your sitemap provides the initial definition for what you are going to be delivering along with the first steps of defining the interface (the navigation). You can reference it in sitemaps, content strategies and functional specifications and it’s also a great way to show to the client what you are planning to build them.</a:t>
            </a:r>
            <a:endParaRPr kumimoji="0" lang="en-ZA"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50996ED3-0A64-E8B2-F16A-E57CB393561C}"/>
              </a:ext>
            </a:extLst>
          </p:cNvPr>
          <p:cNvPicPr>
            <a:picLocks noChangeAspect="1"/>
          </p:cNvPicPr>
          <p:nvPr/>
        </p:nvPicPr>
        <p:blipFill>
          <a:blip r:embed="rId2"/>
          <a:stretch>
            <a:fillRect/>
          </a:stretch>
        </p:blipFill>
        <p:spPr>
          <a:xfrm>
            <a:off x="8097186" y="5153690"/>
            <a:ext cx="3415942" cy="967954"/>
          </a:xfrm>
          <a:prstGeom prst="rect">
            <a:avLst/>
          </a:prstGeom>
        </p:spPr>
      </p:pic>
    </p:spTree>
    <p:extLst>
      <p:ext uri="{BB962C8B-B14F-4D97-AF65-F5344CB8AC3E}">
        <p14:creationId xmlns:p14="http://schemas.microsoft.com/office/powerpoint/2010/main" val="3499694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6" end="6"/>
                                            </p:txEl>
                                          </p:spTgt>
                                        </p:tgtEl>
                                        <p:attrNameLst>
                                          <p:attrName>style.visibility</p:attrName>
                                        </p:attrNameLst>
                                      </p:cBhvr>
                                      <p:to>
                                        <p:strVal val="visible"/>
                                      </p:to>
                                    </p:set>
                                    <p:animEffect transition="in" filter="fade">
                                      <p:cBhvr>
                                        <p:cTn id="7" dur="1000"/>
                                        <p:tgtEl>
                                          <p:spTgt spid="9">
                                            <p:txEl>
                                              <p:pRg st="6" end="6"/>
                                            </p:txEl>
                                          </p:spTgt>
                                        </p:tgtEl>
                                      </p:cBhvr>
                                    </p:animEffect>
                                    <p:anim calcmode="lin" valueType="num">
                                      <p:cBhvr>
                                        <p:cTn id="8"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8" end="8"/>
                                            </p:txEl>
                                          </p:spTgt>
                                        </p:tgtEl>
                                        <p:attrNameLst>
                                          <p:attrName>style.visibility</p:attrName>
                                        </p:attrNameLst>
                                      </p:cBhvr>
                                      <p:to>
                                        <p:strVal val="visible"/>
                                      </p:to>
                                    </p:set>
                                    <p:animEffect transition="in" filter="fade">
                                      <p:cBhvr>
                                        <p:cTn id="14" dur="1000"/>
                                        <p:tgtEl>
                                          <p:spTgt spid="9">
                                            <p:txEl>
                                              <p:pRg st="8" end="8"/>
                                            </p:txEl>
                                          </p:spTgt>
                                        </p:tgtEl>
                                      </p:cBhvr>
                                    </p:animEffect>
                                    <p:anim calcmode="lin" valueType="num">
                                      <p:cBhvr>
                                        <p:cTn id="15"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xEl>
                                              <p:pRg st="10" end="10"/>
                                            </p:txEl>
                                          </p:spTgt>
                                        </p:tgtEl>
                                        <p:attrNameLst>
                                          <p:attrName>style.visibility</p:attrName>
                                        </p:attrNameLst>
                                      </p:cBhvr>
                                      <p:to>
                                        <p:strVal val="visible"/>
                                      </p:to>
                                    </p:set>
                                    <p:animEffect transition="in" filter="fade">
                                      <p:cBhvr>
                                        <p:cTn id="21" dur="1000"/>
                                        <p:tgtEl>
                                          <p:spTgt spid="9">
                                            <p:txEl>
                                              <p:pRg st="10" end="10"/>
                                            </p:txEl>
                                          </p:spTgt>
                                        </p:tgtEl>
                                      </p:cBhvr>
                                    </p:animEffect>
                                    <p:anim calcmode="lin" valueType="num">
                                      <p:cBhvr>
                                        <p:cTn id="22" dur="1000" fill="hold"/>
                                        <p:tgtEl>
                                          <p:spTgt spid="9">
                                            <p:txEl>
                                              <p:pRg st="10" end="10"/>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
                                            <p:txEl>
                                              <p:pRg st="12" end="12"/>
                                            </p:txEl>
                                          </p:spTgt>
                                        </p:tgtEl>
                                        <p:attrNameLst>
                                          <p:attrName>style.visibility</p:attrName>
                                        </p:attrNameLst>
                                      </p:cBhvr>
                                      <p:to>
                                        <p:strVal val="visible"/>
                                      </p:to>
                                    </p:set>
                                    <p:animEffect transition="in" filter="fade">
                                      <p:cBhvr>
                                        <p:cTn id="28" dur="1000"/>
                                        <p:tgtEl>
                                          <p:spTgt spid="9">
                                            <p:txEl>
                                              <p:pRg st="12" end="12"/>
                                            </p:txEl>
                                          </p:spTgt>
                                        </p:tgtEl>
                                      </p:cBhvr>
                                    </p:animEffect>
                                    <p:anim calcmode="lin" valueType="num">
                                      <p:cBhvr>
                                        <p:cTn id="29" dur="1000" fill="hold"/>
                                        <p:tgtEl>
                                          <p:spTgt spid="9">
                                            <p:txEl>
                                              <p:pRg st="12" end="12"/>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9">
                                            <p:txEl>
                                              <p:pRg st="13" end="13"/>
                                            </p:txEl>
                                          </p:spTgt>
                                        </p:tgtEl>
                                        <p:attrNameLst>
                                          <p:attrName>style.visibility</p:attrName>
                                        </p:attrNameLst>
                                      </p:cBhvr>
                                      <p:to>
                                        <p:strVal val="visible"/>
                                      </p:to>
                                    </p:set>
                                    <p:animEffect transition="in" filter="fade">
                                      <p:cBhvr>
                                        <p:cTn id="35" dur="1000"/>
                                        <p:tgtEl>
                                          <p:spTgt spid="9">
                                            <p:txEl>
                                              <p:pRg st="13" end="13"/>
                                            </p:txEl>
                                          </p:spTgt>
                                        </p:tgtEl>
                                      </p:cBhvr>
                                    </p:animEffect>
                                    <p:anim calcmode="lin" valueType="num">
                                      <p:cBhvr>
                                        <p:cTn id="36" dur="1000" fill="hold"/>
                                        <p:tgtEl>
                                          <p:spTgt spid="9">
                                            <p:txEl>
                                              <p:pRg st="13" end="13"/>
                                            </p:txEl>
                                          </p:spTgt>
                                        </p:tgtEl>
                                        <p:attrNameLst>
                                          <p:attrName>ppt_x</p:attrName>
                                        </p:attrNameLst>
                                      </p:cBhvr>
                                      <p:tavLst>
                                        <p:tav tm="0">
                                          <p:val>
                                            <p:strVal val="#ppt_x"/>
                                          </p:val>
                                        </p:tav>
                                        <p:tav tm="100000">
                                          <p:val>
                                            <p:strVal val="#ppt_x"/>
                                          </p:val>
                                        </p:tav>
                                      </p:tavLst>
                                    </p:anim>
                                    <p:anim calcmode="lin" valueType="num">
                                      <p:cBhvr>
                                        <p:cTn id="37" dur="1000" fill="hold"/>
                                        <p:tgtEl>
                                          <p:spTgt spid="9">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19272</TotalTime>
  <Words>2551</Words>
  <Application>Microsoft Office PowerPoint</Application>
  <PresentationFormat>Widescreen</PresentationFormat>
  <Paragraphs>260</Paragraphs>
  <Slides>69</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-apple-system</vt:lpstr>
      <vt:lpstr>Aptos</vt:lpstr>
      <vt:lpstr>arial</vt:lpstr>
      <vt:lpstr>arial</vt:lpstr>
      <vt:lpstr>Calibri</vt:lpstr>
      <vt:lpstr>Calibri Light</vt:lpstr>
      <vt:lpstr>quote-cjk-patch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Brendan Van Der Merwe</dc:creator>
  <cp:lastModifiedBy>Brendan Van Der Merwe</cp:lastModifiedBy>
  <cp:revision>877</cp:revision>
  <dcterms:created xsi:type="dcterms:W3CDTF">2021-04-21T16:26:15Z</dcterms:created>
  <dcterms:modified xsi:type="dcterms:W3CDTF">2026-09-10T06:11:22Z</dcterms:modified>
</cp:coreProperties>
</file>